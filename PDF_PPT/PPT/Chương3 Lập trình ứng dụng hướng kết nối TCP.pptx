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285" r:id="rId22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810"/>
    <p:restoredTop sz="85185" autoAdjust="0"/>
  </p:normalViewPr>
  <p:slideViewPr>
    <p:cSldViewPr snapToGrid="0">
      <p:cViewPr varScale="1">
        <p:scale>
          <a:sx n="50" d="100"/>
          <a:sy n="50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4E373-69D0-4F11-ACC6-88E50A6C7809}" type="datetimeFigureOut">
              <a:rPr lang="en-US" smtClean="0"/>
              <a:t>08/08/2025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96FD-4067-4E15-8157-23C3103A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6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FA5C7D-F076-ABAB-28ED-936E6476926A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CBF138-DDAA-03AE-2BFD-F0E6E77D0894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6B26E30-45B4-E434-42E3-BFE66D53EB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8EE5A3-86BB-B40C-62D9-2E005424811B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20" name="Picture 19" descr="A building with trees in the background&#10;&#10;Description automatically generated">
            <a:extLst>
              <a:ext uri="{FF2B5EF4-FFF2-40B4-BE49-F238E27FC236}">
                <a16:creationId xmlns:a16="http://schemas.microsoft.com/office/drawing/2014/main" id="{633C415B-DE87-6E90-4B13-A134B02EF4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160" y="5045074"/>
            <a:ext cx="12202160" cy="1676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088D834-70EE-F737-6AE1-030852F6AA55}"/>
              </a:ext>
            </a:extLst>
          </p:cNvPr>
          <p:cNvSpPr txBox="1"/>
          <p:nvPr userDrawn="1"/>
        </p:nvSpPr>
        <p:spPr>
          <a:xfrm>
            <a:off x="2545718" y="32083"/>
            <a:ext cx="70904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 CÔNG THƯƠNG</a:t>
            </a:r>
          </a:p>
          <a:p>
            <a:pPr algn="ctr"/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THƯƠNG THÀNH PHỐ HỒ CHÍ MINH</a:t>
            </a:r>
            <a:endParaRPr lang="en-VN" sz="1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A white circle with blue and red text and a book with a graduation cap&#10;&#10;Description automatically generated">
            <a:extLst>
              <a:ext uri="{FF2B5EF4-FFF2-40B4-BE49-F238E27FC236}">
                <a16:creationId xmlns:a16="http://schemas.microsoft.com/office/drawing/2014/main" id="{CC7CB636-E017-BD51-B7F7-2797B5CEAFFA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133" y="18061"/>
            <a:ext cx="666000" cy="6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2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D56CA0-7F99-A73F-EC74-87E2C37C45F8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4305"/>
            <a:ext cx="10515600" cy="8063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v"/>
              <a:defRPr/>
            </a:lvl3pPr>
            <a:lvl4pPr marL="1600200" indent="-228600">
              <a:buFont typeface="Wingdings" panose="05000000000000000000" pitchFamily="2" charset="2"/>
              <a:buChar char="Ø"/>
              <a:defRPr/>
            </a:lvl4pPr>
            <a:lvl5pPr marL="2057400" indent="-22860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36941E3-E3EC-8EF3-53CB-96FCF404C8E3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  <p:sp>
        <p:nvSpPr>
          <p:cNvPr id="11" name="Rectangle 11">
            <a:extLst>
              <a:ext uri="{FF2B5EF4-FFF2-40B4-BE49-F238E27FC236}">
                <a16:creationId xmlns:a16="http://schemas.microsoft.com/office/drawing/2014/main" id="{D433E92D-1893-9769-8444-34EEDD3F24BC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50C907-0A3F-10BA-C15C-CA461460FE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B4E7459-A8A2-5081-F907-74BAE417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0F50DE-1588-0A68-B2AE-03A7C3A9B079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958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DCC048-85E1-D9DE-466A-D5EAB21DAFC6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0547C463-86A8-9ADB-B42F-6F8F911146A4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2EE3A5-6242-A6B2-F6B4-2094B545F5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9473FA4-C6C6-7E97-AACE-A35CFDAB7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851853-8430-FC7D-0C05-EA3095D410B2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632828F-0B4F-8119-5B19-088A1173C903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89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EE82EC-C435-7D46-EFDD-D5C6A244EEA6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7329"/>
            <a:ext cx="10515600" cy="71336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E50E531-FF89-E7A1-EC42-5664726867C2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4D41C0-EECC-510F-3124-F7EBC163F8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1F0268C-2917-2762-4664-C6ACF358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7AE9E0-DBEB-84FF-4DC2-C53AC3C7993F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93BE15D-74FA-AED7-3D2B-A613D05E679B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8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A13BF4-06A1-B98B-FD59-CA5020C120FA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7"/>
            <a:ext cx="10515600" cy="8239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8D1E83-C000-B443-17A1-67E172C1C81A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F5B01C-A4C1-2548-9E99-49DA8F4F39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622E35-ED11-3E1D-3267-FB7969EBB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5FADBA-93BC-7FCB-D7C6-2138FE10BECE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F168AC0-F6F3-71BB-BDB7-D14C957BCB1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84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521EA7-200B-F8EF-FA1A-AF68F6EAFB52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4059"/>
            <a:ext cx="10515600" cy="8166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C62A9323-B343-0333-2A84-AB84726F1555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72A695-B9BF-2B5E-F712-588F45EA7A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0B28936-A209-8496-713D-69F06443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1FC07C-FFBA-6E41-FC9E-B8C545CCA2CA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43E1AB2-24F0-751B-86DE-9AC77889FA3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6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1F7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5A64684-422C-D171-0292-6610A91BE81D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D82848-CD15-3DBB-0148-67FB51371B08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  <p:sp>
        <p:nvSpPr>
          <p:cNvPr id="8" name="Rectangle 11">
            <a:extLst>
              <a:ext uri="{FF2B5EF4-FFF2-40B4-BE49-F238E27FC236}">
                <a16:creationId xmlns:a16="http://schemas.microsoft.com/office/drawing/2014/main" id="{181386B9-1456-137E-66EE-45A4447494C5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CB3CD2-68E1-7670-8AC8-DCAEFA0447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55B251-549F-CC81-82C4-1791D4DC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95FE02-F81D-DAA0-4384-0E62C5A8FC54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https://huit.edu.vn</a:t>
            </a:r>
            <a:endParaRPr lang="en-VN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12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654E7B-7E2F-A597-CEAB-D64DA25FBCEB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A9AB12A-F2B6-4320-39F1-67F3778EE5DF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73966A-35C2-70BC-CFF9-46C3441D8C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8C1A7AF-70A0-C0E9-B2F5-1490BE6C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216FF7-3AE9-85FA-D18A-9862C6DB59AE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C0ADFA0-11B6-96C9-35AE-E6733196ACDA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04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2A7AA7-CA5F-D2FA-2E5E-C3E10A53D359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1EDE2594-98FA-EBCE-C733-A51E9F54ED18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735AE5-30EC-7992-E657-2104C4F3BF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CB5785D-C6E0-0BB4-B792-5DF6906E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C76ABB-19BA-0D81-2004-CA8C1BFA3211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3DEC689-0562-F90A-00BD-D3E65D677F10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88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B8236F-F572-6350-D20A-0FCE1F380099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4304"/>
            <a:ext cx="10515600" cy="80638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9C659F1E-1F51-522D-AC8E-BE6E140A9E7D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1B0D34-343B-C838-5720-7351BA57CF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B8E042D-2BAA-2A3F-EC27-380C92DB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CD5B80-37F9-BE16-90B3-B1958D8A8755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62415AA-63D3-FB51-385B-BC2BCB0599A3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360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2366D-8698-B649-944B-CF1A6B166FF8}" type="datetimeFigureOut">
              <a:t>08/08/2025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9440A-2DED-3643-ADED-9B5C83E7D828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2272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CF78BC-6A27-21AC-5EBD-81C9E14542EB}"/>
              </a:ext>
            </a:extLst>
          </p:cNvPr>
          <p:cNvSpPr txBox="1"/>
          <p:nvPr/>
        </p:nvSpPr>
        <p:spPr>
          <a:xfrm>
            <a:off x="1956757" y="2104808"/>
            <a:ext cx="80751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vi-VN" sz="4400" b="1">
                <a:solidFill>
                  <a:srgbClr val="034EA2"/>
                </a:solidFill>
                <a:latin typeface="Myriad Pro" panose="020B0503030403020204" pitchFamily="34" charset="0"/>
              </a:rPr>
              <a:t>CHƯƠNG </a:t>
            </a:r>
            <a:r>
              <a:rPr lang="en-US" sz="4400" b="1">
                <a:solidFill>
                  <a:srgbClr val="034EA2"/>
                </a:solidFill>
                <a:latin typeface="Myriad Pro" panose="020B0503030403020204" pitchFamily="34" charset="0"/>
              </a:rPr>
              <a:t>3</a:t>
            </a:r>
            <a:r>
              <a:rPr lang="vi-VN" sz="4400" b="1">
                <a:solidFill>
                  <a:srgbClr val="034EA2"/>
                </a:solidFill>
                <a:latin typeface="Myriad Pro" panose="020B0503030403020204" pitchFamily="34" charset="0"/>
              </a:rPr>
              <a:t>: LẬP TRÌNH ỨNG DỤNG HƯỚNG KẾT NỐI TCP</a:t>
            </a:r>
            <a:endParaRPr lang="en-VN" sz="4400" b="1" dirty="0">
              <a:solidFill>
                <a:srgbClr val="034EA2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44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3835E-8FBD-4BE0-3E3F-C8D650B68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16272-44EF-B819-55DF-B8A5410F6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Mô hình Client – Server của ứng dụng TCP</a:t>
            </a:r>
          </a:p>
          <a:p>
            <a:r>
              <a:rPr lang="en-US"/>
              <a:t>Xây dựng ứng dụng TCP Server</a:t>
            </a:r>
          </a:p>
          <a:p>
            <a:r>
              <a:rPr lang="en-US"/>
              <a:t>Xây dựng ứng dụng TCP Client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8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C4CD6-D8FB-1A10-25DB-6B7E349A5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MỤC TIÊU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B3306-770E-57DC-8962-64A4DDD4A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Nắm vững mô hình Client-Server hướng kết nối2.</a:t>
            </a:r>
          </a:p>
          <a:p>
            <a:r>
              <a:rPr lang="vi-VN"/>
              <a:t>Hiểu các thao tác cần thiết để xây dựng ứng dụng Client và Server.</a:t>
            </a:r>
          </a:p>
          <a:p>
            <a:r>
              <a:rPr lang="vi-VN"/>
              <a:t>Tìm hiểu về quá trình truyền nhận dữ liệu và đóng kết nối.</a:t>
            </a:r>
          </a:p>
          <a:p>
            <a:r>
              <a:rPr lang="vi-VN"/>
              <a:t>Nắm được cách xử lý các vấn đề thường gặp trong lập trình socket.</a:t>
            </a:r>
          </a:p>
          <a:p>
            <a:r>
              <a:rPr lang="vi-VN"/>
              <a:t>Biết cách sử dụng các lớp C# stream với TCP.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96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B13AA-5840-91DF-26F8-98CF5F91C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/>
              <a:t>MÔ HÌNH CLIENT – SERVER CỦA ỨNG DỤNG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4F45E-0E38-C415-03D8-65DA5D14C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vi-VN"/>
              <a:t>Đây là mô hình giao tiếp cơ bản, nơi một ứng dụng Client yêu cầu dịch vụ và một ứng dụng Server cung cấp dịch vụ đó.</a:t>
            </a:r>
          </a:p>
          <a:p>
            <a:pPr>
              <a:lnSpc>
                <a:spcPct val="150000"/>
              </a:lnSpc>
            </a:pPr>
            <a:r>
              <a:rPr lang="vi-VN"/>
              <a:t>Các giai đoạn chính:</a:t>
            </a:r>
          </a:p>
          <a:p>
            <a:pPr lvl="1"/>
            <a:r>
              <a:rPr lang="vi-VN" sz="2600"/>
              <a:t>Thiết lập kết nối.</a:t>
            </a:r>
          </a:p>
          <a:p>
            <a:pPr lvl="1"/>
            <a:r>
              <a:rPr lang="vi-VN" sz="2600"/>
              <a:t>Truyền và nhận dữ liệu.</a:t>
            </a:r>
          </a:p>
          <a:p>
            <a:pPr lvl="1"/>
            <a:r>
              <a:rPr lang="vi-VN" sz="2600"/>
              <a:t>Đóng kết nối.</a:t>
            </a:r>
          </a:p>
        </p:txBody>
      </p:sp>
    </p:spTree>
    <p:extLst>
      <p:ext uri="{BB962C8B-B14F-4D97-AF65-F5344CB8AC3E}">
        <p14:creationId xmlns:p14="http://schemas.microsoft.com/office/powerpoint/2010/main" val="4067653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5C96D-E5BD-194F-3D1D-422D8A1E9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90B90-9DAE-9C83-5DF0-376BCFB0AE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400" b="1"/>
              <a:t>Các thao tác phía Server</a:t>
            </a:r>
            <a:endParaRPr lang="en-US" sz="3400"/>
          </a:p>
          <a:p>
            <a:pPr lvl="1"/>
            <a:r>
              <a:rPr lang="en-US" sz="2600"/>
              <a:t>Để xây dựng một ứng dụng Server, cần thực hiện các bước sau:</a:t>
            </a:r>
          </a:p>
          <a:p>
            <a:pPr lvl="2"/>
            <a:r>
              <a:rPr lang="en-US" sz="2400" b="1"/>
              <a:t>socket():</a:t>
            </a:r>
            <a:r>
              <a:rPr lang="en-US" sz="2400"/>
              <a:t> Tạo một socket để lắng nghe kết nối.</a:t>
            </a:r>
          </a:p>
          <a:p>
            <a:pPr lvl="2"/>
            <a:r>
              <a:rPr lang="en-US" sz="2400" b="1"/>
              <a:t>bind():</a:t>
            </a:r>
            <a:r>
              <a:rPr lang="en-US" sz="2400"/>
              <a:t> Gắn socket với một địa chỉ IP và số hiệu port cụ thể.</a:t>
            </a:r>
          </a:p>
          <a:p>
            <a:pPr lvl="2"/>
            <a:r>
              <a:rPr lang="en-US" sz="2400" b="1"/>
              <a:t>listen():</a:t>
            </a:r>
            <a:r>
              <a:rPr lang="en-US" sz="2400"/>
              <a:t> Đặt socket vào trạng thái lắng nghe các yêu cầu kết nối từ Client.</a:t>
            </a:r>
          </a:p>
          <a:p>
            <a:pPr lvl="2"/>
            <a:r>
              <a:rPr lang="en-US" sz="2400" b="1"/>
              <a:t>accept():</a:t>
            </a:r>
            <a:r>
              <a:rPr lang="en-US" sz="2400"/>
              <a:t> Chấp nhận kết nối từ Client. Hàm này sẽ trả về một socket mới để giao tiếp.</a:t>
            </a:r>
            <a:endParaRPr lang="vi-VN" sz="240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06CC2CB-E879-10E5-5BC9-7AE0160009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04024" y="2171699"/>
            <a:ext cx="5031696" cy="3708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B5826C-0AC7-2C14-D008-13908E98C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/>
              <a:t>MÔ HÌNH CLIENT – SERVER CỦA ỨNG DỤNG TCP</a:t>
            </a:r>
          </a:p>
        </p:txBody>
      </p:sp>
    </p:spTree>
    <p:extLst>
      <p:ext uri="{BB962C8B-B14F-4D97-AF65-F5344CB8AC3E}">
        <p14:creationId xmlns:p14="http://schemas.microsoft.com/office/powerpoint/2010/main" val="1953342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C6275-EEBA-1589-CA0B-85FE78312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1474C-C52E-9369-42A4-582DFFA93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400" b="1"/>
              <a:t>Các thao tác phía Client</a:t>
            </a:r>
            <a:endParaRPr lang="en-US" sz="2400"/>
          </a:p>
          <a:p>
            <a:pPr lvl="1">
              <a:lnSpc>
                <a:spcPct val="140000"/>
              </a:lnSpc>
            </a:pPr>
            <a:r>
              <a:rPr lang="en-US"/>
              <a:t>Để xây dựng một ứng dụng Client, cần thực hiện các bước sau:</a:t>
            </a:r>
          </a:p>
          <a:p>
            <a:pPr lvl="2">
              <a:lnSpc>
                <a:spcPct val="140000"/>
              </a:lnSpc>
            </a:pPr>
            <a:r>
              <a:rPr lang="en-US" sz="2400" b="1"/>
              <a:t>socket():</a:t>
            </a:r>
            <a:r>
              <a:rPr lang="en-US" sz="2400"/>
              <a:t> Tạo một socket để kết nối đến Server.</a:t>
            </a:r>
          </a:p>
          <a:p>
            <a:pPr lvl="2">
              <a:lnSpc>
                <a:spcPct val="140000"/>
              </a:lnSpc>
            </a:pPr>
            <a:r>
              <a:rPr lang="en-US" sz="2400" b="1"/>
              <a:t>connect():</a:t>
            </a:r>
            <a:r>
              <a:rPr lang="en-US" sz="2400"/>
              <a:t> Gửi yêu cầu kết nối đến địa chỉ IP và port của Server.</a:t>
            </a:r>
            <a:endParaRPr lang="vi-VN" sz="2400"/>
          </a:p>
        </p:txBody>
      </p:sp>
      <p:pic>
        <p:nvPicPr>
          <p:cNvPr id="6" name="Content Placeholder 5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203F13C0-BA79-BA66-671F-B5EF762166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184400"/>
            <a:ext cx="5596956" cy="3992563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37C56A-CD73-93AC-19BA-B61316A8F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7329"/>
            <a:ext cx="10515600" cy="713361"/>
          </a:xfrm>
        </p:spPr>
        <p:txBody>
          <a:bodyPr anchor="ctr">
            <a:normAutofit/>
          </a:bodyPr>
          <a:lstStyle/>
          <a:p>
            <a:r>
              <a:rPr lang="en-US" sz="3400"/>
              <a:t>MÔ HÌNH CLIENT – SERVER CỦA ỨNG DỤNG TCP</a:t>
            </a:r>
          </a:p>
        </p:txBody>
      </p:sp>
    </p:spTree>
    <p:extLst>
      <p:ext uri="{BB962C8B-B14F-4D97-AF65-F5344CB8AC3E}">
        <p14:creationId xmlns:p14="http://schemas.microsoft.com/office/powerpoint/2010/main" val="3509039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7E121-470A-D22A-2F8A-6590D9B86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564E1-694C-A511-2A4C-8814FE340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/>
              <a:t>MÔ HÌNH CLIENT – SERVER CỦA ỨNG DỤNG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0586-6D80-3130-4387-7AFB6DF69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Quá trình truyền và nhận dữ liệu</a:t>
            </a:r>
            <a:endParaRPr lang="en-US"/>
          </a:p>
          <a:p>
            <a:pPr lvl="1"/>
            <a:r>
              <a:rPr lang="en-US" sz="2600"/>
              <a:t>Sau khi kết nối được thiết lập, Client và Server có thể trao đổi dữ liệu.</a:t>
            </a:r>
          </a:p>
          <a:p>
            <a:pPr lvl="1"/>
            <a:r>
              <a:rPr lang="en-US" sz="2600" b="1"/>
              <a:t>write() / Send():</a:t>
            </a:r>
            <a:r>
              <a:rPr lang="en-US" sz="2600"/>
              <a:t> Gửi dữ liệu đi.</a:t>
            </a:r>
          </a:p>
          <a:p>
            <a:pPr lvl="1"/>
            <a:r>
              <a:rPr lang="en-US" sz="2600" b="1"/>
              <a:t>read() / Receive():</a:t>
            </a:r>
            <a:r>
              <a:rPr lang="en-US" sz="2600"/>
              <a:t> Nhận dữ liệu.</a:t>
            </a:r>
          </a:p>
          <a:p>
            <a:pPr lvl="1"/>
            <a:r>
              <a:rPr lang="en-US" sz="2600"/>
              <a:t>Các thao tác này có thể được thực hiện nhiều lần trong suốt quá trình kết nối</a:t>
            </a:r>
            <a:r>
              <a:rPr lang="en-US"/>
              <a:t>.</a:t>
            </a:r>
          </a:p>
          <a:p>
            <a:pPr lvl="2"/>
            <a:endParaRPr lang="vi-VN" sz="2400"/>
          </a:p>
        </p:txBody>
      </p:sp>
    </p:spTree>
    <p:extLst>
      <p:ext uri="{BB962C8B-B14F-4D97-AF65-F5344CB8AC3E}">
        <p14:creationId xmlns:p14="http://schemas.microsoft.com/office/powerpoint/2010/main" val="3995106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42AA3-FBB3-07A2-4DBE-99E2C7F84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CC847-9078-A5BF-E79E-1AD057A3F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/>
              <a:t>MÔ HÌNH CLIENT – SERVER CỦA ỨNG DỤNG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4DF2C-DFA6-73D0-0CC8-7EEB4469F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Đóng kết nối</a:t>
            </a:r>
            <a:endParaRPr lang="en-US"/>
          </a:p>
          <a:p>
            <a:pPr lvl="1"/>
            <a:r>
              <a:rPr lang="en-US" sz="2600"/>
              <a:t>Sau khi quá trình giao tiếp hoàn tất, cả hai bên đều cần đóng kết nối.</a:t>
            </a:r>
          </a:p>
          <a:p>
            <a:pPr lvl="1"/>
            <a:r>
              <a:rPr lang="en-US" sz="2600" b="1"/>
              <a:t>shutdown():</a:t>
            </a:r>
            <a:r>
              <a:rPr lang="en-US" sz="2600"/>
              <a:t> Tạm dừng phiên làm việc.</a:t>
            </a:r>
          </a:p>
          <a:p>
            <a:pPr lvl="1"/>
            <a:r>
              <a:rPr lang="en-US" sz="2600" b="1"/>
              <a:t>close():</a:t>
            </a:r>
            <a:r>
              <a:rPr lang="en-US" sz="2600"/>
              <a:t> Đóng socket, giải phóng tài nguyên.</a:t>
            </a:r>
          </a:p>
          <a:p>
            <a:pPr lvl="2"/>
            <a:endParaRPr lang="vi-VN" sz="2400"/>
          </a:p>
        </p:txBody>
      </p:sp>
    </p:spTree>
    <p:extLst>
      <p:ext uri="{BB962C8B-B14F-4D97-AF65-F5344CB8AC3E}">
        <p14:creationId xmlns:p14="http://schemas.microsoft.com/office/powerpoint/2010/main" val="1370665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412EC-B240-6C37-46B7-2A7228F1D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1A2BB-5948-8FB2-62B3-8ADE2EE7E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/>
              <a:t>XÂY DỰNG ỨNG DỤNG TCP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60E74-C0C3-BD5C-52CE-011B32D4D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/>
              <a:t>Các bước xây dựng Server</a:t>
            </a:r>
            <a:endParaRPr lang="en-US"/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Khởi tạo TcpListener với địa chỉ IP và cổng.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Bắt đầu lắng nghe (Start()).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Chờ và chấp nhận kết nối từ Client (AcceptTcpClient()).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Lấy luồng dữ liệu (GetStream()).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Đọc và ghi dữ liệu.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Đóng luồng và kết nối.</a:t>
            </a:r>
          </a:p>
          <a:p>
            <a:pPr lvl="1"/>
            <a:endParaRPr lang="en-US" sz="2600"/>
          </a:p>
          <a:p>
            <a:pPr lvl="2"/>
            <a:endParaRPr lang="vi-VN" sz="2400"/>
          </a:p>
        </p:txBody>
      </p:sp>
    </p:spTree>
    <p:extLst>
      <p:ext uri="{BB962C8B-B14F-4D97-AF65-F5344CB8AC3E}">
        <p14:creationId xmlns:p14="http://schemas.microsoft.com/office/powerpoint/2010/main" val="608988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41B37-B8C2-555B-8F39-50061F2C6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06935-219D-53BB-66F2-EBAD898FA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/>
              <a:t>XÂY DỰNG ỨNG DỤNG TCP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F36A5-4247-5D90-3230-4AFBDDDD8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/>
              <a:t>Các bước xây dựng Server</a:t>
            </a:r>
            <a:endParaRPr lang="en-US"/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Khởi tạo TcpListener với địa chỉ IP và cổng.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Bắt đầu lắng nghe (Start()).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Chờ và chấp nhận kết nối từ Client (AcceptTcpClient()).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Lấy luồng dữ liệu (GetStream()).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Đọc và ghi dữ liệu.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Đóng luồng và kết nối.</a:t>
            </a:r>
          </a:p>
          <a:p>
            <a:pPr lvl="1"/>
            <a:endParaRPr lang="en-US" sz="2600"/>
          </a:p>
          <a:p>
            <a:pPr lvl="2"/>
            <a:endParaRPr lang="vi-VN" sz="2400"/>
          </a:p>
        </p:txBody>
      </p:sp>
    </p:spTree>
    <p:extLst>
      <p:ext uri="{BB962C8B-B14F-4D97-AF65-F5344CB8AC3E}">
        <p14:creationId xmlns:p14="http://schemas.microsoft.com/office/powerpoint/2010/main" val="832697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AD462-A248-14D4-CEAF-C3B429D6E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1F4BE-DDE3-1F6A-86ED-F22D6BBD5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/>
              <a:t>XÂY DỰNG ỨNG DỤNG TCP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C9960-3F42-1C21-B151-0661602F5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100"/>
              <a:t>Code mẫu: Khởi tạo &amp; lắng nghe</a:t>
            </a:r>
          </a:p>
          <a:p>
            <a:pPr marL="457200" lvl="1" indent="0">
              <a:buNone/>
            </a:pPr>
            <a:r>
              <a:rPr lang="en-US" sz="2600"/>
              <a:t>using System.Net;</a:t>
            </a:r>
          </a:p>
          <a:p>
            <a:pPr marL="457200" lvl="1" indent="0">
              <a:buNone/>
            </a:pPr>
            <a:r>
              <a:rPr lang="en-US" sz="2600"/>
              <a:t>using System.Net.Sockets;</a:t>
            </a:r>
          </a:p>
          <a:p>
            <a:pPr marL="457200" lvl="1" indent="0">
              <a:buNone/>
            </a:pPr>
            <a:r>
              <a:rPr lang="en-US" sz="2600"/>
              <a:t>IPAddress ip = IPAddress.Parse("127.0.0.1");</a:t>
            </a:r>
          </a:p>
          <a:p>
            <a:pPr marL="457200" lvl="1" indent="0">
              <a:buNone/>
            </a:pPr>
            <a:r>
              <a:rPr lang="en-US" sz="2600"/>
              <a:t>int port = 8888;</a:t>
            </a:r>
          </a:p>
          <a:p>
            <a:pPr marL="457200" lvl="1" indent="0">
              <a:buNone/>
            </a:pPr>
            <a:r>
              <a:rPr lang="en-US" sz="2600"/>
              <a:t>// Tạo TcpListener</a:t>
            </a:r>
          </a:p>
          <a:p>
            <a:pPr marL="457200" lvl="1" indent="0">
              <a:buNone/>
            </a:pPr>
            <a:r>
              <a:rPr lang="en-US" sz="2600"/>
              <a:t>TcpListener server = new TcpListener(ip, port);</a:t>
            </a:r>
          </a:p>
          <a:p>
            <a:pPr marL="457200" lvl="1" indent="0">
              <a:buNone/>
            </a:pPr>
            <a:r>
              <a:rPr lang="en-US" sz="2600"/>
              <a:t>server.Start();</a:t>
            </a:r>
          </a:p>
          <a:p>
            <a:pPr marL="457200" lvl="1" indent="0">
              <a:buNone/>
            </a:pPr>
            <a:r>
              <a:rPr lang="en-US" sz="2600"/>
              <a:t>Console.WriteLine("Server đã khởi động. Đang chờ kết nối...");</a:t>
            </a:r>
          </a:p>
          <a:p>
            <a:pPr lvl="1"/>
            <a:endParaRPr lang="en-US" sz="2600"/>
          </a:p>
          <a:p>
            <a:pPr lvl="2"/>
            <a:endParaRPr lang="vi-VN" sz="2400"/>
          </a:p>
        </p:txBody>
      </p:sp>
    </p:spTree>
    <p:extLst>
      <p:ext uri="{BB962C8B-B14F-4D97-AF65-F5344CB8AC3E}">
        <p14:creationId xmlns:p14="http://schemas.microsoft.com/office/powerpoint/2010/main" val="237619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58646-8DA9-F073-20A7-CB035F713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69D0E-DBC2-13B9-C079-0CCC2DA05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/>
              <a:t>XÂY DỰNG ỨNG DỤNG TCP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7D6FE-7848-0566-05A0-FD37E89BC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/>
              <a:t>Code mẫu: chấp nhận kết nối</a:t>
            </a:r>
          </a:p>
          <a:p>
            <a:pPr marL="457200" lvl="1" indent="0">
              <a:buNone/>
            </a:pPr>
            <a:r>
              <a:rPr lang="en-US" sz="2600"/>
              <a:t>// Chờ và chấp nhận kết nối từ client</a:t>
            </a:r>
          </a:p>
          <a:p>
            <a:pPr marL="457200" lvl="1" indent="0">
              <a:buNone/>
            </a:pPr>
            <a:r>
              <a:rPr lang="en-US" sz="2600"/>
              <a:t>TcpClient client = server.AcceptTcpClient();</a:t>
            </a:r>
          </a:p>
          <a:p>
            <a:pPr marL="457200" lvl="1" indent="0">
              <a:buNone/>
            </a:pPr>
            <a:r>
              <a:rPr lang="en-US" sz="2600"/>
              <a:t>Console.WriteLine("Client đã kết nối!");</a:t>
            </a:r>
          </a:p>
          <a:p>
            <a:pPr marL="457200" lvl="1" indent="0">
              <a:buNone/>
            </a:pPr>
            <a:endParaRPr lang="en-US" sz="2600"/>
          </a:p>
          <a:p>
            <a:pPr marL="457200" lvl="1" indent="0">
              <a:buNone/>
            </a:pPr>
            <a:r>
              <a:rPr lang="en-US" sz="2600"/>
              <a:t>// Lấy luồng dữ liệu để giao tiếp</a:t>
            </a:r>
          </a:p>
          <a:p>
            <a:pPr marL="457200" lvl="1" indent="0">
              <a:buNone/>
            </a:pPr>
            <a:r>
              <a:rPr lang="en-US" sz="2600"/>
              <a:t>NetworkStream stream = client.GetStream();</a:t>
            </a:r>
          </a:p>
          <a:p>
            <a:pPr lvl="2"/>
            <a:endParaRPr lang="vi-VN" sz="2400"/>
          </a:p>
        </p:txBody>
      </p:sp>
    </p:spTree>
    <p:extLst>
      <p:ext uri="{BB962C8B-B14F-4D97-AF65-F5344CB8AC3E}">
        <p14:creationId xmlns:p14="http://schemas.microsoft.com/office/powerpoint/2010/main" val="4113594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12353-A795-82E9-B5B8-4707D4DBC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2B0EC-BED4-18F0-3C57-94184B69F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/>
              <a:t>XÂY DỰNG ỨNG DỤNG TCP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0D5A4-0259-57AF-85BD-254619855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/>
              <a:t>Code mẫu: Giao tiếp</a:t>
            </a:r>
          </a:p>
          <a:p>
            <a:pPr marL="457200" lvl="1" indent="0">
              <a:buNone/>
            </a:pPr>
            <a:r>
              <a:rPr lang="vi-VN" sz="1800"/>
              <a:t>// Đọc dữ liệu từ client</a:t>
            </a:r>
          </a:p>
          <a:p>
            <a:pPr marL="457200" lvl="1" indent="0">
              <a:buNone/>
            </a:pPr>
            <a:r>
              <a:rPr lang="vi-VN" sz="1800"/>
              <a:t>byte[] data = new byte[256];</a:t>
            </a:r>
          </a:p>
          <a:p>
            <a:pPr marL="457200" lvl="1" indent="0">
              <a:buNone/>
            </a:pPr>
            <a:r>
              <a:rPr lang="vi-VN" sz="1800"/>
              <a:t>int bytesRead = stream.Read(data, 0, data.Length);</a:t>
            </a:r>
          </a:p>
          <a:p>
            <a:pPr marL="457200" lvl="1" indent="0">
              <a:buNone/>
            </a:pPr>
            <a:r>
              <a:rPr lang="vi-VN" sz="1800"/>
              <a:t>string receivedMessage = System.Text.Encoding.ASCII.GetString(data, 0, bytesRead);</a:t>
            </a:r>
          </a:p>
          <a:p>
            <a:pPr marL="457200" lvl="1" indent="0">
              <a:buNone/>
            </a:pPr>
            <a:r>
              <a:rPr lang="vi-VN" sz="1800"/>
              <a:t>Console.WriteLine($"Nhận từ client: {receivedMessage}");</a:t>
            </a:r>
          </a:p>
          <a:p>
            <a:pPr marL="457200" lvl="1" indent="0">
              <a:buNone/>
            </a:pPr>
            <a:r>
              <a:rPr lang="vi-VN" sz="1800"/>
              <a:t>// Gửi phản hồi</a:t>
            </a:r>
          </a:p>
          <a:p>
            <a:pPr marL="457200" lvl="1" indent="0">
              <a:buNone/>
            </a:pPr>
            <a:r>
              <a:rPr lang="vi-VN" sz="1800"/>
              <a:t>string response = "Server đã nhận được tin nhắn của bạn!";</a:t>
            </a:r>
          </a:p>
          <a:p>
            <a:pPr marL="457200" lvl="1" indent="0">
              <a:buNone/>
            </a:pPr>
            <a:r>
              <a:rPr lang="vi-VN" sz="1800"/>
              <a:t>byte[] buffer = System.Text.Encoding.ASCII.GetBytes(response);</a:t>
            </a:r>
          </a:p>
          <a:p>
            <a:pPr marL="457200" lvl="1" indent="0">
              <a:buNone/>
            </a:pPr>
            <a:r>
              <a:rPr lang="vi-VN" sz="1800"/>
              <a:t>stream.Write(buffer, 0, buffer.Length);</a:t>
            </a:r>
          </a:p>
        </p:txBody>
      </p:sp>
    </p:spTree>
    <p:extLst>
      <p:ext uri="{BB962C8B-B14F-4D97-AF65-F5344CB8AC3E}">
        <p14:creationId xmlns:p14="http://schemas.microsoft.com/office/powerpoint/2010/main" val="3474851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D40E4-D568-E318-2760-65D5EEF7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708B5-4C92-C190-EAA7-F59522E30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/>
              <a:t>XÂY DỰNG ỨNG DỤNG TCP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4CBCE-1DF2-7561-8782-F5DF56E3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/>
              <a:t>Code mẫu: Đóng kết nối</a:t>
            </a:r>
          </a:p>
          <a:p>
            <a:pPr marL="457200" lvl="1" indent="0">
              <a:buNone/>
            </a:pPr>
            <a:r>
              <a:rPr lang="en-US" sz="2600"/>
              <a:t>// Đóng luồng và kết nối</a:t>
            </a:r>
          </a:p>
          <a:p>
            <a:pPr marL="457200" lvl="1" indent="0">
              <a:buNone/>
            </a:pPr>
            <a:r>
              <a:rPr lang="en-US" sz="2600"/>
              <a:t>stream.Close();</a:t>
            </a:r>
          </a:p>
          <a:p>
            <a:pPr marL="457200" lvl="1" indent="0">
              <a:buNone/>
            </a:pPr>
            <a:r>
              <a:rPr lang="en-US" sz="2600"/>
              <a:t>client.Close();</a:t>
            </a:r>
          </a:p>
          <a:p>
            <a:pPr marL="457200" lvl="1" indent="0">
              <a:buNone/>
            </a:pPr>
            <a:r>
              <a:rPr lang="en-US" sz="2600"/>
              <a:t>server.Stop();</a:t>
            </a:r>
          </a:p>
          <a:p>
            <a:pPr marL="457200" lvl="1" indent="0">
              <a:buNone/>
            </a:pPr>
            <a:r>
              <a:rPr lang="en-US" sz="2600"/>
              <a:t>Console.WriteLine("Đã đóng kết nối.");</a:t>
            </a:r>
          </a:p>
        </p:txBody>
      </p:sp>
    </p:spTree>
    <p:extLst>
      <p:ext uri="{BB962C8B-B14F-4D97-AF65-F5344CB8AC3E}">
        <p14:creationId xmlns:p14="http://schemas.microsoft.com/office/powerpoint/2010/main" val="3343923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E1B8B-01D3-3A05-28F5-A02573AF3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B1A93-EA83-582F-EBAD-54AC9A113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/>
              <a:t>XÂY DỰNG ỨNG DỤNG TCP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7CBD8-2706-E922-E78A-802A62017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/>
              <a:t>Các bước xây dựng Client</a:t>
            </a:r>
            <a:endParaRPr lang="en-US"/>
          </a:p>
          <a:p>
            <a:pPr marL="971550" lvl="1" indent="-514350">
              <a:buFont typeface="+mj-lt"/>
              <a:buAutoNum type="arabicPeriod"/>
            </a:pPr>
            <a:r>
              <a:rPr lang="en-US" sz="2600"/>
              <a:t>Khởi tạo TcpClient.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/>
              <a:t>Kết nối tới Server bằng địa chỉ IP và cổng (Connect()).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/>
              <a:t>Lấy luồng dữ liệu (GetStream()).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/>
              <a:t>Ghi và đọc dữ liệu.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/>
              <a:t>Đóng luồng và kết nối.</a:t>
            </a:r>
          </a:p>
          <a:p>
            <a:pPr marL="457200" lvl="1" indent="0">
              <a:buNone/>
            </a:pP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1369694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BBE60-57EE-BC27-DB08-9BC19415F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BAB24-439F-F053-B8EC-445ED9B32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/>
              <a:t>XÂY DỰNG ỨNG DỤNG TCP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C675B-36FD-70F2-098D-753400E99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/>
              <a:t>Code mẫu: Khởi tạo &amp; kết nối</a:t>
            </a:r>
          </a:p>
          <a:p>
            <a:pPr marL="457200" lvl="1" indent="0">
              <a:buNone/>
            </a:pPr>
            <a:r>
              <a:rPr lang="en-US" sz="2200"/>
              <a:t>using System.Net.Sockets;</a:t>
            </a:r>
          </a:p>
          <a:p>
            <a:pPr marL="457200" lvl="1" indent="0">
              <a:buNone/>
            </a:pPr>
            <a:r>
              <a:rPr lang="en-US" sz="2200"/>
              <a:t>string serverIp = "127.0.0.1";</a:t>
            </a:r>
          </a:p>
          <a:p>
            <a:pPr marL="457200" lvl="1" indent="0">
              <a:buNone/>
            </a:pPr>
            <a:r>
              <a:rPr lang="en-US" sz="2200"/>
              <a:t>int serverPort = 8888;</a:t>
            </a:r>
          </a:p>
          <a:p>
            <a:pPr marL="457200" lvl="1" indent="0">
              <a:buNone/>
            </a:pPr>
            <a:r>
              <a:rPr lang="en-US" sz="2200"/>
              <a:t>// Tạo và kết nối tới server</a:t>
            </a:r>
          </a:p>
          <a:p>
            <a:pPr marL="457200" lvl="1" indent="0">
              <a:buNone/>
            </a:pPr>
            <a:r>
              <a:rPr lang="en-US" sz="2200"/>
              <a:t>TcpClient client = new TcpClient();</a:t>
            </a:r>
          </a:p>
          <a:p>
            <a:pPr marL="457200" lvl="1" indent="0">
              <a:buNone/>
            </a:pPr>
            <a:r>
              <a:rPr lang="en-US" sz="2200"/>
              <a:t>client.Connect(serverIp, serverPort);</a:t>
            </a:r>
          </a:p>
          <a:p>
            <a:pPr marL="457200" lvl="1" indent="0">
              <a:buNone/>
            </a:pPr>
            <a:r>
              <a:rPr lang="en-US" sz="2200"/>
              <a:t>Console.WriteLine("Đã kết nối tới Server!");</a:t>
            </a:r>
          </a:p>
        </p:txBody>
      </p:sp>
    </p:spTree>
    <p:extLst>
      <p:ext uri="{BB962C8B-B14F-4D97-AF65-F5344CB8AC3E}">
        <p14:creationId xmlns:p14="http://schemas.microsoft.com/office/powerpoint/2010/main" val="222801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C01BA-2F26-6FB1-D546-A1324E483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2517-8D6C-CB7F-44CA-883C38233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/>
              <a:t>XÂY DỰNG ỨNG DỤNG TCP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1985D-682B-EAB6-4854-0541D653C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/>
              <a:t>Code mẫu: Giao tiếp</a:t>
            </a:r>
          </a:p>
          <a:p>
            <a:pPr marL="457200" lvl="1" indent="0">
              <a:buNone/>
            </a:pPr>
            <a:r>
              <a:rPr lang="en-US"/>
              <a:t>// Lấy luồng dữ liệu</a:t>
            </a:r>
          </a:p>
          <a:p>
            <a:pPr marL="457200" lvl="1" indent="0">
              <a:buNone/>
            </a:pPr>
            <a:r>
              <a:rPr lang="en-US"/>
              <a:t>NetworkStream stream = client.GetStream();</a:t>
            </a:r>
          </a:p>
          <a:p>
            <a:pPr marL="457200" lvl="1" indent="0">
              <a:buNone/>
            </a:pPr>
            <a:r>
              <a:rPr lang="en-US"/>
              <a:t>// Gửi dữ liệu tới server</a:t>
            </a:r>
          </a:p>
          <a:p>
            <a:pPr marL="457200" lvl="1" indent="0">
              <a:buNone/>
            </a:pPr>
            <a:r>
              <a:rPr lang="en-US"/>
              <a:t>string message = "Xin chào từ Client!";</a:t>
            </a:r>
          </a:p>
          <a:p>
            <a:pPr marL="457200" lvl="1" indent="0">
              <a:buNone/>
            </a:pPr>
            <a:r>
              <a:rPr lang="en-US"/>
              <a:t>byte[] buffer = System.Text.Encoding.ASCII.GetBytes(message);</a:t>
            </a:r>
          </a:p>
          <a:p>
            <a:pPr marL="457200" lvl="1" indent="0">
              <a:buNone/>
            </a:pPr>
            <a:r>
              <a:rPr lang="en-US"/>
              <a:t>stream.Write(buffer, 0, buffer.Length);</a:t>
            </a:r>
          </a:p>
          <a:p>
            <a:pPr marL="457200" lvl="1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864374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33E91-3D97-A2B5-F946-856C54B68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4836C-152B-32BF-ECDB-FFB9EED83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/>
              <a:t>XÂY DỰNG ỨNG DỤNG TCP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652D3-1CA1-2CFE-437D-B575B10AE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/>
              <a:t>Code mẫu: Giao tiếp</a:t>
            </a:r>
          </a:p>
          <a:p>
            <a:pPr marL="457200" lvl="1" indent="0">
              <a:buNone/>
            </a:pPr>
            <a:r>
              <a:rPr lang="en-US"/>
              <a:t>// Đọc phản hồi từ server</a:t>
            </a:r>
          </a:p>
          <a:p>
            <a:pPr marL="457200" lvl="1" indent="0">
              <a:buNone/>
            </a:pPr>
            <a:r>
              <a:rPr lang="en-US"/>
              <a:t>byte[] data = new byte[256];</a:t>
            </a:r>
          </a:p>
          <a:p>
            <a:pPr marL="457200" lvl="1" indent="0">
              <a:buNone/>
            </a:pPr>
            <a:r>
              <a:rPr lang="en-US"/>
              <a:t>int bytesRead = stream.Read(data, 0, data.Length);</a:t>
            </a:r>
          </a:p>
          <a:p>
            <a:pPr marL="457200" lvl="1" indent="0">
              <a:buNone/>
            </a:pPr>
            <a:r>
              <a:rPr lang="en-US"/>
              <a:t>string receivedMessage = System.Text.Encoding.ASCII.GetString(data, 0, bytesRead);</a:t>
            </a:r>
          </a:p>
          <a:p>
            <a:pPr marL="457200" lvl="1" indent="0">
              <a:buNone/>
            </a:pPr>
            <a:r>
              <a:rPr lang="en-US"/>
              <a:t>Console.WriteLine($"Nhận từ server: {receivedMessage}");</a:t>
            </a:r>
          </a:p>
        </p:txBody>
      </p:sp>
    </p:spTree>
    <p:extLst>
      <p:ext uri="{BB962C8B-B14F-4D97-AF65-F5344CB8AC3E}">
        <p14:creationId xmlns:p14="http://schemas.microsoft.com/office/powerpoint/2010/main" val="254706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1A621-C786-EF6A-BB3A-CF9ADBCAF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1A8E3-B80F-D284-38A1-94DEADEA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/>
              <a:t>XÂY DỰNG ỨNG DỤNG TCP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7FB89-9AE1-DD36-3951-12A0F5029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/>
              <a:t>Code mẫu: Đóng kết nối</a:t>
            </a:r>
          </a:p>
          <a:p>
            <a:pPr marL="457200" lvl="1" indent="0">
              <a:buNone/>
            </a:pPr>
            <a:r>
              <a:rPr lang="en-US"/>
              <a:t>// Đóng luồng và kết nối</a:t>
            </a:r>
          </a:p>
          <a:p>
            <a:pPr marL="457200" lvl="1" indent="0">
              <a:buNone/>
            </a:pPr>
            <a:r>
              <a:rPr lang="en-US"/>
              <a:t>stream.Close();</a:t>
            </a:r>
          </a:p>
          <a:p>
            <a:pPr marL="457200" lvl="1" indent="0">
              <a:buNone/>
            </a:pPr>
            <a:r>
              <a:rPr lang="en-US"/>
              <a:t>client.Close();</a:t>
            </a:r>
          </a:p>
          <a:p>
            <a:pPr marL="457200" lvl="1" indent="0">
              <a:buNone/>
            </a:pPr>
            <a:r>
              <a:rPr lang="en-US"/>
              <a:t>Console.WriteLine("Đã đóng kết nối.");</a:t>
            </a:r>
          </a:p>
        </p:txBody>
      </p:sp>
    </p:spTree>
    <p:extLst>
      <p:ext uri="{BB962C8B-B14F-4D97-AF65-F5344CB8AC3E}">
        <p14:creationId xmlns:p14="http://schemas.microsoft.com/office/powerpoint/2010/main" val="437345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69572-FE73-F5AD-7C88-721DAD418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AA9A0-32A4-DC96-57E1-E0A49CD87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Ví dụ minh họa: Ứng dụng chat đơn giản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CA49E-1ED8-1387-E7D4-424614550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/>
              <a:t>Yêu cầu của ứng dụng</a:t>
            </a:r>
          </a:p>
          <a:p>
            <a:pPr lvl="1"/>
            <a:r>
              <a:rPr lang="en-US" sz="2600"/>
              <a:t>Server có thể lắng nghe liên tục.</a:t>
            </a:r>
          </a:p>
          <a:p>
            <a:pPr lvl="1"/>
            <a:r>
              <a:rPr lang="en-US" sz="2600"/>
              <a:t>Mỗi lần Client kết nối, Server sẽ nhận tin nhắn và gửi một phản hồi.</a:t>
            </a:r>
          </a:p>
          <a:p>
            <a:pPr lvl="1"/>
            <a:r>
              <a:rPr lang="en-US" sz="2600"/>
              <a:t>Client sẽ gửi một tin nhắn và hiển thị phản hồi từ Server.</a:t>
            </a:r>
          </a:p>
        </p:txBody>
      </p:sp>
    </p:spTree>
    <p:extLst>
      <p:ext uri="{BB962C8B-B14F-4D97-AF65-F5344CB8AC3E}">
        <p14:creationId xmlns:p14="http://schemas.microsoft.com/office/powerpoint/2010/main" val="2277362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EEE2-A0ED-3421-4847-FBD7AA4D5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Q&amp;A</a:t>
            </a:r>
          </a:p>
        </p:txBody>
      </p:sp>
      <p:grpSp>
        <p:nvGrpSpPr>
          <p:cNvPr id="14" name="Group 17">
            <a:extLst>
              <a:ext uri="{FF2B5EF4-FFF2-40B4-BE49-F238E27FC236}">
                <a16:creationId xmlns:a16="http://schemas.microsoft.com/office/drawing/2014/main" id="{DDA224F6-CC4B-1835-8E4C-0430E90CE44F}"/>
              </a:ext>
            </a:extLst>
          </p:cNvPr>
          <p:cNvGrpSpPr>
            <a:grpSpLocks/>
          </p:cNvGrpSpPr>
          <p:nvPr/>
        </p:nvGrpSpPr>
        <p:grpSpPr bwMode="auto">
          <a:xfrm>
            <a:off x="5167313" y="2116931"/>
            <a:ext cx="1857375" cy="3995738"/>
            <a:chOff x="2208" y="768"/>
            <a:chExt cx="1170" cy="2517"/>
          </a:xfrm>
        </p:grpSpPr>
        <p:sp>
          <p:nvSpPr>
            <p:cNvPr id="15" name="AutoShape 7">
              <a:extLst>
                <a:ext uri="{FF2B5EF4-FFF2-40B4-BE49-F238E27FC236}">
                  <a16:creationId xmlns:a16="http://schemas.microsoft.com/office/drawing/2014/main" id="{782FAECC-73D8-E397-CFEE-63C9BA938F6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08" y="768"/>
              <a:ext cx="1170" cy="2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5D175F58-3E4A-FA53-853A-7B359AA35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" y="1093"/>
              <a:ext cx="457" cy="507"/>
            </a:xfrm>
            <a:custGeom>
              <a:avLst/>
              <a:gdLst>
                <a:gd name="T0" fmla="*/ 238 w 457"/>
                <a:gd name="T1" fmla="*/ 117 h 507"/>
                <a:gd name="T2" fmla="*/ 198 w 457"/>
                <a:gd name="T3" fmla="*/ 65 h 507"/>
                <a:gd name="T4" fmla="*/ 142 w 457"/>
                <a:gd name="T5" fmla="*/ 26 h 507"/>
                <a:gd name="T6" fmla="*/ 92 w 457"/>
                <a:gd name="T7" fmla="*/ 0 h 507"/>
                <a:gd name="T8" fmla="*/ 52 w 457"/>
                <a:gd name="T9" fmla="*/ 7 h 507"/>
                <a:gd name="T10" fmla="*/ 23 w 457"/>
                <a:gd name="T11" fmla="*/ 36 h 507"/>
                <a:gd name="T12" fmla="*/ 0 w 457"/>
                <a:gd name="T13" fmla="*/ 124 h 507"/>
                <a:gd name="T14" fmla="*/ 9 w 457"/>
                <a:gd name="T15" fmla="*/ 225 h 507"/>
                <a:gd name="T16" fmla="*/ 33 w 457"/>
                <a:gd name="T17" fmla="*/ 322 h 507"/>
                <a:gd name="T18" fmla="*/ 59 w 457"/>
                <a:gd name="T19" fmla="*/ 397 h 507"/>
                <a:gd name="T20" fmla="*/ 109 w 457"/>
                <a:gd name="T21" fmla="*/ 475 h 507"/>
                <a:gd name="T22" fmla="*/ 152 w 457"/>
                <a:gd name="T23" fmla="*/ 507 h 507"/>
                <a:gd name="T24" fmla="*/ 211 w 457"/>
                <a:gd name="T25" fmla="*/ 507 h 507"/>
                <a:gd name="T26" fmla="*/ 271 w 457"/>
                <a:gd name="T27" fmla="*/ 485 h 507"/>
                <a:gd name="T28" fmla="*/ 301 w 457"/>
                <a:gd name="T29" fmla="*/ 429 h 507"/>
                <a:gd name="T30" fmla="*/ 317 w 457"/>
                <a:gd name="T31" fmla="*/ 358 h 507"/>
                <a:gd name="T32" fmla="*/ 311 w 457"/>
                <a:gd name="T33" fmla="*/ 270 h 507"/>
                <a:gd name="T34" fmla="*/ 450 w 457"/>
                <a:gd name="T35" fmla="*/ 280 h 507"/>
                <a:gd name="T36" fmla="*/ 457 w 457"/>
                <a:gd name="T37" fmla="*/ 241 h 507"/>
                <a:gd name="T38" fmla="*/ 298 w 457"/>
                <a:gd name="T39" fmla="*/ 225 h 507"/>
                <a:gd name="T40" fmla="*/ 258 w 457"/>
                <a:gd name="T41" fmla="*/ 134 h 507"/>
                <a:gd name="T42" fmla="*/ 238 w 457"/>
                <a:gd name="T43" fmla="*/ 117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7" h="507">
                  <a:moveTo>
                    <a:pt x="238" y="117"/>
                  </a:moveTo>
                  <a:lnTo>
                    <a:pt x="198" y="65"/>
                  </a:lnTo>
                  <a:lnTo>
                    <a:pt x="142" y="26"/>
                  </a:lnTo>
                  <a:lnTo>
                    <a:pt x="92" y="0"/>
                  </a:lnTo>
                  <a:lnTo>
                    <a:pt x="52" y="7"/>
                  </a:lnTo>
                  <a:lnTo>
                    <a:pt x="23" y="36"/>
                  </a:lnTo>
                  <a:lnTo>
                    <a:pt x="0" y="124"/>
                  </a:lnTo>
                  <a:lnTo>
                    <a:pt x="9" y="225"/>
                  </a:lnTo>
                  <a:lnTo>
                    <a:pt x="33" y="322"/>
                  </a:lnTo>
                  <a:lnTo>
                    <a:pt x="59" y="397"/>
                  </a:lnTo>
                  <a:lnTo>
                    <a:pt x="109" y="475"/>
                  </a:lnTo>
                  <a:lnTo>
                    <a:pt x="152" y="507"/>
                  </a:lnTo>
                  <a:lnTo>
                    <a:pt x="211" y="507"/>
                  </a:lnTo>
                  <a:lnTo>
                    <a:pt x="271" y="485"/>
                  </a:lnTo>
                  <a:lnTo>
                    <a:pt x="301" y="429"/>
                  </a:lnTo>
                  <a:lnTo>
                    <a:pt x="317" y="358"/>
                  </a:lnTo>
                  <a:lnTo>
                    <a:pt x="311" y="270"/>
                  </a:lnTo>
                  <a:lnTo>
                    <a:pt x="450" y="280"/>
                  </a:lnTo>
                  <a:lnTo>
                    <a:pt x="457" y="241"/>
                  </a:lnTo>
                  <a:lnTo>
                    <a:pt x="298" y="225"/>
                  </a:lnTo>
                  <a:lnTo>
                    <a:pt x="258" y="134"/>
                  </a:lnTo>
                  <a:lnTo>
                    <a:pt x="238" y="117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11E8910-EAB4-D4C0-67BB-4FD4FF844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0" y="963"/>
              <a:ext cx="526" cy="813"/>
            </a:xfrm>
            <a:custGeom>
              <a:avLst/>
              <a:gdLst>
                <a:gd name="T0" fmla="*/ 307 w 526"/>
                <a:gd name="T1" fmla="*/ 19 h 813"/>
                <a:gd name="T2" fmla="*/ 373 w 526"/>
                <a:gd name="T3" fmla="*/ 0 h 813"/>
                <a:gd name="T4" fmla="*/ 426 w 526"/>
                <a:gd name="T5" fmla="*/ 3 h 813"/>
                <a:gd name="T6" fmla="*/ 466 w 526"/>
                <a:gd name="T7" fmla="*/ 32 h 813"/>
                <a:gd name="T8" fmla="*/ 493 w 526"/>
                <a:gd name="T9" fmla="*/ 78 h 813"/>
                <a:gd name="T10" fmla="*/ 483 w 526"/>
                <a:gd name="T11" fmla="*/ 126 h 813"/>
                <a:gd name="T12" fmla="*/ 446 w 526"/>
                <a:gd name="T13" fmla="*/ 126 h 813"/>
                <a:gd name="T14" fmla="*/ 456 w 526"/>
                <a:gd name="T15" fmla="*/ 87 h 813"/>
                <a:gd name="T16" fmla="*/ 426 w 526"/>
                <a:gd name="T17" fmla="*/ 52 h 813"/>
                <a:gd name="T18" fmla="*/ 397 w 526"/>
                <a:gd name="T19" fmla="*/ 39 h 813"/>
                <a:gd name="T20" fmla="*/ 347 w 526"/>
                <a:gd name="T21" fmla="*/ 52 h 813"/>
                <a:gd name="T22" fmla="*/ 367 w 526"/>
                <a:gd name="T23" fmla="*/ 91 h 813"/>
                <a:gd name="T24" fmla="*/ 373 w 526"/>
                <a:gd name="T25" fmla="*/ 126 h 813"/>
                <a:gd name="T26" fmla="*/ 367 w 526"/>
                <a:gd name="T27" fmla="*/ 156 h 813"/>
                <a:gd name="T28" fmla="*/ 317 w 526"/>
                <a:gd name="T29" fmla="*/ 169 h 813"/>
                <a:gd name="T30" fmla="*/ 264 w 526"/>
                <a:gd name="T31" fmla="*/ 159 h 813"/>
                <a:gd name="T32" fmla="*/ 254 w 526"/>
                <a:gd name="T33" fmla="*/ 136 h 813"/>
                <a:gd name="T34" fmla="*/ 198 w 526"/>
                <a:gd name="T35" fmla="*/ 198 h 813"/>
                <a:gd name="T36" fmla="*/ 165 w 526"/>
                <a:gd name="T37" fmla="*/ 266 h 813"/>
                <a:gd name="T38" fmla="*/ 119 w 526"/>
                <a:gd name="T39" fmla="*/ 354 h 813"/>
                <a:gd name="T40" fmla="*/ 89 w 526"/>
                <a:gd name="T41" fmla="*/ 432 h 813"/>
                <a:gd name="T42" fmla="*/ 76 w 526"/>
                <a:gd name="T43" fmla="*/ 507 h 813"/>
                <a:gd name="T44" fmla="*/ 86 w 526"/>
                <a:gd name="T45" fmla="*/ 546 h 813"/>
                <a:gd name="T46" fmla="*/ 139 w 526"/>
                <a:gd name="T47" fmla="*/ 595 h 813"/>
                <a:gd name="T48" fmla="*/ 248 w 526"/>
                <a:gd name="T49" fmla="*/ 637 h 813"/>
                <a:gd name="T50" fmla="*/ 307 w 526"/>
                <a:gd name="T51" fmla="*/ 656 h 813"/>
                <a:gd name="T52" fmla="*/ 367 w 526"/>
                <a:gd name="T53" fmla="*/ 666 h 813"/>
                <a:gd name="T54" fmla="*/ 456 w 526"/>
                <a:gd name="T55" fmla="*/ 702 h 813"/>
                <a:gd name="T56" fmla="*/ 522 w 526"/>
                <a:gd name="T57" fmla="*/ 725 h 813"/>
                <a:gd name="T58" fmla="*/ 526 w 526"/>
                <a:gd name="T59" fmla="*/ 770 h 813"/>
                <a:gd name="T60" fmla="*/ 493 w 526"/>
                <a:gd name="T61" fmla="*/ 803 h 813"/>
                <a:gd name="T62" fmla="*/ 453 w 526"/>
                <a:gd name="T63" fmla="*/ 813 h 813"/>
                <a:gd name="T64" fmla="*/ 393 w 526"/>
                <a:gd name="T65" fmla="*/ 783 h 813"/>
                <a:gd name="T66" fmla="*/ 254 w 526"/>
                <a:gd name="T67" fmla="*/ 712 h 813"/>
                <a:gd name="T68" fmla="*/ 139 w 526"/>
                <a:gd name="T69" fmla="*/ 663 h 813"/>
                <a:gd name="T70" fmla="*/ 59 w 526"/>
                <a:gd name="T71" fmla="*/ 608 h 813"/>
                <a:gd name="T72" fmla="*/ 6 w 526"/>
                <a:gd name="T73" fmla="*/ 559 h 813"/>
                <a:gd name="T74" fmla="*/ 0 w 526"/>
                <a:gd name="T75" fmla="*/ 500 h 813"/>
                <a:gd name="T76" fmla="*/ 29 w 526"/>
                <a:gd name="T77" fmla="*/ 422 h 813"/>
                <a:gd name="T78" fmla="*/ 89 w 526"/>
                <a:gd name="T79" fmla="*/ 305 h 813"/>
                <a:gd name="T80" fmla="*/ 145 w 526"/>
                <a:gd name="T81" fmla="*/ 208 h 813"/>
                <a:gd name="T82" fmla="*/ 215 w 526"/>
                <a:gd name="T83" fmla="*/ 107 h 813"/>
                <a:gd name="T84" fmla="*/ 268 w 526"/>
                <a:gd name="T85" fmla="*/ 48 h 813"/>
                <a:gd name="T86" fmla="*/ 334 w 526"/>
                <a:gd name="T87" fmla="*/ 19 h 813"/>
                <a:gd name="T88" fmla="*/ 307 w 526"/>
                <a:gd name="T89" fmla="*/ 19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26" h="813">
                  <a:moveTo>
                    <a:pt x="307" y="19"/>
                  </a:moveTo>
                  <a:lnTo>
                    <a:pt x="373" y="0"/>
                  </a:lnTo>
                  <a:lnTo>
                    <a:pt x="426" y="3"/>
                  </a:lnTo>
                  <a:lnTo>
                    <a:pt x="466" y="32"/>
                  </a:lnTo>
                  <a:lnTo>
                    <a:pt x="493" y="78"/>
                  </a:lnTo>
                  <a:lnTo>
                    <a:pt x="483" y="126"/>
                  </a:lnTo>
                  <a:lnTo>
                    <a:pt x="446" y="126"/>
                  </a:lnTo>
                  <a:lnTo>
                    <a:pt x="456" y="87"/>
                  </a:lnTo>
                  <a:lnTo>
                    <a:pt x="426" y="52"/>
                  </a:lnTo>
                  <a:lnTo>
                    <a:pt x="397" y="39"/>
                  </a:lnTo>
                  <a:lnTo>
                    <a:pt x="347" y="52"/>
                  </a:lnTo>
                  <a:lnTo>
                    <a:pt x="367" y="91"/>
                  </a:lnTo>
                  <a:lnTo>
                    <a:pt x="373" y="126"/>
                  </a:lnTo>
                  <a:lnTo>
                    <a:pt x="367" y="156"/>
                  </a:lnTo>
                  <a:lnTo>
                    <a:pt x="317" y="169"/>
                  </a:lnTo>
                  <a:lnTo>
                    <a:pt x="264" y="159"/>
                  </a:lnTo>
                  <a:lnTo>
                    <a:pt x="254" y="136"/>
                  </a:lnTo>
                  <a:lnTo>
                    <a:pt x="198" y="198"/>
                  </a:lnTo>
                  <a:lnTo>
                    <a:pt x="165" y="266"/>
                  </a:lnTo>
                  <a:lnTo>
                    <a:pt x="119" y="354"/>
                  </a:lnTo>
                  <a:lnTo>
                    <a:pt x="89" y="432"/>
                  </a:lnTo>
                  <a:lnTo>
                    <a:pt x="76" y="507"/>
                  </a:lnTo>
                  <a:lnTo>
                    <a:pt x="86" y="546"/>
                  </a:lnTo>
                  <a:lnTo>
                    <a:pt x="139" y="595"/>
                  </a:lnTo>
                  <a:lnTo>
                    <a:pt x="248" y="637"/>
                  </a:lnTo>
                  <a:lnTo>
                    <a:pt x="307" y="656"/>
                  </a:lnTo>
                  <a:lnTo>
                    <a:pt x="367" y="666"/>
                  </a:lnTo>
                  <a:lnTo>
                    <a:pt x="456" y="702"/>
                  </a:lnTo>
                  <a:lnTo>
                    <a:pt x="522" y="725"/>
                  </a:lnTo>
                  <a:lnTo>
                    <a:pt x="526" y="770"/>
                  </a:lnTo>
                  <a:lnTo>
                    <a:pt x="493" y="803"/>
                  </a:lnTo>
                  <a:lnTo>
                    <a:pt x="453" y="813"/>
                  </a:lnTo>
                  <a:lnTo>
                    <a:pt x="393" y="783"/>
                  </a:lnTo>
                  <a:lnTo>
                    <a:pt x="254" y="712"/>
                  </a:lnTo>
                  <a:lnTo>
                    <a:pt x="139" y="663"/>
                  </a:lnTo>
                  <a:lnTo>
                    <a:pt x="59" y="608"/>
                  </a:lnTo>
                  <a:lnTo>
                    <a:pt x="6" y="559"/>
                  </a:lnTo>
                  <a:lnTo>
                    <a:pt x="0" y="500"/>
                  </a:lnTo>
                  <a:lnTo>
                    <a:pt x="29" y="422"/>
                  </a:lnTo>
                  <a:lnTo>
                    <a:pt x="89" y="305"/>
                  </a:lnTo>
                  <a:lnTo>
                    <a:pt x="145" y="208"/>
                  </a:lnTo>
                  <a:lnTo>
                    <a:pt x="215" y="107"/>
                  </a:lnTo>
                  <a:lnTo>
                    <a:pt x="268" y="48"/>
                  </a:lnTo>
                  <a:lnTo>
                    <a:pt x="334" y="19"/>
                  </a:lnTo>
                  <a:lnTo>
                    <a:pt x="307" y="19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4CC112B0-28E3-A73F-195A-D3A0432FD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1637"/>
              <a:ext cx="275" cy="763"/>
            </a:xfrm>
            <a:custGeom>
              <a:avLst/>
              <a:gdLst>
                <a:gd name="T0" fmla="*/ 17 w 275"/>
                <a:gd name="T1" fmla="*/ 59 h 763"/>
                <a:gd name="T2" fmla="*/ 27 w 275"/>
                <a:gd name="T3" fmla="*/ 20 h 763"/>
                <a:gd name="T4" fmla="*/ 70 w 275"/>
                <a:gd name="T5" fmla="*/ 0 h 763"/>
                <a:gd name="T6" fmla="*/ 109 w 275"/>
                <a:gd name="T7" fmla="*/ 0 h 763"/>
                <a:gd name="T8" fmla="*/ 159 w 275"/>
                <a:gd name="T9" fmla="*/ 29 h 763"/>
                <a:gd name="T10" fmla="*/ 206 w 275"/>
                <a:gd name="T11" fmla="*/ 98 h 763"/>
                <a:gd name="T12" fmla="*/ 239 w 275"/>
                <a:gd name="T13" fmla="*/ 169 h 763"/>
                <a:gd name="T14" fmla="*/ 255 w 275"/>
                <a:gd name="T15" fmla="*/ 266 h 763"/>
                <a:gd name="T16" fmla="*/ 269 w 275"/>
                <a:gd name="T17" fmla="*/ 380 h 763"/>
                <a:gd name="T18" fmla="*/ 275 w 275"/>
                <a:gd name="T19" fmla="*/ 490 h 763"/>
                <a:gd name="T20" fmla="*/ 275 w 275"/>
                <a:gd name="T21" fmla="*/ 633 h 763"/>
                <a:gd name="T22" fmla="*/ 255 w 275"/>
                <a:gd name="T23" fmla="*/ 721 h 763"/>
                <a:gd name="T24" fmla="*/ 219 w 275"/>
                <a:gd name="T25" fmla="*/ 753 h 763"/>
                <a:gd name="T26" fmla="*/ 156 w 275"/>
                <a:gd name="T27" fmla="*/ 763 h 763"/>
                <a:gd name="T28" fmla="*/ 90 w 275"/>
                <a:gd name="T29" fmla="*/ 760 h 763"/>
                <a:gd name="T30" fmla="*/ 56 w 275"/>
                <a:gd name="T31" fmla="*/ 721 h 763"/>
                <a:gd name="T32" fmla="*/ 37 w 275"/>
                <a:gd name="T33" fmla="*/ 653 h 763"/>
                <a:gd name="T34" fmla="*/ 20 w 275"/>
                <a:gd name="T35" fmla="*/ 585 h 763"/>
                <a:gd name="T36" fmla="*/ 7 w 275"/>
                <a:gd name="T37" fmla="*/ 461 h 763"/>
                <a:gd name="T38" fmla="*/ 0 w 275"/>
                <a:gd name="T39" fmla="*/ 322 h 763"/>
                <a:gd name="T40" fmla="*/ 0 w 275"/>
                <a:gd name="T41" fmla="*/ 159 h 763"/>
                <a:gd name="T42" fmla="*/ 17 w 275"/>
                <a:gd name="T43" fmla="*/ 88 h 763"/>
                <a:gd name="T44" fmla="*/ 17 w 275"/>
                <a:gd name="T45" fmla="*/ 59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5" h="763">
                  <a:moveTo>
                    <a:pt x="17" y="59"/>
                  </a:moveTo>
                  <a:lnTo>
                    <a:pt x="27" y="20"/>
                  </a:lnTo>
                  <a:lnTo>
                    <a:pt x="70" y="0"/>
                  </a:lnTo>
                  <a:lnTo>
                    <a:pt x="109" y="0"/>
                  </a:lnTo>
                  <a:lnTo>
                    <a:pt x="159" y="29"/>
                  </a:lnTo>
                  <a:lnTo>
                    <a:pt x="206" y="98"/>
                  </a:lnTo>
                  <a:lnTo>
                    <a:pt x="239" y="169"/>
                  </a:lnTo>
                  <a:lnTo>
                    <a:pt x="255" y="266"/>
                  </a:lnTo>
                  <a:lnTo>
                    <a:pt x="269" y="380"/>
                  </a:lnTo>
                  <a:lnTo>
                    <a:pt x="275" y="490"/>
                  </a:lnTo>
                  <a:lnTo>
                    <a:pt x="275" y="633"/>
                  </a:lnTo>
                  <a:lnTo>
                    <a:pt x="255" y="721"/>
                  </a:lnTo>
                  <a:lnTo>
                    <a:pt x="219" y="753"/>
                  </a:lnTo>
                  <a:lnTo>
                    <a:pt x="156" y="763"/>
                  </a:lnTo>
                  <a:lnTo>
                    <a:pt x="90" y="760"/>
                  </a:lnTo>
                  <a:lnTo>
                    <a:pt x="56" y="721"/>
                  </a:lnTo>
                  <a:lnTo>
                    <a:pt x="37" y="653"/>
                  </a:lnTo>
                  <a:lnTo>
                    <a:pt x="20" y="585"/>
                  </a:lnTo>
                  <a:lnTo>
                    <a:pt x="7" y="461"/>
                  </a:lnTo>
                  <a:lnTo>
                    <a:pt x="0" y="322"/>
                  </a:lnTo>
                  <a:lnTo>
                    <a:pt x="0" y="159"/>
                  </a:lnTo>
                  <a:lnTo>
                    <a:pt x="17" y="88"/>
                  </a:lnTo>
                  <a:lnTo>
                    <a:pt x="17" y="59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68733806-2F95-286D-501B-CE5AD8D67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" y="1658"/>
              <a:ext cx="420" cy="586"/>
            </a:xfrm>
            <a:custGeom>
              <a:avLst/>
              <a:gdLst>
                <a:gd name="T0" fmla="*/ 23 w 420"/>
                <a:gd name="T1" fmla="*/ 0 h 586"/>
                <a:gd name="T2" fmla="*/ 109 w 420"/>
                <a:gd name="T3" fmla="*/ 10 h 586"/>
                <a:gd name="T4" fmla="*/ 198 w 420"/>
                <a:gd name="T5" fmla="*/ 26 h 586"/>
                <a:gd name="T6" fmla="*/ 291 w 420"/>
                <a:gd name="T7" fmla="*/ 78 h 586"/>
                <a:gd name="T8" fmla="*/ 357 w 420"/>
                <a:gd name="T9" fmla="*/ 117 h 586"/>
                <a:gd name="T10" fmla="*/ 400 w 420"/>
                <a:gd name="T11" fmla="*/ 173 h 586"/>
                <a:gd name="T12" fmla="*/ 420 w 420"/>
                <a:gd name="T13" fmla="*/ 205 h 586"/>
                <a:gd name="T14" fmla="*/ 380 w 420"/>
                <a:gd name="T15" fmla="*/ 300 h 586"/>
                <a:gd name="T16" fmla="*/ 317 w 420"/>
                <a:gd name="T17" fmla="*/ 358 h 586"/>
                <a:gd name="T18" fmla="*/ 241 w 420"/>
                <a:gd name="T19" fmla="*/ 400 h 586"/>
                <a:gd name="T20" fmla="*/ 201 w 420"/>
                <a:gd name="T21" fmla="*/ 426 h 586"/>
                <a:gd name="T22" fmla="*/ 132 w 420"/>
                <a:gd name="T23" fmla="*/ 439 h 586"/>
                <a:gd name="T24" fmla="*/ 129 w 420"/>
                <a:gd name="T25" fmla="*/ 465 h 586"/>
                <a:gd name="T26" fmla="*/ 182 w 420"/>
                <a:gd name="T27" fmla="*/ 488 h 586"/>
                <a:gd name="T28" fmla="*/ 258 w 420"/>
                <a:gd name="T29" fmla="*/ 508 h 586"/>
                <a:gd name="T30" fmla="*/ 330 w 420"/>
                <a:gd name="T31" fmla="*/ 547 h 586"/>
                <a:gd name="T32" fmla="*/ 301 w 420"/>
                <a:gd name="T33" fmla="*/ 576 h 586"/>
                <a:gd name="T34" fmla="*/ 271 w 420"/>
                <a:gd name="T35" fmla="*/ 586 h 586"/>
                <a:gd name="T36" fmla="*/ 228 w 420"/>
                <a:gd name="T37" fmla="*/ 543 h 586"/>
                <a:gd name="T38" fmla="*/ 162 w 420"/>
                <a:gd name="T39" fmla="*/ 517 h 586"/>
                <a:gd name="T40" fmla="*/ 109 w 420"/>
                <a:gd name="T41" fmla="*/ 498 h 586"/>
                <a:gd name="T42" fmla="*/ 109 w 420"/>
                <a:gd name="T43" fmla="*/ 459 h 586"/>
                <a:gd name="T44" fmla="*/ 119 w 420"/>
                <a:gd name="T45" fmla="*/ 417 h 586"/>
                <a:gd name="T46" fmla="*/ 152 w 420"/>
                <a:gd name="T47" fmla="*/ 400 h 586"/>
                <a:gd name="T48" fmla="*/ 258 w 420"/>
                <a:gd name="T49" fmla="*/ 358 h 586"/>
                <a:gd name="T50" fmla="*/ 317 w 420"/>
                <a:gd name="T51" fmla="*/ 293 h 586"/>
                <a:gd name="T52" fmla="*/ 360 w 420"/>
                <a:gd name="T53" fmla="*/ 225 h 586"/>
                <a:gd name="T54" fmla="*/ 350 w 420"/>
                <a:gd name="T55" fmla="*/ 192 h 586"/>
                <a:gd name="T56" fmla="*/ 317 w 420"/>
                <a:gd name="T57" fmla="*/ 153 h 586"/>
                <a:gd name="T58" fmla="*/ 238 w 420"/>
                <a:gd name="T59" fmla="*/ 98 h 586"/>
                <a:gd name="T60" fmla="*/ 142 w 420"/>
                <a:gd name="T61" fmla="*/ 78 h 586"/>
                <a:gd name="T62" fmla="*/ 79 w 420"/>
                <a:gd name="T63" fmla="*/ 75 h 586"/>
                <a:gd name="T64" fmla="*/ 23 w 420"/>
                <a:gd name="T65" fmla="*/ 75 h 586"/>
                <a:gd name="T66" fmla="*/ 0 w 420"/>
                <a:gd name="T67" fmla="*/ 39 h 586"/>
                <a:gd name="T68" fmla="*/ 23 w 420"/>
                <a:gd name="T69" fmla="*/ 0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20" h="586">
                  <a:moveTo>
                    <a:pt x="23" y="0"/>
                  </a:moveTo>
                  <a:lnTo>
                    <a:pt x="109" y="10"/>
                  </a:lnTo>
                  <a:lnTo>
                    <a:pt x="198" y="26"/>
                  </a:lnTo>
                  <a:lnTo>
                    <a:pt x="291" y="78"/>
                  </a:lnTo>
                  <a:lnTo>
                    <a:pt x="357" y="117"/>
                  </a:lnTo>
                  <a:lnTo>
                    <a:pt x="400" y="173"/>
                  </a:lnTo>
                  <a:lnTo>
                    <a:pt x="420" y="205"/>
                  </a:lnTo>
                  <a:lnTo>
                    <a:pt x="380" y="300"/>
                  </a:lnTo>
                  <a:lnTo>
                    <a:pt x="317" y="358"/>
                  </a:lnTo>
                  <a:lnTo>
                    <a:pt x="241" y="400"/>
                  </a:lnTo>
                  <a:lnTo>
                    <a:pt x="201" y="426"/>
                  </a:lnTo>
                  <a:lnTo>
                    <a:pt x="132" y="439"/>
                  </a:lnTo>
                  <a:lnTo>
                    <a:pt x="129" y="465"/>
                  </a:lnTo>
                  <a:lnTo>
                    <a:pt x="182" y="488"/>
                  </a:lnTo>
                  <a:lnTo>
                    <a:pt x="258" y="508"/>
                  </a:lnTo>
                  <a:lnTo>
                    <a:pt x="330" y="547"/>
                  </a:lnTo>
                  <a:lnTo>
                    <a:pt x="301" y="576"/>
                  </a:lnTo>
                  <a:lnTo>
                    <a:pt x="271" y="586"/>
                  </a:lnTo>
                  <a:lnTo>
                    <a:pt x="228" y="543"/>
                  </a:lnTo>
                  <a:lnTo>
                    <a:pt x="162" y="517"/>
                  </a:lnTo>
                  <a:lnTo>
                    <a:pt x="109" y="498"/>
                  </a:lnTo>
                  <a:lnTo>
                    <a:pt x="109" y="459"/>
                  </a:lnTo>
                  <a:lnTo>
                    <a:pt x="119" y="417"/>
                  </a:lnTo>
                  <a:lnTo>
                    <a:pt x="152" y="400"/>
                  </a:lnTo>
                  <a:lnTo>
                    <a:pt x="258" y="358"/>
                  </a:lnTo>
                  <a:lnTo>
                    <a:pt x="317" y="293"/>
                  </a:lnTo>
                  <a:lnTo>
                    <a:pt x="360" y="225"/>
                  </a:lnTo>
                  <a:lnTo>
                    <a:pt x="350" y="192"/>
                  </a:lnTo>
                  <a:lnTo>
                    <a:pt x="317" y="153"/>
                  </a:lnTo>
                  <a:lnTo>
                    <a:pt x="238" y="98"/>
                  </a:lnTo>
                  <a:lnTo>
                    <a:pt x="142" y="78"/>
                  </a:lnTo>
                  <a:lnTo>
                    <a:pt x="79" y="75"/>
                  </a:lnTo>
                  <a:lnTo>
                    <a:pt x="23" y="75"/>
                  </a:lnTo>
                  <a:lnTo>
                    <a:pt x="0" y="39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B2C41A88-C6FA-84C9-5C93-D71E4B4B5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322"/>
              <a:ext cx="511" cy="947"/>
            </a:xfrm>
            <a:custGeom>
              <a:avLst/>
              <a:gdLst>
                <a:gd name="T0" fmla="*/ 59 w 511"/>
                <a:gd name="T1" fmla="*/ 0 h 947"/>
                <a:gd name="T2" fmla="*/ 13 w 511"/>
                <a:gd name="T3" fmla="*/ 0 h 947"/>
                <a:gd name="T4" fmla="*/ 0 w 511"/>
                <a:gd name="T5" fmla="*/ 68 h 947"/>
                <a:gd name="T6" fmla="*/ 33 w 511"/>
                <a:gd name="T7" fmla="*/ 108 h 947"/>
                <a:gd name="T8" fmla="*/ 139 w 511"/>
                <a:gd name="T9" fmla="*/ 202 h 947"/>
                <a:gd name="T10" fmla="*/ 232 w 511"/>
                <a:gd name="T11" fmla="*/ 322 h 947"/>
                <a:gd name="T12" fmla="*/ 292 w 511"/>
                <a:gd name="T13" fmla="*/ 446 h 947"/>
                <a:gd name="T14" fmla="*/ 301 w 511"/>
                <a:gd name="T15" fmla="*/ 527 h 947"/>
                <a:gd name="T16" fmla="*/ 298 w 511"/>
                <a:gd name="T17" fmla="*/ 586 h 947"/>
                <a:gd name="T18" fmla="*/ 272 w 511"/>
                <a:gd name="T19" fmla="*/ 719 h 947"/>
                <a:gd name="T20" fmla="*/ 238 w 511"/>
                <a:gd name="T21" fmla="*/ 827 h 947"/>
                <a:gd name="T22" fmla="*/ 209 w 511"/>
                <a:gd name="T23" fmla="*/ 889 h 947"/>
                <a:gd name="T24" fmla="*/ 202 w 511"/>
                <a:gd name="T25" fmla="*/ 928 h 947"/>
                <a:gd name="T26" fmla="*/ 232 w 511"/>
                <a:gd name="T27" fmla="*/ 928 h 947"/>
                <a:gd name="T28" fmla="*/ 278 w 511"/>
                <a:gd name="T29" fmla="*/ 915 h 947"/>
                <a:gd name="T30" fmla="*/ 292 w 511"/>
                <a:gd name="T31" fmla="*/ 918 h 947"/>
                <a:gd name="T32" fmla="*/ 388 w 511"/>
                <a:gd name="T33" fmla="*/ 924 h 947"/>
                <a:gd name="T34" fmla="*/ 461 w 511"/>
                <a:gd name="T35" fmla="*/ 947 h 947"/>
                <a:gd name="T36" fmla="*/ 487 w 511"/>
                <a:gd name="T37" fmla="*/ 934 h 947"/>
                <a:gd name="T38" fmla="*/ 511 w 511"/>
                <a:gd name="T39" fmla="*/ 885 h 947"/>
                <a:gd name="T40" fmla="*/ 487 w 511"/>
                <a:gd name="T41" fmla="*/ 859 h 947"/>
                <a:gd name="T42" fmla="*/ 378 w 511"/>
                <a:gd name="T43" fmla="*/ 856 h 947"/>
                <a:gd name="T44" fmla="*/ 301 w 511"/>
                <a:gd name="T45" fmla="*/ 866 h 947"/>
                <a:gd name="T46" fmla="*/ 262 w 511"/>
                <a:gd name="T47" fmla="*/ 885 h 947"/>
                <a:gd name="T48" fmla="*/ 268 w 511"/>
                <a:gd name="T49" fmla="*/ 840 h 947"/>
                <a:gd name="T50" fmla="*/ 308 w 511"/>
                <a:gd name="T51" fmla="*/ 771 h 947"/>
                <a:gd name="T52" fmla="*/ 341 w 511"/>
                <a:gd name="T53" fmla="*/ 664 h 947"/>
                <a:gd name="T54" fmla="*/ 368 w 511"/>
                <a:gd name="T55" fmla="*/ 573 h 947"/>
                <a:gd name="T56" fmla="*/ 348 w 511"/>
                <a:gd name="T57" fmla="*/ 469 h 947"/>
                <a:gd name="T58" fmla="*/ 318 w 511"/>
                <a:gd name="T59" fmla="*/ 358 h 947"/>
                <a:gd name="T60" fmla="*/ 258 w 511"/>
                <a:gd name="T61" fmla="*/ 231 h 947"/>
                <a:gd name="T62" fmla="*/ 172 w 511"/>
                <a:gd name="T63" fmla="*/ 114 h 947"/>
                <a:gd name="T64" fmla="*/ 99 w 511"/>
                <a:gd name="T65" fmla="*/ 29 h 947"/>
                <a:gd name="T66" fmla="*/ 59 w 511"/>
                <a:gd name="T67" fmla="*/ 0 h 9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11" h="947">
                  <a:moveTo>
                    <a:pt x="59" y="0"/>
                  </a:moveTo>
                  <a:lnTo>
                    <a:pt x="13" y="0"/>
                  </a:lnTo>
                  <a:lnTo>
                    <a:pt x="0" y="68"/>
                  </a:lnTo>
                  <a:lnTo>
                    <a:pt x="33" y="108"/>
                  </a:lnTo>
                  <a:lnTo>
                    <a:pt x="139" y="202"/>
                  </a:lnTo>
                  <a:lnTo>
                    <a:pt x="232" y="322"/>
                  </a:lnTo>
                  <a:lnTo>
                    <a:pt x="292" y="446"/>
                  </a:lnTo>
                  <a:lnTo>
                    <a:pt x="301" y="527"/>
                  </a:lnTo>
                  <a:lnTo>
                    <a:pt x="298" y="586"/>
                  </a:lnTo>
                  <a:lnTo>
                    <a:pt x="272" y="719"/>
                  </a:lnTo>
                  <a:lnTo>
                    <a:pt x="238" y="827"/>
                  </a:lnTo>
                  <a:lnTo>
                    <a:pt x="209" y="889"/>
                  </a:lnTo>
                  <a:lnTo>
                    <a:pt x="202" y="928"/>
                  </a:lnTo>
                  <a:lnTo>
                    <a:pt x="232" y="928"/>
                  </a:lnTo>
                  <a:lnTo>
                    <a:pt x="278" y="915"/>
                  </a:lnTo>
                  <a:lnTo>
                    <a:pt x="292" y="918"/>
                  </a:lnTo>
                  <a:lnTo>
                    <a:pt x="388" y="924"/>
                  </a:lnTo>
                  <a:lnTo>
                    <a:pt x="461" y="947"/>
                  </a:lnTo>
                  <a:lnTo>
                    <a:pt x="487" y="934"/>
                  </a:lnTo>
                  <a:lnTo>
                    <a:pt x="511" y="885"/>
                  </a:lnTo>
                  <a:lnTo>
                    <a:pt x="487" y="859"/>
                  </a:lnTo>
                  <a:lnTo>
                    <a:pt x="378" y="856"/>
                  </a:lnTo>
                  <a:lnTo>
                    <a:pt x="301" y="866"/>
                  </a:lnTo>
                  <a:lnTo>
                    <a:pt x="262" y="885"/>
                  </a:lnTo>
                  <a:lnTo>
                    <a:pt x="268" y="840"/>
                  </a:lnTo>
                  <a:lnTo>
                    <a:pt x="308" y="771"/>
                  </a:lnTo>
                  <a:lnTo>
                    <a:pt x="341" y="664"/>
                  </a:lnTo>
                  <a:lnTo>
                    <a:pt x="368" y="573"/>
                  </a:lnTo>
                  <a:lnTo>
                    <a:pt x="348" y="469"/>
                  </a:lnTo>
                  <a:lnTo>
                    <a:pt x="318" y="358"/>
                  </a:lnTo>
                  <a:lnTo>
                    <a:pt x="258" y="231"/>
                  </a:lnTo>
                  <a:lnTo>
                    <a:pt x="172" y="114"/>
                  </a:lnTo>
                  <a:lnTo>
                    <a:pt x="99" y="29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FF51962F-FE47-EFFC-E4FD-B888E3845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" y="2320"/>
              <a:ext cx="344" cy="965"/>
            </a:xfrm>
            <a:custGeom>
              <a:avLst/>
              <a:gdLst>
                <a:gd name="T0" fmla="*/ 238 w 344"/>
                <a:gd name="T1" fmla="*/ 0 h 965"/>
                <a:gd name="T2" fmla="*/ 195 w 344"/>
                <a:gd name="T3" fmla="*/ 91 h 965"/>
                <a:gd name="T4" fmla="*/ 165 w 344"/>
                <a:gd name="T5" fmla="*/ 224 h 965"/>
                <a:gd name="T6" fmla="*/ 129 w 344"/>
                <a:gd name="T7" fmla="*/ 371 h 965"/>
                <a:gd name="T8" fmla="*/ 96 w 344"/>
                <a:gd name="T9" fmla="*/ 520 h 965"/>
                <a:gd name="T10" fmla="*/ 96 w 344"/>
                <a:gd name="T11" fmla="*/ 575 h 965"/>
                <a:gd name="T12" fmla="*/ 129 w 344"/>
                <a:gd name="T13" fmla="*/ 673 h 965"/>
                <a:gd name="T14" fmla="*/ 175 w 344"/>
                <a:gd name="T15" fmla="*/ 725 h 965"/>
                <a:gd name="T16" fmla="*/ 218 w 344"/>
                <a:gd name="T17" fmla="*/ 790 h 965"/>
                <a:gd name="T18" fmla="*/ 248 w 344"/>
                <a:gd name="T19" fmla="*/ 838 h 965"/>
                <a:gd name="T20" fmla="*/ 235 w 344"/>
                <a:gd name="T21" fmla="*/ 861 h 965"/>
                <a:gd name="T22" fmla="*/ 159 w 344"/>
                <a:gd name="T23" fmla="*/ 871 h 965"/>
                <a:gd name="T24" fmla="*/ 36 w 344"/>
                <a:gd name="T25" fmla="*/ 890 h 965"/>
                <a:gd name="T26" fmla="*/ 0 w 344"/>
                <a:gd name="T27" fmla="*/ 920 h 965"/>
                <a:gd name="T28" fmla="*/ 30 w 344"/>
                <a:gd name="T29" fmla="*/ 946 h 965"/>
                <a:gd name="T30" fmla="*/ 99 w 344"/>
                <a:gd name="T31" fmla="*/ 965 h 965"/>
                <a:gd name="T32" fmla="*/ 179 w 344"/>
                <a:gd name="T33" fmla="*/ 926 h 965"/>
                <a:gd name="T34" fmla="*/ 238 w 344"/>
                <a:gd name="T35" fmla="*/ 900 h 965"/>
                <a:gd name="T36" fmla="*/ 314 w 344"/>
                <a:gd name="T37" fmla="*/ 890 h 965"/>
                <a:gd name="T38" fmla="*/ 344 w 344"/>
                <a:gd name="T39" fmla="*/ 881 h 965"/>
                <a:gd name="T40" fmla="*/ 334 w 344"/>
                <a:gd name="T41" fmla="*/ 848 h 965"/>
                <a:gd name="T42" fmla="*/ 248 w 344"/>
                <a:gd name="T43" fmla="*/ 764 h 965"/>
                <a:gd name="T44" fmla="*/ 198 w 344"/>
                <a:gd name="T45" fmla="*/ 676 h 965"/>
                <a:gd name="T46" fmla="*/ 155 w 344"/>
                <a:gd name="T47" fmla="*/ 617 h 965"/>
                <a:gd name="T48" fmla="*/ 149 w 344"/>
                <a:gd name="T49" fmla="*/ 559 h 965"/>
                <a:gd name="T50" fmla="*/ 169 w 344"/>
                <a:gd name="T51" fmla="*/ 462 h 965"/>
                <a:gd name="T52" fmla="*/ 215 w 344"/>
                <a:gd name="T53" fmla="*/ 361 h 965"/>
                <a:gd name="T54" fmla="*/ 265 w 344"/>
                <a:gd name="T55" fmla="*/ 189 h 965"/>
                <a:gd name="T56" fmla="*/ 308 w 344"/>
                <a:gd name="T57" fmla="*/ 88 h 965"/>
                <a:gd name="T58" fmla="*/ 304 w 344"/>
                <a:gd name="T59" fmla="*/ 29 h 965"/>
                <a:gd name="T60" fmla="*/ 265 w 344"/>
                <a:gd name="T61" fmla="*/ 0 h 965"/>
                <a:gd name="T62" fmla="*/ 238 w 344"/>
                <a:gd name="T63" fmla="*/ 0 h 9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4" h="965">
                  <a:moveTo>
                    <a:pt x="238" y="0"/>
                  </a:moveTo>
                  <a:lnTo>
                    <a:pt x="195" y="91"/>
                  </a:lnTo>
                  <a:lnTo>
                    <a:pt x="165" y="224"/>
                  </a:lnTo>
                  <a:lnTo>
                    <a:pt x="129" y="371"/>
                  </a:lnTo>
                  <a:lnTo>
                    <a:pt x="96" y="520"/>
                  </a:lnTo>
                  <a:lnTo>
                    <a:pt x="96" y="575"/>
                  </a:lnTo>
                  <a:lnTo>
                    <a:pt x="129" y="673"/>
                  </a:lnTo>
                  <a:lnTo>
                    <a:pt x="175" y="725"/>
                  </a:lnTo>
                  <a:lnTo>
                    <a:pt x="218" y="790"/>
                  </a:lnTo>
                  <a:lnTo>
                    <a:pt x="248" y="838"/>
                  </a:lnTo>
                  <a:lnTo>
                    <a:pt x="235" y="861"/>
                  </a:lnTo>
                  <a:lnTo>
                    <a:pt x="159" y="871"/>
                  </a:lnTo>
                  <a:lnTo>
                    <a:pt x="36" y="890"/>
                  </a:lnTo>
                  <a:lnTo>
                    <a:pt x="0" y="920"/>
                  </a:lnTo>
                  <a:lnTo>
                    <a:pt x="30" y="946"/>
                  </a:lnTo>
                  <a:lnTo>
                    <a:pt x="99" y="965"/>
                  </a:lnTo>
                  <a:lnTo>
                    <a:pt x="179" y="926"/>
                  </a:lnTo>
                  <a:lnTo>
                    <a:pt x="238" y="900"/>
                  </a:lnTo>
                  <a:lnTo>
                    <a:pt x="314" y="890"/>
                  </a:lnTo>
                  <a:lnTo>
                    <a:pt x="344" y="881"/>
                  </a:lnTo>
                  <a:lnTo>
                    <a:pt x="334" y="848"/>
                  </a:lnTo>
                  <a:lnTo>
                    <a:pt x="248" y="764"/>
                  </a:lnTo>
                  <a:lnTo>
                    <a:pt x="198" y="676"/>
                  </a:lnTo>
                  <a:lnTo>
                    <a:pt x="155" y="617"/>
                  </a:lnTo>
                  <a:lnTo>
                    <a:pt x="149" y="559"/>
                  </a:lnTo>
                  <a:lnTo>
                    <a:pt x="169" y="462"/>
                  </a:lnTo>
                  <a:lnTo>
                    <a:pt x="215" y="361"/>
                  </a:lnTo>
                  <a:lnTo>
                    <a:pt x="265" y="189"/>
                  </a:lnTo>
                  <a:lnTo>
                    <a:pt x="308" y="88"/>
                  </a:lnTo>
                  <a:lnTo>
                    <a:pt x="304" y="29"/>
                  </a:lnTo>
                  <a:lnTo>
                    <a:pt x="265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85CF235D-274B-D721-0A48-EE1E216CD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770"/>
              <a:ext cx="170" cy="198"/>
            </a:xfrm>
            <a:custGeom>
              <a:avLst/>
              <a:gdLst>
                <a:gd name="T0" fmla="*/ 20 w 170"/>
                <a:gd name="T1" fmla="*/ 9 h 198"/>
                <a:gd name="T2" fmla="*/ 66 w 170"/>
                <a:gd name="T3" fmla="*/ 0 h 198"/>
                <a:gd name="T4" fmla="*/ 110 w 170"/>
                <a:gd name="T5" fmla="*/ 3 h 198"/>
                <a:gd name="T6" fmla="*/ 150 w 170"/>
                <a:gd name="T7" fmla="*/ 22 h 198"/>
                <a:gd name="T8" fmla="*/ 170 w 170"/>
                <a:gd name="T9" fmla="*/ 58 h 198"/>
                <a:gd name="T10" fmla="*/ 170 w 170"/>
                <a:gd name="T11" fmla="*/ 87 h 198"/>
                <a:gd name="T12" fmla="*/ 150 w 170"/>
                <a:gd name="T13" fmla="*/ 126 h 198"/>
                <a:gd name="T14" fmla="*/ 116 w 170"/>
                <a:gd name="T15" fmla="*/ 149 h 198"/>
                <a:gd name="T16" fmla="*/ 66 w 170"/>
                <a:gd name="T17" fmla="*/ 149 h 198"/>
                <a:gd name="T18" fmla="*/ 36 w 170"/>
                <a:gd name="T19" fmla="*/ 168 h 198"/>
                <a:gd name="T20" fmla="*/ 26 w 170"/>
                <a:gd name="T21" fmla="*/ 198 h 198"/>
                <a:gd name="T22" fmla="*/ 0 w 170"/>
                <a:gd name="T23" fmla="*/ 188 h 198"/>
                <a:gd name="T24" fmla="*/ 10 w 170"/>
                <a:gd name="T25" fmla="*/ 149 h 198"/>
                <a:gd name="T26" fmla="*/ 46 w 170"/>
                <a:gd name="T27" fmla="*/ 126 h 198"/>
                <a:gd name="T28" fmla="*/ 106 w 170"/>
                <a:gd name="T29" fmla="*/ 120 h 198"/>
                <a:gd name="T30" fmla="*/ 130 w 170"/>
                <a:gd name="T31" fmla="*/ 97 h 198"/>
                <a:gd name="T32" fmla="*/ 136 w 170"/>
                <a:gd name="T33" fmla="*/ 61 h 198"/>
                <a:gd name="T34" fmla="*/ 110 w 170"/>
                <a:gd name="T35" fmla="*/ 29 h 198"/>
                <a:gd name="T36" fmla="*/ 70 w 170"/>
                <a:gd name="T37" fmla="*/ 29 h 198"/>
                <a:gd name="T38" fmla="*/ 26 w 170"/>
                <a:gd name="T39" fmla="*/ 39 h 198"/>
                <a:gd name="T40" fmla="*/ 10 w 170"/>
                <a:gd name="T41" fmla="*/ 29 h 198"/>
                <a:gd name="T42" fmla="*/ 20 w 170"/>
                <a:gd name="T43" fmla="*/ 9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0" h="198">
                  <a:moveTo>
                    <a:pt x="20" y="9"/>
                  </a:moveTo>
                  <a:lnTo>
                    <a:pt x="66" y="0"/>
                  </a:lnTo>
                  <a:lnTo>
                    <a:pt x="110" y="3"/>
                  </a:lnTo>
                  <a:lnTo>
                    <a:pt x="150" y="22"/>
                  </a:lnTo>
                  <a:lnTo>
                    <a:pt x="170" y="58"/>
                  </a:lnTo>
                  <a:lnTo>
                    <a:pt x="170" y="87"/>
                  </a:lnTo>
                  <a:lnTo>
                    <a:pt x="150" y="126"/>
                  </a:lnTo>
                  <a:lnTo>
                    <a:pt x="116" y="149"/>
                  </a:lnTo>
                  <a:lnTo>
                    <a:pt x="66" y="149"/>
                  </a:lnTo>
                  <a:lnTo>
                    <a:pt x="36" y="168"/>
                  </a:lnTo>
                  <a:lnTo>
                    <a:pt x="26" y="198"/>
                  </a:lnTo>
                  <a:lnTo>
                    <a:pt x="0" y="188"/>
                  </a:lnTo>
                  <a:lnTo>
                    <a:pt x="10" y="149"/>
                  </a:lnTo>
                  <a:lnTo>
                    <a:pt x="46" y="126"/>
                  </a:lnTo>
                  <a:lnTo>
                    <a:pt x="106" y="120"/>
                  </a:lnTo>
                  <a:lnTo>
                    <a:pt x="130" y="97"/>
                  </a:lnTo>
                  <a:lnTo>
                    <a:pt x="136" y="61"/>
                  </a:lnTo>
                  <a:lnTo>
                    <a:pt x="110" y="29"/>
                  </a:lnTo>
                  <a:lnTo>
                    <a:pt x="70" y="29"/>
                  </a:lnTo>
                  <a:lnTo>
                    <a:pt x="26" y="39"/>
                  </a:lnTo>
                  <a:lnTo>
                    <a:pt x="10" y="29"/>
                  </a:lnTo>
                  <a:lnTo>
                    <a:pt x="20" y="9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4F55DF66-BDD1-998E-C5D0-DE5270140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1001"/>
              <a:ext cx="53" cy="54"/>
            </a:xfrm>
            <a:custGeom>
              <a:avLst/>
              <a:gdLst>
                <a:gd name="T0" fmla="*/ 53 w 53"/>
                <a:gd name="T1" fmla="*/ 3 h 54"/>
                <a:gd name="T2" fmla="*/ 26 w 53"/>
                <a:gd name="T3" fmla="*/ 0 h 54"/>
                <a:gd name="T4" fmla="*/ 8 w 53"/>
                <a:gd name="T5" fmla="*/ 20 h 54"/>
                <a:gd name="T6" fmla="*/ 0 w 53"/>
                <a:gd name="T7" fmla="*/ 51 h 54"/>
                <a:gd name="T8" fmla="*/ 26 w 53"/>
                <a:gd name="T9" fmla="*/ 54 h 54"/>
                <a:gd name="T10" fmla="*/ 48 w 53"/>
                <a:gd name="T11" fmla="*/ 40 h 54"/>
                <a:gd name="T12" fmla="*/ 53 w 53"/>
                <a:gd name="T13" fmla="*/ 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54">
                  <a:moveTo>
                    <a:pt x="53" y="3"/>
                  </a:moveTo>
                  <a:lnTo>
                    <a:pt x="26" y="0"/>
                  </a:lnTo>
                  <a:lnTo>
                    <a:pt x="8" y="20"/>
                  </a:lnTo>
                  <a:lnTo>
                    <a:pt x="0" y="51"/>
                  </a:lnTo>
                  <a:lnTo>
                    <a:pt x="26" y="54"/>
                  </a:lnTo>
                  <a:lnTo>
                    <a:pt x="48" y="40"/>
                  </a:lnTo>
                  <a:lnTo>
                    <a:pt x="53" y="3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40039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UIT">
      <a:dk1>
        <a:srgbClr val="000000"/>
      </a:dk1>
      <a:lt1>
        <a:srgbClr val="FFFFFF"/>
      </a:lt1>
      <a:dk2>
        <a:srgbClr val="354253"/>
      </a:dk2>
      <a:lt2>
        <a:srgbClr val="E7E6E6"/>
      </a:lt2>
      <a:accent1>
        <a:srgbClr val="044F9E"/>
      </a:accent1>
      <a:accent2>
        <a:srgbClr val="2072B7"/>
      </a:accent2>
      <a:accent3>
        <a:srgbClr val="4CC4EB"/>
      </a:accent3>
      <a:accent4>
        <a:srgbClr val="E81F26"/>
      </a:accent4>
      <a:accent5>
        <a:srgbClr val="FEC01D"/>
      </a:accent5>
      <a:accent6>
        <a:srgbClr val="DBD014"/>
      </a:accent6>
      <a:hlink>
        <a:srgbClr val="2072B7"/>
      </a:hlink>
      <a:folHlink>
        <a:srgbClr val="044F9E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</TotalTime>
  <Words>1162</Words>
  <Application>Microsoft Office PowerPoint</Application>
  <PresentationFormat>Widescreen</PresentationFormat>
  <Paragraphs>135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Calibri</vt:lpstr>
      <vt:lpstr>Myriad Pro</vt:lpstr>
      <vt:lpstr>Times New Roman</vt:lpstr>
      <vt:lpstr>Wingdings</vt:lpstr>
      <vt:lpstr>1_Office Theme</vt:lpstr>
      <vt:lpstr>PowerPoint Presentation</vt:lpstr>
      <vt:lpstr>NỘI DUNG</vt:lpstr>
      <vt:lpstr>MỤC TIÊU</vt:lpstr>
      <vt:lpstr>MÔ HÌNH CLIENT – SERVER CỦA ỨNG DỤNG TCP</vt:lpstr>
      <vt:lpstr>MÔ HÌNH CLIENT – SERVER CỦA ỨNG DỤNG TCP</vt:lpstr>
      <vt:lpstr>MÔ HÌNH CLIENT – SERVER CỦA ỨNG DỤNG TCP</vt:lpstr>
      <vt:lpstr>MÔ HÌNH CLIENT – SERVER CỦA ỨNG DỤNG TCP</vt:lpstr>
      <vt:lpstr>MÔ HÌNH CLIENT – SERVER CỦA ỨNG DỤNG TCP</vt:lpstr>
      <vt:lpstr>XÂY DỰNG ỨNG DỤNG TCP SERVER</vt:lpstr>
      <vt:lpstr>XÂY DỰNG ỨNG DỤNG TCP SERVER</vt:lpstr>
      <vt:lpstr>XÂY DỰNG ỨNG DỤNG TCP SERVER</vt:lpstr>
      <vt:lpstr>XÂY DỰNG ỨNG DỤNG TCP SERVER</vt:lpstr>
      <vt:lpstr>XÂY DỰNG ỨNG DỤNG TCP SERVER</vt:lpstr>
      <vt:lpstr>XÂY DỰNG ỨNG DỤNG TCP SERVER</vt:lpstr>
      <vt:lpstr>XÂY DỰNG ỨNG DỤNG TCP CLIENT</vt:lpstr>
      <vt:lpstr>XÂY DỰNG ỨNG DỤNG TCP CLIENT</vt:lpstr>
      <vt:lpstr>XÂY DỰNG ỨNG DỤNG TCP CLIENT</vt:lpstr>
      <vt:lpstr>XÂY DỰNG ỨNG DỤNG TCP CLIENT</vt:lpstr>
      <vt:lpstr>XÂY DỰNG ỨNG DỤNG TCP CLIENT</vt:lpstr>
      <vt:lpstr>Ví dụ minh họa: Ứng dụng chat đơn giản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Võ Văn Vũ</dc:creator>
  <cp:lastModifiedBy>Ngô Quốc Huy - Khoa Công nghệ Thông tin - VLTECH</cp:lastModifiedBy>
  <cp:revision>60</cp:revision>
  <dcterms:created xsi:type="dcterms:W3CDTF">2023-11-06T07:10:59Z</dcterms:created>
  <dcterms:modified xsi:type="dcterms:W3CDTF">2025-08-08T15:33:40Z</dcterms:modified>
</cp:coreProperties>
</file>