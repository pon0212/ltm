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31"/>
  </p:notesMasterIdLst>
  <p:sldIdLst>
    <p:sldId id="257" r:id="rId2"/>
    <p:sldId id="258" r:id="rId3"/>
    <p:sldId id="259" r:id="rId4"/>
    <p:sldId id="260" r:id="rId5"/>
    <p:sldId id="286" r:id="rId6"/>
    <p:sldId id="287" r:id="rId7"/>
    <p:sldId id="288" r:id="rId8"/>
    <p:sldId id="289" r:id="rId9"/>
    <p:sldId id="290" r:id="rId10"/>
    <p:sldId id="291" r:id="rId11"/>
    <p:sldId id="292" r:id="rId12"/>
    <p:sldId id="293" r:id="rId13"/>
    <p:sldId id="295" r:id="rId14"/>
    <p:sldId id="296" r:id="rId15"/>
    <p:sldId id="297" r:id="rId16"/>
    <p:sldId id="298" r:id="rId17"/>
    <p:sldId id="299" r:id="rId18"/>
    <p:sldId id="300" r:id="rId19"/>
    <p:sldId id="301" r:id="rId20"/>
    <p:sldId id="302" r:id="rId21"/>
    <p:sldId id="303" r:id="rId22"/>
    <p:sldId id="304" r:id="rId23"/>
    <p:sldId id="305" r:id="rId24"/>
    <p:sldId id="306" r:id="rId25"/>
    <p:sldId id="307" r:id="rId26"/>
    <p:sldId id="308" r:id="rId27"/>
    <p:sldId id="309" r:id="rId28"/>
    <p:sldId id="310" r:id="rId29"/>
    <p:sldId id="285" r:id="rId30"/>
  </p:sldIdLst>
  <p:sldSz cx="12192000" cy="6858000"/>
  <p:notesSz cx="6858000" cy="9144000"/>
  <p:defaultTextStyle>
    <a:defPPr>
      <a:defRPr lang="en-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9810"/>
    <p:restoredTop sz="85185" autoAdjust="0"/>
  </p:normalViewPr>
  <p:slideViewPr>
    <p:cSldViewPr snapToGrid="0">
      <p:cViewPr varScale="1">
        <p:scale>
          <a:sx n="50" d="100"/>
          <a:sy n="50" d="100"/>
        </p:scale>
        <p:origin x="644" y="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E54E373-69D0-4F11-ACC6-88E50A6C7809}" type="datetimeFigureOut">
              <a:rPr lang="en-US" smtClean="0"/>
              <a:t>08/14/2025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63396FD-4067-4E15-8157-23C3103AA76F}" type="slidenum">
              <a:rPr lang="en-US" smtClean="0"/>
              <a:t>‹#›</a:t>
            </a:fld>
            <a:endParaRPr lang="en-US"/>
          </a:p>
        </p:txBody>
      </p:sp>
    </p:spTree>
    <p:extLst>
      <p:ext uri="{BB962C8B-B14F-4D97-AF65-F5344CB8AC3E}">
        <p14:creationId xmlns:p14="http://schemas.microsoft.com/office/powerpoint/2010/main" val="29496307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1FA5C7D-F076-ABAB-28ED-936E6476926A}"/>
              </a:ext>
            </a:extLst>
          </p:cNvPr>
          <p:cNvSpPr/>
          <p:nvPr userDrawn="1"/>
        </p:nvSpPr>
        <p:spPr>
          <a:xfrm>
            <a:off x="0" y="-8444"/>
            <a:ext cx="12192000" cy="71336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sz="1800"/>
          </a:p>
        </p:txBody>
      </p:sp>
      <p:sp>
        <p:nvSpPr>
          <p:cNvPr id="12" name="Rectangle 11">
            <a:extLst>
              <a:ext uri="{FF2B5EF4-FFF2-40B4-BE49-F238E27FC236}">
                <a16:creationId xmlns:a16="http://schemas.microsoft.com/office/drawing/2014/main" id="{76CBF138-DDAA-03AE-2BFD-F0E6E77D0894}"/>
              </a:ext>
            </a:extLst>
          </p:cNvPr>
          <p:cNvSpPr/>
          <p:nvPr userDrawn="1"/>
        </p:nvSpPr>
        <p:spPr>
          <a:xfrm>
            <a:off x="1775458" y="6721474"/>
            <a:ext cx="10416543" cy="136562"/>
          </a:xfrm>
          <a:custGeom>
            <a:avLst/>
            <a:gdLst>
              <a:gd name="connsiteX0" fmla="*/ 0 w 8093413"/>
              <a:gd name="connsiteY0" fmla="*/ 0 h 133200"/>
              <a:gd name="connsiteX1" fmla="*/ 8093413 w 8093413"/>
              <a:gd name="connsiteY1" fmla="*/ 0 h 133200"/>
              <a:gd name="connsiteX2" fmla="*/ 8093413 w 8093413"/>
              <a:gd name="connsiteY2" fmla="*/ 133200 h 133200"/>
              <a:gd name="connsiteX3" fmla="*/ 0 w 8093413"/>
              <a:gd name="connsiteY3" fmla="*/ 133200 h 133200"/>
              <a:gd name="connsiteX4" fmla="*/ 0 w 8093413"/>
              <a:gd name="connsiteY4" fmla="*/ 0 h 133200"/>
              <a:gd name="connsiteX0" fmla="*/ 94130 w 8187543"/>
              <a:gd name="connsiteY0" fmla="*/ 0 h 136562"/>
              <a:gd name="connsiteX1" fmla="*/ 8187543 w 8187543"/>
              <a:gd name="connsiteY1" fmla="*/ 0 h 136562"/>
              <a:gd name="connsiteX2" fmla="*/ 8187543 w 8187543"/>
              <a:gd name="connsiteY2" fmla="*/ 133200 h 136562"/>
              <a:gd name="connsiteX3" fmla="*/ 0 w 8187543"/>
              <a:gd name="connsiteY3" fmla="*/ 136562 h 136562"/>
              <a:gd name="connsiteX4" fmla="*/ 94130 w 8187543"/>
              <a:gd name="connsiteY4" fmla="*/ 0 h 1365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87543" h="136562">
                <a:moveTo>
                  <a:pt x="94130" y="0"/>
                </a:moveTo>
                <a:lnTo>
                  <a:pt x="8187543" y="0"/>
                </a:lnTo>
                <a:lnTo>
                  <a:pt x="8187543" y="133200"/>
                </a:lnTo>
                <a:lnTo>
                  <a:pt x="0" y="136562"/>
                </a:lnTo>
                <a:lnTo>
                  <a:pt x="94130"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1800"/>
              <a:t> </a:t>
            </a:r>
          </a:p>
        </p:txBody>
      </p:sp>
      <p:pic>
        <p:nvPicPr>
          <p:cNvPr id="17" name="Picture 16">
            <a:extLst>
              <a:ext uri="{FF2B5EF4-FFF2-40B4-BE49-F238E27FC236}">
                <a16:creationId xmlns:a16="http://schemas.microsoft.com/office/drawing/2014/main" id="{A6B26E30-45B4-E434-42E3-BFE66D53EBB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828826" y="6739175"/>
            <a:ext cx="10363148" cy="101806"/>
          </a:xfrm>
          <a:prstGeom prst="rect">
            <a:avLst/>
          </a:prstGeom>
        </p:spPr>
      </p:pic>
      <p:sp>
        <p:nvSpPr>
          <p:cNvPr id="6" name="Slide Number Placeholder 5"/>
          <p:cNvSpPr>
            <a:spLocks noGrp="1"/>
          </p:cNvSpPr>
          <p:nvPr>
            <p:ph type="sldNum" sz="quarter" idx="12"/>
          </p:nvPr>
        </p:nvSpPr>
        <p:spPr>
          <a:xfrm>
            <a:off x="11676283" y="6599573"/>
            <a:ext cx="505557" cy="365125"/>
          </a:xfrm>
        </p:spPr>
        <p:txBody>
          <a:bodyPr/>
          <a:lstStyle>
            <a:lvl1pPr>
              <a:defRPr sz="1000">
                <a:solidFill>
                  <a:schemeClr val="bg1"/>
                </a:solidFill>
              </a:defRPr>
            </a:lvl1pPr>
          </a:lstStyle>
          <a:p>
            <a:fld id="{D379440A-2DED-3643-ADED-9B5C83E7D828}" type="slidenum">
              <a:rPr lang="en-VN"/>
              <a:pPr/>
              <a:t>‹#›</a:t>
            </a:fld>
            <a:endParaRPr lang="en-VN"/>
          </a:p>
        </p:txBody>
      </p:sp>
      <p:sp>
        <p:nvSpPr>
          <p:cNvPr id="15" name="TextBox 14">
            <a:extLst>
              <a:ext uri="{FF2B5EF4-FFF2-40B4-BE49-F238E27FC236}">
                <a16:creationId xmlns:a16="http://schemas.microsoft.com/office/drawing/2014/main" id="{EF8EE5A3-86BB-B40C-62D9-2E005424811B}"/>
              </a:ext>
            </a:extLst>
          </p:cNvPr>
          <p:cNvSpPr txBox="1"/>
          <p:nvPr userDrawn="1"/>
        </p:nvSpPr>
        <p:spPr>
          <a:xfrm>
            <a:off x="140379" y="6663076"/>
            <a:ext cx="1624919" cy="253916"/>
          </a:xfrm>
          <a:prstGeom prst="rect">
            <a:avLst/>
          </a:prstGeom>
          <a:noFill/>
        </p:spPr>
        <p:txBody>
          <a:bodyPr wrap="square" rtlCol="0">
            <a:spAutoFit/>
          </a:bodyPr>
          <a:lstStyle/>
          <a:p>
            <a:r>
              <a:rPr lang="en-US" sz="1000">
                <a:solidFill>
                  <a:srgbClr val="0070C0"/>
                </a:solidFill>
              </a:rPr>
              <a:t>https://huit.edu.vn</a:t>
            </a:r>
            <a:endParaRPr lang="en-VN" sz="1000">
              <a:solidFill>
                <a:srgbClr val="0070C0"/>
              </a:solidFill>
            </a:endParaRPr>
          </a:p>
        </p:txBody>
      </p:sp>
      <p:pic>
        <p:nvPicPr>
          <p:cNvPr id="20" name="Picture 19" descr="A building with trees in the background&#10;&#10;Description automatically generated">
            <a:extLst>
              <a:ext uri="{FF2B5EF4-FFF2-40B4-BE49-F238E27FC236}">
                <a16:creationId xmlns:a16="http://schemas.microsoft.com/office/drawing/2014/main" id="{633C415B-DE87-6E90-4B13-A134B02EF454}"/>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160" y="5045074"/>
            <a:ext cx="12202160" cy="1676400"/>
          </a:xfrm>
          <a:prstGeom prst="rect">
            <a:avLst/>
          </a:prstGeom>
        </p:spPr>
      </p:pic>
      <p:sp>
        <p:nvSpPr>
          <p:cNvPr id="21" name="TextBox 20">
            <a:extLst>
              <a:ext uri="{FF2B5EF4-FFF2-40B4-BE49-F238E27FC236}">
                <a16:creationId xmlns:a16="http://schemas.microsoft.com/office/drawing/2014/main" id="{C088D834-70EE-F737-6AE1-030852F6AA55}"/>
              </a:ext>
            </a:extLst>
          </p:cNvPr>
          <p:cNvSpPr txBox="1"/>
          <p:nvPr userDrawn="1"/>
        </p:nvSpPr>
        <p:spPr>
          <a:xfrm>
            <a:off x="2545718" y="32083"/>
            <a:ext cx="7090403" cy="646331"/>
          </a:xfrm>
          <a:prstGeom prst="rect">
            <a:avLst/>
          </a:prstGeom>
          <a:noFill/>
        </p:spPr>
        <p:txBody>
          <a:bodyPr wrap="none" rtlCol="0">
            <a:spAutoFit/>
          </a:bodyPr>
          <a:lstStyle/>
          <a:p>
            <a:pPr algn="ctr"/>
            <a:r>
              <a:rPr lang="en-US" sz="1800">
                <a:solidFill>
                  <a:schemeClr val="bg1"/>
                </a:solidFill>
                <a:latin typeface="Arial" panose="020B0604020202020204" pitchFamily="34" charset="0"/>
                <a:cs typeface="Arial" panose="020B0604020202020204" pitchFamily="34" charset="0"/>
              </a:rPr>
              <a:t>BỘ CÔNG THƯƠNG</a:t>
            </a:r>
          </a:p>
          <a:p>
            <a:pPr algn="ctr"/>
            <a:r>
              <a:rPr lang="en-US" sz="1800" b="1">
                <a:solidFill>
                  <a:schemeClr val="bg1"/>
                </a:solidFill>
                <a:latin typeface="Arial" panose="020B0604020202020204" pitchFamily="34" charset="0"/>
                <a:cs typeface="Arial" panose="020B0604020202020204" pitchFamily="34" charset="0"/>
              </a:rPr>
              <a:t>TRƯỜNG ĐẠI HỌC CÔNG THƯƠNG THÀNH PHỐ HỒ CHÍ MINH</a:t>
            </a:r>
            <a:endParaRPr lang="en-VN" sz="1800" b="1">
              <a:solidFill>
                <a:schemeClr val="bg1"/>
              </a:solidFill>
              <a:latin typeface="Arial" panose="020B0604020202020204" pitchFamily="34" charset="0"/>
              <a:cs typeface="Arial" panose="020B0604020202020204" pitchFamily="34" charset="0"/>
            </a:endParaRPr>
          </a:p>
        </p:txBody>
      </p:sp>
      <p:pic>
        <p:nvPicPr>
          <p:cNvPr id="23" name="Picture 22" descr="A white circle with blue and red text and a book with a graduation cap&#10;&#10;Description automatically generated">
            <a:extLst>
              <a:ext uri="{FF2B5EF4-FFF2-40B4-BE49-F238E27FC236}">
                <a16:creationId xmlns:a16="http://schemas.microsoft.com/office/drawing/2014/main" id="{CC7CB636-E017-BD51-B7F7-2797B5CEAFFA}"/>
              </a:ext>
            </a:extLst>
          </p:cNvPr>
          <p:cNvPicPr>
            <a:picLocks/>
          </p:cNvPicPr>
          <p:nvPr userDrawn="1"/>
        </p:nvPicPr>
        <p:blipFill>
          <a:blip r:embed="rId4" cstate="screen">
            <a:extLst>
              <a:ext uri="{28A0092B-C50C-407E-A947-70E740481C1C}">
                <a14:useLocalDpi xmlns:a14="http://schemas.microsoft.com/office/drawing/2010/main"/>
              </a:ext>
            </a:extLst>
          </a:blip>
          <a:stretch>
            <a:fillRect/>
          </a:stretch>
        </p:blipFill>
        <p:spPr>
          <a:xfrm>
            <a:off x="356133" y="18061"/>
            <a:ext cx="666000" cy="666000"/>
          </a:xfrm>
          <a:prstGeom prst="rect">
            <a:avLst/>
          </a:prstGeom>
        </p:spPr>
      </p:pic>
    </p:spTree>
    <p:extLst>
      <p:ext uri="{BB962C8B-B14F-4D97-AF65-F5344CB8AC3E}">
        <p14:creationId xmlns:p14="http://schemas.microsoft.com/office/powerpoint/2010/main" val="2239023145"/>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7D56CA0-7F99-A73F-EC74-87E2C37C45F8}"/>
              </a:ext>
            </a:extLst>
          </p:cNvPr>
          <p:cNvSpPr/>
          <p:nvPr userDrawn="1"/>
        </p:nvSpPr>
        <p:spPr>
          <a:xfrm>
            <a:off x="0" y="-8444"/>
            <a:ext cx="12192000" cy="71336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sz="1800"/>
          </a:p>
        </p:txBody>
      </p:sp>
      <p:sp>
        <p:nvSpPr>
          <p:cNvPr id="2" name="Title 1"/>
          <p:cNvSpPr>
            <a:spLocks noGrp="1"/>
          </p:cNvSpPr>
          <p:nvPr>
            <p:ph type="title"/>
          </p:nvPr>
        </p:nvSpPr>
        <p:spPr>
          <a:xfrm>
            <a:off x="838200" y="884305"/>
            <a:ext cx="10515600" cy="806384"/>
          </a:xfrm>
        </p:spPr>
        <p:txBody>
          <a:bodyPr/>
          <a:lstStyle/>
          <a:p>
            <a:r>
              <a:rPr lang="en-US" dirty="0"/>
              <a:t>Click to edit Master title style</a:t>
            </a:r>
          </a:p>
        </p:txBody>
      </p:sp>
      <p:sp>
        <p:nvSpPr>
          <p:cNvPr id="3" name="Content Placeholder 2"/>
          <p:cNvSpPr>
            <a:spLocks noGrp="1"/>
          </p:cNvSpPr>
          <p:nvPr>
            <p:ph idx="1"/>
          </p:nvPr>
        </p:nvSpPr>
        <p:spPr/>
        <p:txBody>
          <a:bodyPr/>
          <a:lstStyle>
            <a:lvl2pPr marL="685800" indent="-228600">
              <a:buFont typeface="Wingdings" panose="05000000000000000000" pitchFamily="2" charset="2"/>
              <a:buChar char="§"/>
              <a:defRPr/>
            </a:lvl2pPr>
            <a:lvl3pPr marL="1143000" indent="-228600">
              <a:buFont typeface="Wingdings" panose="05000000000000000000" pitchFamily="2" charset="2"/>
              <a:buChar char="v"/>
              <a:defRPr/>
            </a:lvl3pPr>
            <a:lvl4pPr marL="1600200" indent="-228600">
              <a:buFont typeface="Wingdings" panose="05000000000000000000" pitchFamily="2" charset="2"/>
              <a:buChar char="Ø"/>
              <a:defRPr/>
            </a:lvl4pPr>
            <a:lvl5pPr marL="2057400" indent="-228600">
              <a:buFont typeface="Wingdings" panose="05000000000000000000" pitchFamily="2" charset="2"/>
              <a:buChar char="ü"/>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0" name="Picture 9" descr="A black background with white text&#10;&#10;Description automatically generated">
            <a:extLst>
              <a:ext uri="{FF2B5EF4-FFF2-40B4-BE49-F238E27FC236}">
                <a16:creationId xmlns:a16="http://schemas.microsoft.com/office/drawing/2014/main" id="{636941E3-E3EC-8EF3-53CB-96FCF404C8E3}"/>
              </a:ext>
            </a:extLst>
          </p:cNvPr>
          <p:cNvPicPr>
            <a:picLocks/>
          </p:cNvPicPr>
          <p:nvPr userDrawn="1"/>
        </p:nvPicPr>
        <p:blipFill>
          <a:blip r:embed="rId2" cstate="screen">
            <a:extLst>
              <a:ext uri="{28A0092B-C50C-407E-A947-70E740481C1C}">
                <a14:useLocalDpi xmlns:a14="http://schemas.microsoft.com/office/drawing/2010/main"/>
              </a:ext>
            </a:extLst>
          </a:blip>
          <a:stretch>
            <a:fillRect/>
          </a:stretch>
        </p:blipFill>
        <p:spPr>
          <a:xfrm>
            <a:off x="318618" y="2224"/>
            <a:ext cx="3290400" cy="685072"/>
          </a:xfrm>
          <a:prstGeom prst="rect">
            <a:avLst/>
          </a:prstGeom>
        </p:spPr>
      </p:pic>
      <p:sp>
        <p:nvSpPr>
          <p:cNvPr id="11" name="Rectangle 11">
            <a:extLst>
              <a:ext uri="{FF2B5EF4-FFF2-40B4-BE49-F238E27FC236}">
                <a16:creationId xmlns:a16="http://schemas.microsoft.com/office/drawing/2014/main" id="{D433E92D-1893-9769-8444-34EEDD3F24BC}"/>
              </a:ext>
            </a:extLst>
          </p:cNvPr>
          <p:cNvSpPr/>
          <p:nvPr userDrawn="1"/>
        </p:nvSpPr>
        <p:spPr>
          <a:xfrm>
            <a:off x="1775458" y="6721474"/>
            <a:ext cx="10416543" cy="136562"/>
          </a:xfrm>
          <a:custGeom>
            <a:avLst/>
            <a:gdLst>
              <a:gd name="connsiteX0" fmla="*/ 0 w 8093413"/>
              <a:gd name="connsiteY0" fmla="*/ 0 h 133200"/>
              <a:gd name="connsiteX1" fmla="*/ 8093413 w 8093413"/>
              <a:gd name="connsiteY1" fmla="*/ 0 h 133200"/>
              <a:gd name="connsiteX2" fmla="*/ 8093413 w 8093413"/>
              <a:gd name="connsiteY2" fmla="*/ 133200 h 133200"/>
              <a:gd name="connsiteX3" fmla="*/ 0 w 8093413"/>
              <a:gd name="connsiteY3" fmla="*/ 133200 h 133200"/>
              <a:gd name="connsiteX4" fmla="*/ 0 w 8093413"/>
              <a:gd name="connsiteY4" fmla="*/ 0 h 133200"/>
              <a:gd name="connsiteX0" fmla="*/ 94130 w 8187543"/>
              <a:gd name="connsiteY0" fmla="*/ 0 h 136562"/>
              <a:gd name="connsiteX1" fmla="*/ 8187543 w 8187543"/>
              <a:gd name="connsiteY1" fmla="*/ 0 h 136562"/>
              <a:gd name="connsiteX2" fmla="*/ 8187543 w 8187543"/>
              <a:gd name="connsiteY2" fmla="*/ 133200 h 136562"/>
              <a:gd name="connsiteX3" fmla="*/ 0 w 8187543"/>
              <a:gd name="connsiteY3" fmla="*/ 136562 h 136562"/>
              <a:gd name="connsiteX4" fmla="*/ 94130 w 8187543"/>
              <a:gd name="connsiteY4" fmla="*/ 0 h 1365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87543" h="136562">
                <a:moveTo>
                  <a:pt x="94130" y="0"/>
                </a:moveTo>
                <a:lnTo>
                  <a:pt x="8187543" y="0"/>
                </a:lnTo>
                <a:lnTo>
                  <a:pt x="8187543" y="133200"/>
                </a:lnTo>
                <a:lnTo>
                  <a:pt x="0" y="136562"/>
                </a:lnTo>
                <a:lnTo>
                  <a:pt x="94130"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1800"/>
              <a:t> </a:t>
            </a:r>
          </a:p>
        </p:txBody>
      </p:sp>
      <p:pic>
        <p:nvPicPr>
          <p:cNvPr id="12" name="Picture 11">
            <a:extLst>
              <a:ext uri="{FF2B5EF4-FFF2-40B4-BE49-F238E27FC236}">
                <a16:creationId xmlns:a16="http://schemas.microsoft.com/office/drawing/2014/main" id="{2550C907-0A3F-10BA-C15C-CA461460FE94}"/>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828826" y="6739175"/>
            <a:ext cx="10363148" cy="101806"/>
          </a:xfrm>
          <a:prstGeom prst="rect">
            <a:avLst/>
          </a:prstGeom>
        </p:spPr>
      </p:pic>
      <p:sp>
        <p:nvSpPr>
          <p:cNvPr id="13" name="Slide Number Placeholder 5">
            <a:extLst>
              <a:ext uri="{FF2B5EF4-FFF2-40B4-BE49-F238E27FC236}">
                <a16:creationId xmlns:a16="http://schemas.microsoft.com/office/drawing/2014/main" id="{FB4E7459-A8A2-5081-F907-74BAE4176EAC}"/>
              </a:ext>
            </a:extLst>
          </p:cNvPr>
          <p:cNvSpPr>
            <a:spLocks noGrp="1"/>
          </p:cNvSpPr>
          <p:nvPr>
            <p:ph type="sldNum" sz="quarter" idx="12"/>
          </p:nvPr>
        </p:nvSpPr>
        <p:spPr>
          <a:xfrm>
            <a:off x="11676283" y="6599573"/>
            <a:ext cx="505557" cy="365125"/>
          </a:xfrm>
        </p:spPr>
        <p:txBody>
          <a:bodyPr/>
          <a:lstStyle>
            <a:lvl1pPr>
              <a:defRPr sz="1000">
                <a:solidFill>
                  <a:schemeClr val="bg1"/>
                </a:solidFill>
              </a:defRPr>
            </a:lvl1pPr>
          </a:lstStyle>
          <a:p>
            <a:fld id="{D379440A-2DED-3643-ADED-9B5C83E7D828}" type="slidenum">
              <a:rPr lang="en-VN"/>
              <a:pPr/>
              <a:t>‹#›</a:t>
            </a:fld>
            <a:endParaRPr lang="en-VN"/>
          </a:p>
        </p:txBody>
      </p:sp>
      <p:sp>
        <p:nvSpPr>
          <p:cNvPr id="14" name="TextBox 13">
            <a:extLst>
              <a:ext uri="{FF2B5EF4-FFF2-40B4-BE49-F238E27FC236}">
                <a16:creationId xmlns:a16="http://schemas.microsoft.com/office/drawing/2014/main" id="{920F50DE-1588-0A68-B2AE-03A7C3A9B079}"/>
              </a:ext>
            </a:extLst>
          </p:cNvPr>
          <p:cNvSpPr txBox="1"/>
          <p:nvPr userDrawn="1"/>
        </p:nvSpPr>
        <p:spPr>
          <a:xfrm>
            <a:off x="140379" y="6663076"/>
            <a:ext cx="1624919" cy="253916"/>
          </a:xfrm>
          <a:prstGeom prst="rect">
            <a:avLst/>
          </a:prstGeom>
          <a:noFill/>
        </p:spPr>
        <p:txBody>
          <a:bodyPr wrap="square" rtlCol="0">
            <a:spAutoFit/>
          </a:bodyPr>
          <a:lstStyle/>
          <a:p>
            <a:r>
              <a:rPr lang="en-US" sz="1000">
                <a:solidFill>
                  <a:srgbClr val="0070C0"/>
                </a:solidFill>
              </a:rPr>
              <a:t>https://huit.edu.vn</a:t>
            </a:r>
            <a:endParaRPr lang="en-VN" sz="1000">
              <a:solidFill>
                <a:srgbClr val="0070C0"/>
              </a:solidFill>
            </a:endParaRPr>
          </a:p>
        </p:txBody>
      </p:sp>
    </p:spTree>
    <p:extLst>
      <p:ext uri="{BB962C8B-B14F-4D97-AF65-F5344CB8AC3E}">
        <p14:creationId xmlns:p14="http://schemas.microsoft.com/office/powerpoint/2010/main" val="36779584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831851" y="4589465"/>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7" name="Rectangle 6">
            <a:extLst>
              <a:ext uri="{FF2B5EF4-FFF2-40B4-BE49-F238E27FC236}">
                <a16:creationId xmlns:a16="http://schemas.microsoft.com/office/drawing/2014/main" id="{BFDCC048-85E1-D9DE-466A-D5EAB21DAFC6}"/>
              </a:ext>
            </a:extLst>
          </p:cNvPr>
          <p:cNvSpPr/>
          <p:nvPr userDrawn="1"/>
        </p:nvSpPr>
        <p:spPr>
          <a:xfrm>
            <a:off x="0" y="-8444"/>
            <a:ext cx="12192000" cy="71336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sz="1800"/>
          </a:p>
        </p:txBody>
      </p:sp>
      <p:sp>
        <p:nvSpPr>
          <p:cNvPr id="9" name="Rectangle 11">
            <a:extLst>
              <a:ext uri="{FF2B5EF4-FFF2-40B4-BE49-F238E27FC236}">
                <a16:creationId xmlns:a16="http://schemas.microsoft.com/office/drawing/2014/main" id="{0547C463-86A8-9ADB-B42F-6F8F911146A4}"/>
              </a:ext>
            </a:extLst>
          </p:cNvPr>
          <p:cNvSpPr/>
          <p:nvPr userDrawn="1"/>
        </p:nvSpPr>
        <p:spPr>
          <a:xfrm>
            <a:off x="1775458" y="6721474"/>
            <a:ext cx="10416543" cy="136562"/>
          </a:xfrm>
          <a:custGeom>
            <a:avLst/>
            <a:gdLst>
              <a:gd name="connsiteX0" fmla="*/ 0 w 8093413"/>
              <a:gd name="connsiteY0" fmla="*/ 0 h 133200"/>
              <a:gd name="connsiteX1" fmla="*/ 8093413 w 8093413"/>
              <a:gd name="connsiteY1" fmla="*/ 0 h 133200"/>
              <a:gd name="connsiteX2" fmla="*/ 8093413 w 8093413"/>
              <a:gd name="connsiteY2" fmla="*/ 133200 h 133200"/>
              <a:gd name="connsiteX3" fmla="*/ 0 w 8093413"/>
              <a:gd name="connsiteY3" fmla="*/ 133200 h 133200"/>
              <a:gd name="connsiteX4" fmla="*/ 0 w 8093413"/>
              <a:gd name="connsiteY4" fmla="*/ 0 h 133200"/>
              <a:gd name="connsiteX0" fmla="*/ 94130 w 8187543"/>
              <a:gd name="connsiteY0" fmla="*/ 0 h 136562"/>
              <a:gd name="connsiteX1" fmla="*/ 8187543 w 8187543"/>
              <a:gd name="connsiteY1" fmla="*/ 0 h 136562"/>
              <a:gd name="connsiteX2" fmla="*/ 8187543 w 8187543"/>
              <a:gd name="connsiteY2" fmla="*/ 133200 h 136562"/>
              <a:gd name="connsiteX3" fmla="*/ 0 w 8187543"/>
              <a:gd name="connsiteY3" fmla="*/ 136562 h 136562"/>
              <a:gd name="connsiteX4" fmla="*/ 94130 w 8187543"/>
              <a:gd name="connsiteY4" fmla="*/ 0 h 1365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87543" h="136562">
                <a:moveTo>
                  <a:pt x="94130" y="0"/>
                </a:moveTo>
                <a:lnTo>
                  <a:pt x="8187543" y="0"/>
                </a:lnTo>
                <a:lnTo>
                  <a:pt x="8187543" y="133200"/>
                </a:lnTo>
                <a:lnTo>
                  <a:pt x="0" y="136562"/>
                </a:lnTo>
                <a:lnTo>
                  <a:pt x="94130"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1800"/>
              <a:t> </a:t>
            </a:r>
          </a:p>
        </p:txBody>
      </p:sp>
      <p:pic>
        <p:nvPicPr>
          <p:cNvPr id="10" name="Picture 9">
            <a:extLst>
              <a:ext uri="{FF2B5EF4-FFF2-40B4-BE49-F238E27FC236}">
                <a16:creationId xmlns:a16="http://schemas.microsoft.com/office/drawing/2014/main" id="{DC2EE3A5-6242-A6B2-F6B4-2094B545F5E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828826" y="6739175"/>
            <a:ext cx="10363148" cy="101806"/>
          </a:xfrm>
          <a:prstGeom prst="rect">
            <a:avLst/>
          </a:prstGeom>
        </p:spPr>
      </p:pic>
      <p:sp>
        <p:nvSpPr>
          <p:cNvPr id="11" name="Slide Number Placeholder 5">
            <a:extLst>
              <a:ext uri="{FF2B5EF4-FFF2-40B4-BE49-F238E27FC236}">
                <a16:creationId xmlns:a16="http://schemas.microsoft.com/office/drawing/2014/main" id="{A9473FA4-C6C6-7E97-AACE-A35CFDAB768B}"/>
              </a:ext>
            </a:extLst>
          </p:cNvPr>
          <p:cNvSpPr>
            <a:spLocks noGrp="1"/>
          </p:cNvSpPr>
          <p:nvPr>
            <p:ph type="sldNum" sz="quarter" idx="12"/>
          </p:nvPr>
        </p:nvSpPr>
        <p:spPr>
          <a:xfrm>
            <a:off x="11676283" y="6599573"/>
            <a:ext cx="505557" cy="365125"/>
          </a:xfrm>
        </p:spPr>
        <p:txBody>
          <a:bodyPr/>
          <a:lstStyle>
            <a:lvl1pPr>
              <a:defRPr sz="1000">
                <a:solidFill>
                  <a:schemeClr val="bg1"/>
                </a:solidFill>
              </a:defRPr>
            </a:lvl1pPr>
          </a:lstStyle>
          <a:p>
            <a:fld id="{D379440A-2DED-3643-ADED-9B5C83E7D828}" type="slidenum">
              <a:rPr lang="en-VN"/>
              <a:pPr/>
              <a:t>‹#›</a:t>
            </a:fld>
            <a:endParaRPr lang="en-VN"/>
          </a:p>
        </p:txBody>
      </p:sp>
      <p:sp>
        <p:nvSpPr>
          <p:cNvPr id="12" name="TextBox 11">
            <a:extLst>
              <a:ext uri="{FF2B5EF4-FFF2-40B4-BE49-F238E27FC236}">
                <a16:creationId xmlns:a16="http://schemas.microsoft.com/office/drawing/2014/main" id="{5C851853-8430-FC7D-0C05-EA3095D410B2}"/>
              </a:ext>
            </a:extLst>
          </p:cNvPr>
          <p:cNvSpPr txBox="1"/>
          <p:nvPr userDrawn="1"/>
        </p:nvSpPr>
        <p:spPr>
          <a:xfrm>
            <a:off x="140379" y="6663076"/>
            <a:ext cx="1624919" cy="253916"/>
          </a:xfrm>
          <a:prstGeom prst="rect">
            <a:avLst/>
          </a:prstGeom>
          <a:noFill/>
        </p:spPr>
        <p:txBody>
          <a:bodyPr wrap="square" rtlCol="0">
            <a:spAutoFit/>
          </a:bodyPr>
          <a:lstStyle/>
          <a:p>
            <a:r>
              <a:rPr lang="en-US" sz="1000">
                <a:solidFill>
                  <a:srgbClr val="0070C0"/>
                </a:solidFill>
              </a:rPr>
              <a:t>https://huit.edu.vn</a:t>
            </a:r>
            <a:endParaRPr lang="en-VN" sz="1000">
              <a:solidFill>
                <a:srgbClr val="0070C0"/>
              </a:solidFill>
            </a:endParaRPr>
          </a:p>
        </p:txBody>
      </p:sp>
      <p:pic>
        <p:nvPicPr>
          <p:cNvPr id="6" name="Picture 5" descr="A black background with white text&#10;&#10;Description automatically generated">
            <a:extLst>
              <a:ext uri="{FF2B5EF4-FFF2-40B4-BE49-F238E27FC236}">
                <a16:creationId xmlns:a16="http://schemas.microsoft.com/office/drawing/2014/main" id="{A632828F-0B4F-8119-5B19-088A1173C903}"/>
              </a:ext>
            </a:extLst>
          </p:cNvPr>
          <p:cNvPicPr>
            <a:picLocks/>
          </p:cNvPicPr>
          <p:nvPr userDrawn="1"/>
        </p:nvPicPr>
        <p:blipFill>
          <a:blip r:embed="rId3" cstate="screen">
            <a:extLst>
              <a:ext uri="{28A0092B-C50C-407E-A947-70E740481C1C}">
                <a14:useLocalDpi xmlns:a14="http://schemas.microsoft.com/office/drawing/2010/main"/>
              </a:ext>
            </a:extLst>
          </a:blip>
          <a:stretch>
            <a:fillRect/>
          </a:stretch>
        </p:blipFill>
        <p:spPr>
          <a:xfrm>
            <a:off x="318618" y="2224"/>
            <a:ext cx="3290400" cy="685072"/>
          </a:xfrm>
          <a:prstGeom prst="rect">
            <a:avLst/>
          </a:prstGeom>
        </p:spPr>
      </p:pic>
    </p:spTree>
    <p:extLst>
      <p:ext uri="{BB962C8B-B14F-4D97-AF65-F5344CB8AC3E}">
        <p14:creationId xmlns:p14="http://schemas.microsoft.com/office/powerpoint/2010/main" val="19911895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Rectangle 7">
            <a:extLst>
              <a:ext uri="{FF2B5EF4-FFF2-40B4-BE49-F238E27FC236}">
                <a16:creationId xmlns:a16="http://schemas.microsoft.com/office/drawing/2014/main" id="{77EE82EC-C435-7D46-EFDD-D5C6A244EEA6}"/>
              </a:ext>
            </a:extLst>
          </p:cNvPr>
          <p:cNvSpPr/>
          <p:nvPr userDrawn="1"/>
        </p:nvSpPr>
        <p:spPr>
          <a:xfrm>
            <a:off x="0" y="-8444"/>
            <a:ext cx="12192000" cy="71336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sz="1800"/>
          </a:p>
        </p:txBody>
      </p:sp>
      <p:sp>
        <p:nvSpPr>
          <p:cNvPr id="2" name="Title 1"/>
          <p:cNvSpPr>
            <a:spLocks noGrp="1"/>
          </p:cNvSpPr>
          <p:nvPr>
            <p:ph type="title"/>
          </p:nvPr>
        </p:nvSpPr>
        <p:spPr>
          <a:xfrm>
            <a:off x="838200" y="977329"/>
            <a:ext cx="10515600" cy="713361"/>
          </a:xfrm>
        </p:spPr>
        <p:txBody>
          <a:bodyPr/>
          <a:lstStyle/>
          <a:p>
            <a:r>
              <a:rPr lang="en-US" dirty="0"/>
              <a:t>Click to edit Master title style</a:t>
            </a:r>
          </a:p>
        </p:txBody>
      </p:sp>
      <p:sp>
        <p:nvSpPr>
          <p:cNvPr id="10" name="Rectangle 11">
            <a:extLst>
              <a:ext uri="{FF2B5EF4-FFF2-40B4-BE49-F238E27FC236}">
                <a16:creationId xmlns:a16="http://schemas.microsoft.com/office/drawing/2014/main" id="{CE50E531-FF89-E7A1-EC42-5664726867C2}"/>
              </a:ext>
            </a:extLst>
          </p:cNvPr>
          <p:cNvSpPr/>
          <p:nvPr userDrawn="1"/>
        </p:nvSpPr>
        <p:spPr>
          <a:xfrm>
            <a:off x="1775458" y="6721474"/>
            <a:ext cx="10416543" cy="136562"/>
          </a:xfrm>
          <a:custGeom>
            <a:avLst/>
            <a:gdLst>
              <a:gd name="connsiteX0" fmla="*/ 0 w 8093413"/>
              <a:gd name="connsiteY0" fmla="*/ 0 h 133200"/>
              <a:gd name="connsiteX1" fmla="*/ 8093413 w 8093413"/>
              <a:gd name="connsiteY1" fmla="*/ 0 h 133200"/>
              <a:gd name="connsiteX2" fmla="*/ 8093413 w 8093413"/>
              <a:gd name="connsiteY2" fmla="*/ 133200 h 133200"/>
              <a:gd name="connsiteX3" fmla="*/ 0 w 8093413"/>
              <a:gd name="connsiteY3" fmla="*/ 133200 h 133200"/>
              <a:gd name="connsiteX4" fmla="*/ 0 w 8093413"/>
              <a:gd name="connsiteY4" fmla="*/ 0 h 133200"/>
              <a:gd name="connsiteX0" fmla="*/ 94130 w 8187543"/>
              <a:gd name="connsiteY0" fmla="*/ 0 h 136562"/>
              <a:gd name="connsiteX1" fmla="*/ 8187543 w 8187543"/>
              <a:gd name="connsiteY1" fmla="*/ 0 h 136562"/>
              <a:gd name="connsiteX2" fmla="*/ 8187543 w 8187543"/>
              <a:gd name="connsiteY2" fmla="*/ 133200 h 136562"/>
              <a:gd name="connsiteX3" fmla="*/ 0 w 8187543"/>
              <a:gd name="connsiteY3" fmla="*/ 136562 h 136562"/>
              <a:gd name="connsiteX4" fmla="*/ 94130 w 8187543"/>
              <a:gd name="connsiteY4" fmla="*/ 0 h 1365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87543" h="136562">
                <a:moveTo>
                  <a:pt x="94130" y="0"/>
                </a:moveTo>
                <a:lnTo>
                  <a:pt x="8187543" y="0"/>
                </a:lnTo>
                <a:lnTo>
                  <a:pt x="8187543" y="133200"/>
                </a:lnTo>
                <a:lnTo>
                  <a:pt x="0" y="136562"/>
                </a:lnTo>
                <a:lnTo>
                  <a:pt x="94130"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1800"/>
              <a:t> </a:t>
            </a:r>
          </a:p>
        </p:txBody>
      </p:sp>
      <p:pic>
        <p:nvPicPr>
          <p:cNvPr id="11" name="Picture 10">
            <a:extLst>
              <a:ext uri="{FF2B5EF4-FFF2-40B4-BE49-F238E27FC236}">
                <a16:creationId xmlns:a16="http://schemas.microsoft.com/office/drawing/2014/main" id="{9A4D41C0-EECC-510F-3124-F7EBC163F88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828826" y="6739175"/>
            <a:ext cx="10363148" cy="101806"/>
          </a:xfrm>
          <a:prstGeom prst="rect">
            <a:avLst/>
          </a:prstGeom>
        </p:spPr>
      </p:pic>
      <p:sp>
        <p:nvSpPr>
          <p:cNvPr id="12" name="Slide Number Placeholder 5">
            <a:extLst>
              <a:ext uri="{FF2B5EF4-FFF2-40B4-BE49-F238E27FC236}">
                <a16:creationId xmlns:a16="http://schemas.microsoft.com/office/drawing/2014/main" id="{41F0268C-2917-2762-4664-C6ACF3587D3B}"/>
              </a:ext>
            </a:extLst>
          </p:cNvPr>
          <p:cNvSpPr>
            <a:spLocks noGrp="1"/>
          </p:cNvSpPr>
          <p:nvPr>
            <p:ph type="sldNum" sz="quarter" idx="12"/>
          </p:nvPr>
        </p:nvSpPr>
        <p:spPr>
          <a:xfrm>
            <a:off x="11676283" y="6599573"/>
            <a:ext cx="505557" cy="365125"/>
          </a:xfrm>
        </p:spPr>
        <p:txBody>
          <a:bodyPr/>
          <a:lstStyle>
            <a:lvl1pPr>
              <a:defRPr sz="1000">
                <a:solidFill>
                  <a:schemeClr val="bg1"/>
                </a:solidFill>
              </a:defRPr>
            </a:lvl1pPr>
          </a:lstStyle>
          <a:p>
            <a:fld id="{D379440A-2DED-3643-ADED-9B5C83E7D828}" type="slidenum">
              <a:rPr lang="en-VN"/>
              <a:pPr/>
              <a:t>‹#›</a:t>
            </a:fld>
            <a:endParaRPr lang="en-VN"/>
          </a:p>
        </p:txBody>
      </p:sp>
      <p:sp>
        <p:nvSpPr>
          <p:cNvPr id="13" name="TextBox 12">
            <a:extLst>
              <a:ext uri="{FF2B5EF4-FFF2-40B4-BE49-F238E27FC236}">
                <a16:creationId xmlns:a16="http://schemas.microsoft.com/office/drawing/2014/main" id="{FC7AE9E0-DBEB-84FF-4DC2-C53AC3C7993F}"/>
              </a:ext>
            </a:extLst>
          </p:cNvPr>
          <p:cNvSpPr txBox="1"/>
          <p:nvPr userDrawn="1"/>
        </p:nvSpPr>
        <p:spPr>
          <a:xfrm>
            <a:off x="140379" y="6663076"/>
            <a:ext cx="1624919" cy="253916"/>
          </a:xfrm>
          <a:prstGeom prst="rect">
            <a:avLst/>
          </a:prstGeom>
          <a:noFill/>
        </p:spPr>
        <p:txBody>
          <a:bodyPr wrap="square" rtlCol="0">
            <a:spAutoFit/>
          </a:bodyPr>
          <a:lstStyle/>
          <a:p>
            <a:r>
              <a:rPr lang="en-US" sz="1000">
                <a:solidFill>
                  <a:srgbClr val="0070C0"/>
                </a:solidFill>
              </a:rPr>
              <a:t>https://huit.edu.vn</a:t>
            </a:r>
            <a:endParaRPr lang="en-VN" sz="1000">
              <a:solidFill>
                <a:srgbClr val="0070C0"/>
              </a:solidFill>
            </a:endParaRPr>
          </a:p>
        </p:txBody>
      </p:sp>
      <p:pic>
        <p:nvPicPr>
          <p:cNvPr id="5" name="Picture 4" descr="A black background with white text&#10;&#10;Description automatically generated">
            <a:extLst>
              <a:ext uri="{FF2B5EF4-FFF2-40B4-BE49-F238E27FC236}">
                <a16:creationId xmlns:a16="http://schemas.microsoft.com/office/drawing/2014/main" id="{F93BE15D-74FA-AED7-3D2B-A613D05E679B}"/>
              </a:ext>
            </a:extLst>
          </p:cNvPr>
          <p:cNvPicPr>
            <a:picLocks/>
          </p:cNvPicPr>
          <p:nvPr userDrawn="1"/>
        </p:nvPicPr>
        <p:blipFill>
          <a:blip r:embed="rId3" cstate="screen">
            <a:extLst>
              <a:ext uri="{28A0092B-C50C-407E-A947-70E740481C1C}">
                <a14:useLocalDpi xmlns:a14="http://schemas.microsoft.com/office/drawing/2010/main"/>
              </a:ext>
            </a:extLst>
          </a:blip>
          <a:stretch>
            <a:fillRect/>
          </a:stretch>
        </p:blipFill>
        <p:spPr>
          <a:xfrm>
            <a:off x="318618" y="2224"/>
            <a:ext cx="3290400" cy="685072"/>
          </a:xfrm>
          <a:prstGeom prst="rect">
            <a:avLst/>
          </a:prstGeom>
        </p:spPr>
      </p:pic>
    </p:spTree>
    <p:extLst>
      <p:ext uri="{BB962C8B-B14F-4D97-AF65-F5344CB8AC3E}">
        <p14:creationId xmlns:p14="http://schemas.microsoft.com/office/powerpoint/2010/main" val="20426840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Rectangle 9">
            <a:extLst>
              <a:ext uri="{FF2B5EF4-FFF2-40B4-BE49-F238E27FC236}">
                <a16:creationId xmlns:a16="http://schemas.microsoft.com/office/drawing/2014/main" id="{6BA13BF4-06A1-B98B-FD59-CA5020C120FA}"/>
              </a:ext>
            </a:extLst>
          </p:cNvPr>
          <p:cNvSpPr/>
          <p:nvPr userDrawn="1"/>
        </p:nvSpPr>
        <p:spPr>
          <a:xfrm>
            <a:off x="0" y="-8444"/>
            <a:ext cx="12192000" cy="71336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sz="1800"/>
          </a:p>
        </p:txBody>
      </p:sp>
      <p:sp>
        <p:nvSpPr>
          <p:cNvPr id="2" name="Title 1"/>
          <p:cNvSpPr>
            <a:spLocks noGrp="1"/>
          </p:cNvSpPr>
          <p:nvPr>
            <p:ph type="title"/>
          </p:nvPr>
        </p:nvSpPr>
        <p:spPr>
          <a:xfrm>
            <a:off x="839788" y="866777"/>
            <a:ext cx="10515600" cy="823912"/>
          </a:xfrm>
        </p:spPr>
        <p:txBody>
          <a:bodyPr/>
          <a:lstStyle/>
          <a:p>
            <a:r>
              <a:rPr lang="en-US" dirty="0"/>
              <a:t>Click to edit Master title style</a:t>
            </a:r>
          </a:p>
        </p:txBody>
      </p:sp>
      <p:sp>
        <p:nvSpPr>
          <p:cNvPr id="12" name="Rectangle 11">
            <a:extLst>
              <a:ext uri="{FF2B5EF4-FFF2-40B4-BE49-F238E27FC236}">
                <a16:creationId xmlns:a16="http://schemas.microsoft.com/office/drawing/2014/main" id="{228D1E83-C000-B443-17A1-67E172C1C81A}"/>
              </a:ext>
            </a:extLst>
          </p:cNvPr>
          <p:cNvSpPr/>
          <p:nvPr userDrawn="1"/>
        </p:nvSpPr>
        <p:spPr>
          <a:xfrm>
            <a:off x="1775458" y="6721474"/>
            <a:ext cx="10416543" cy="136562"/>
          </a:xfrm>
          <a:custGeom>
            <a:avLst/>
            <a:gdLst>
              <a:gd name="connsiteX0" fmla="*/ 0 w 8093413"/>
              <a:gd name="connsiteY0" fmla="*/ 0 h 133200"/>
              <a:gd name="connsiteX1" fmla="*/ 8093413 w 8093413"/>
              <a:gd name="connsiteY1" fmla="*/ 0 h 133200"/>
              <a:gd name="connsiteX2" fmla="*/ 8093413 w 8093413"/>
              <a:gd name="connsiteY2" fmla="*/ 133200 h 133200"/>
              <a:gd name="connsiteX3" fmla="*/ 0 w 8093413"/>
              <a:gd name="connsiteY3" fmla="*/ 133200 h 133200"/>
              <a:gd name="connsiteX4" fmla="*/ 0 w 8093413"/>
              <a:gd name="connsiteY4" fmla="*/ 0 h 133200"/>
              <a:gd name="connsiteX0" fmla="*/ 94130 w 8187543"/>
              <a:gd name="connsiteY0" fmla="*/ 0 h 136562"/>
              <a:gd name="connsiteX1" fmla="*/ 8187543 w 8187543"/>
              <a:gd name="connsiteY1" fmla="*/ 0 h 136562"/>
              <a:gd name="connsiteX2" fmla="*/ 8187543 w 8187543"/>
              <a:gd name="connsiteY2" fmla="*/ 133200 h 136562"/>
              <a:gd name="connsiteX3" fmla="*/ 0 w 8187543"/>
              <a:gd name="connsiteY3" fmla="*/ 136562 h 136562"/>
              <a:gd name="connsiteX4" fmla="*/ 94130 w 8187543"/>
              <a:gd name="connsiteY4" fmla="*/ 0 h 1365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87543" h="136562">
                <a:moveTo>
                  <a:pt x="94130" y="0"/>
                </a:moveTo>
                <a:lnTo>
                  <a:pt x="8187543" y="0"/>
                </a:lnTo>
                <a:lnTo>
                  <a:pt x="8187543" y="133200"/>
                </a:lnTo>
                <a:lnTo>
                  <a:pt x="0" y="136562"/>
                </a:lnTo>
                <a:lnTo>
                  <a:pt x="94130"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1800"/>
              <a:t> </a:t>
            </a:r>
          </a:p>
        </p:txBody>
      </p:sp>
      <p:pic>
        <p:nvPicPr>
          <p:cNvPr id="13" name="Picture 12">
            <a:extLst>
              <a:ext uri="{FF2B5EF4-FFF2-40B4-BE49-F238E27FC236}">
                <a16:creationId xmlns:a16="http://schemas.microsoft.com/office/drawing/2014/main" id="{E4F5B01C-A4C1-2548-9E99-49DA8F4F39AC}"/>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828826" y="6739175"/>
            <a:ext cx="10363148" cy="101806"/>
          </a:xfrm>
          <a:prstGeom prst="rect">
            <a:avLst/>
          </a:prstGeom>
        </p:spPr>
      </p:pic>
      <p:sp>
        <p:nvSpPr>
          <p:cNvPr id="14" name="Slide Number Placeholder 5">
            <a:extLst>
              <a:ext uri="{FF2B5EF4-FFF2-40B4-BE49-F238E27FC236}">
                <a16:creationId xmlns:a16="http://schemas.microsoft.com/office/drawing/2014/main" id="{9D622E35-ED11-3E1D-3267-FB7969EBB673}"/>
              </a:ext>
            </a:extLst>
          </p:cNvPr>
          <p:cNvSpPr>
            <a:spLocks noGrp="1"/>
          </p:cNvSpPr>
          <p:nvPr>
            <p:ph type="sldNum" sz="quarter" idx="12"/>
          </p:nvPr>
        </p:nvSpPr>
        <p:spPr>
          <a:xfrm>
            <a:off x="11676283" y="6599573"/>
            <a:ext cx="505557" cy="365125"/>
          </a:xfrm>
        </p:spPr>
        <p:txBody>
          <a:bodyPr/>
          <a:lstStyle>
            <a:lvl1pPr>
              <a:defRPr sz="1000">
                <a:solidFill>
                  <a:schemeClr val="bg1"/>
                </a:solidFill>
              </a:defRPr>
            </a:lvl1pPr>
          </a:lstStyle>
          <a:p>
            <a:fld id="{D379440A-2DED-3643-ADED-9B5C83E7D828}" type="slidenum">
              <a:rPr lang="en-VN"/>
              <a:pPr/>
              <a:t>‹#›</a:t>
            </a:fld>
            <a:endParaRPr lang="en-VN"/>
          </a:p>
        </p:txBody>
      </p:sp>
      <p:sp>
        <p:nvSpPr>
          <p:cNvPr id="15" name="TextBox 14">
            <a:extLst>
              <a:ext uri="{FF2B5EF4-FFF2-40B4-BE49-F238E27FC236}">
                <a16:creationId xmlns:a16="http://schemas.microsoft.com/office/drawing/2014/main" id="{E95FADBA-93BC-7FCB-D7C6-2138FE10BECE}"/>
              </a:ext>
            </a:extLst>
          </p:cNvPr>
          <p:cNvSpPr txBox="1"/>
          <p:nvPr userDrawn="1"/>
        </p:nvSpPr>
        <p:spPr>
          <a:xfrm>
            <a:off x="140379" y="6663076"/>
            <a:ext cx="1624919" cy="253916"/>
          </a:xfrm>
          <a:prstGeom prst="rect">
            <a:avLst/>
          </a:prstGeom>
          <a:noFill/>
        </p:spPr>
        <p:txBody>
          <a:bodyPr wrap="square" rtlCol="0">
            <a:spAutoFit/>
          </a:bodyPr>
          <a:lstStyle/>
          <a:p>
            <a:r>
              <a:rPr lang="en-US" sz="1000">
                <a:solidFill>
                  <a:srgbClr val="0070C0"/>
                </a:solidFill>
              </a:rPr>
              <a:t>https://huit.edu.vn</a:t>
            </a:r>
            <a:endParaRPr lang="en-VN" sz="1000">
              <a:solidFill>
                <a:srgbClr val="0070C0"/>
              </a:solidFill>
            </a:endParaRPr>
          </a:p>
        </p:txBody>
      </p:sp>
      <p:pic>
        <p:nvPicPr>
          <p:cNvPr id="7" name="Picture 6" descr="A black background with white text&#10;&#10;Description automatically generated">
            <a:extLst>
              <a:ext uri="{FF2B5EF4-FFF2-40B4-BE49-F238E27FC236}">
                <a16:creationId xmlns:a16="http://schemas.microsoft.com/office/drawing/2014/main" id="{2F168AC0-F6F3-71BB-BDB7-D14C957BCB1E}"/>
              </a:ext>
            </a:extLst>
          </p:cNvPr>
          <p:cNvPicPr>
            <a:picLocks/>
          </p:cNvPicPr>
          <p:nvPr userDrawn="1"/>
        </p:nvPicPr>
        <p:blipFill>
          <a:blip r:embed="rId3" cstate="screen">
            <a:extLst>
              <a:ext uri="{28A0092B-C50C-407E-A947-70E740481C1C}">
                <a14:useLocalDpi xmlns:a14="http://schemas.microsoft.com/office/drawing/2010/main"/>
              </a:ext>
            </a:extLst>
          </a:blip>
          <a:stretch>
            <a:fillRect/>
          </a:stretch>
        </p:blipFill>
        <p:spPr>
          <a:xfrm>
            <a:off x="318618" y="2224"/>
            <a:ext cx="3290400" cy="685072"/>
          </a:xfrm>
          <a:prstGeom prst="rect">
            <a:avLst/>
          </a:prstGeom>
        </p:spPr>
      </p:pic>
    </p:spTree>
    <p:extLst>
      <p:ext uri="{BB962C8B-B14F-4D97-AF65-F5344CB8AC3E}">
        <p14:creationId xmlns:p14="http://schemas.microsoft.com/office/powerpoint/2010/main" val="21317843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A521EA7-200B-F8EF-FA1A-AF68F6EAFB52}"/>
              </a:ext>
            </a:extLst>
          </p:cNvPr>
          <p:cNvSpPr/>
          <p:nvPr userDrawn="1"/>
        </p:nvSpPr>
        <p:spPr>
          <a:xfrm>
            <a:off x="0" y="-8444"/>
            <a:ext cx="12192000" cy="71336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sz="1800"/>
          </a:p>
        </p:txBody>
      </p:sp>
      <p:sp>
        <p:nvSpPr>
          <p:cNvPr id="2" name="Title 1"/>
          <p:cNvSpPr>
            <a:spLocks noGrp="1"/>
          </p:cNvSpPr>
          <p:nvPr>
            <p:ph type="title"/>
          </p:nvPr>
        </p:nvSpPr>
        <p:spPr>
          <a:xfrm>
            <a:off x="838200" y="874059"/>
            <a:ext cx="10515600" cy="816630"/>
          </a:xfrm>
        </p:spPr>
        <p:txBody>
          <a:bodyPr/>
          <a:lstStyle/>
          <a:p>
            <a:r>
              <a:rPr lang="en-US" dirty="0"/>
              <a:t>Click to edit Master title style</a:t>
            </a:r>
          </a:p>
        </p:txBody>
      </p:sp>
      <p:sp>
        <p:nvSpPr>
          <p:cNvPr id="8" name="Rectangle 11">
            <a:extLst>
              <a:ext uri="{FF2B5EF4-FFF2-40B4-BE49-F238E27FC236}">
                <a16:creationId xmlns:a16="http://schemas.microsoft.com/office/drawing/2014/main" id="{C62A9323-B343-0333-2A84-AB84726F1555}"/>
              </a:ext>
            </a:extLst>
          </p:cNvPr>
          <p:cNvSpPr/>
          <p:nvPr userDrawn="1"/>
        </p:nvSpPr>
        <p:spPr>
          <a:xfrm>
            <a:off x="1775458" y="6721474"/>
            <a:ext cx="10416543" cy="136562"/>
          </a:xfrm>
          <a:custGeom>
            <a:avLst/>
            <a:gdLst>
              <a:gd name="connsiteX0" fmla="*/ 0 w 8093413"/>
              <a:gd name="connsiteY0" fmla="*/ 0 h 133200"/>
              <a:gd name="connsiteX1" fmla="*/ 8093413 w 8093413"/>
              <a:gd name="connsiteY1" fmla="*/ 0 h 133200"/>
              <a:gd name="connsiteX2" fmla="*/ 8093413 w 8093413"/>
              <a:gd name="connsiteY2" fmla="*/ 133200 h 133200"/>
              <a:gd name="connsiteX3" fmla="*/ 0 w 8093413"/>
              <a:gd name="connsiteY3" fmla="*/ 133200 h 133200"/>
              <a:gd name="connsiteX4" fmla="*/ 0 w 8093413"/>
              <a:gd name="connsiteY4" fmla="*/ 0 h 133200"/>
              <a:gd name="connsiteX0" fmla="*/ 94130 w 8187543"/>
              <a:gd name="connsiteY0" fmla="*/ 0 h 136562"/>
              <a:gd name="connsiteX1" fmla="*/ 8187543 w 8187543"/>
              <a:gd name="connsiteY1" fmla="*/ 0 h 136562"/>
              <a:gd name="connsiteX2" fmla="*/ 8187543 w 8187543"/>
              <a:gd name="connsiteY2" fmla="*/ 133200 h 136562"/>
              <a:gd name="connsiteX3" fmla="*/ 0 w 8187543"/>
              <a:gd name="connsiteY3" fmla="*/ 136562 h 136562"/>
              <a:gd name="connsiteX4" fmla="*/ 94130 w 8187543"/>
              <a:gd name="connsiteY4" fmla="*/ 0 h 1365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87543" h="136562">
                <a:moveTo>
                  <a:pt x="94130" y="0"/>
                </a:moveTo>
                <a:lnTo>
                  <a:pt x="8187543" y="0"/>
                </a:lnTo>
                <a:lnTo>
                  <a:pt x="8187543" y="133200"/>
                </a:lnTo>
                <a:lnTo>
                  <a:pt x="0" y="136562"/>
                </a:lnTo>
                <a:lnTo>
                  <a:pt x="94130"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1800"/>
              <a:t> </a:t>
            </a:r>
          </a:p>
        </p:txBody>
      </p:sp>
      <p:pic>
        <p:nvPicPr>
          <p:cNvPr id="9" name="Picture 8">
            <a:extLst>
              <a:ext uri="{FF2B5EF4-FFF2-40B4-BE49-F238E27FC236}">
                <a16:creationId xmlns:a16="http://schemas.microsoft.com/office/drawing/2014/main" id="{2472A695-B9BF-2B5E-F712-588F45EA7AA8}"/>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828826" y="6739175"/>
            <a:ext cx="10363148" cy="101806"/>
          </a:xfrm>
          <a:prstGeom prst="rect">
            <a:avLst/>
          </a:prstGeom>
        </p:spPr>
      </p:pic>
      <p:sp>
        <p:nvSpPr>
          <p:cNvPr id="10" name="Slide Number Placeholder 5">
            <a:extLst>
              <a:ext uri="{FF2B5EF4-FFF2-40B4-BE49-F238E27FC236}">
                <a16:creationId xmlns:a16="http://schemas.microsoft.com/office/drawing/2014/main" id="{50B28936-A209-8496-713D-69F064437D73}"/>
              </a:ext>
            </a:extLst>
          </p:cNvPr>
          <p:cNvSpPr>
            <a:spLocks noGrp="1"/>
          </p:cNvSpPr>
          <p:nvPr>
            <p:ph type="sldNum" sz="quarter" idx="12"/>
          </p:nvPr>
        </p:nvSpPr>
        <p:spPr>
          <a:xfrm>
            <a:off x="11676283" y="6599573"/>
            <a:ext cx="505557" cy="365125"/>
          </a:xfrm>
        </p:spPr>
        <p:txBody>
          <a:bodyPr/>
          <a:lstStyle>
            <a:lvl1pPr>
              <a:defRPr sz="1000">
                <a:solidFill>
                  <a:schemeClr val="bg1"/>
                </a:solidFill>
              </a:defRPr>
            </a:lvl1pPr>
          </a:lstStyle>
          <a:p>
            <a:fld id="{D379440A-2DED-3643-ADED-9B5C83E7D828}" type="slidenum">
              <a:rPr lang="en-VN"/>
              <a:pPr/>
              <a:t>‹#›</a:t>
            </a:fld>
            <a:endParaRPr lang="en-VN"/>
          </a:p>
        </p:txBody>
      </p:sp>
      <p:sp>
        <p:nvSpPr>
          <p:cNvPr id="11" name="TextBox 10">
            <a:extLst>
              <a:ext uri="{FF2B5EF4-FFF2-40B4-BE49-F238E27FC236}">
                <a16:creationId xmlns:a16="http://schemas.microsoft.com/office/drawing/2014/main" id="{6E1FC07C-FFBA-6E41-FC9E-B8C545CCA2CA}"/>
              </a:ext>
            </a:extLst>
          </p:cNvPr>
          <p:cNvSpPr txBox="1"/>
          <p:nvPr userDrawn="1"/>
        </p:nvSpPr>
        <p:spPr>
          <a:xfrm>
            <a:off x="140379" y="6663076"/>
            <a:ext cx="1624919" cy="253916"/>
          </a:xfrm>
          <a:prstGeom prst="rect">
            <a:avLst/>
          </a:prstGeom>
          <a:noFill/>
        </p:spPr>
        <p:txBody>
          <a:bodyPr wrap="square" rtlCol="0">
            <a:spAutoFit/>
          </a:bodyPr>
          <a:lstStyle/>
          <a:p>
            <a:r>
              <a:rPr lang="en-US" sz="1000">
                <a:solidFill>
                  <a:srgbClr val="0070C0"/>
                </a:solidFill>
              </a:rPr>
              <a:t>https://huit.edu.vn</a:t>
            </a:r>
            <a:endParaRPr lang="en-VN" sz="1000">
              <a:solidFill>
                <a:srgbClr val="0070C0"/>
              </a:solidFill>
            </a:endParaRPr>
          </a:p>
        </p:txBody>
      </p:sp>
      <p:pic>
        <p:nvPicPr>
          <p:cNvPr id="3" name="Picture 2" descr="A black background with white text&#10;&#10;Description automatically generated">
            <a:extLst>
              <a:ext uri="{FF2B5EF4-FFF2-40B4-BE49-F238E27FC236}">
                <a16:creationId xmlns:a16="http://schemas.microsoft.com/office/drawing/2014/main" id="{943E1AB2-24F0-751B-86DE-9AC77889FA3E}"/>
              </a:ext>
            </a:extLst>
          </p:cNvPr>
          <p:cNvPicPr>
            <a:picLocks/>
          </p:cNvPicPr>
          <p:nvPr userDrawn="1"/>
        </p:nvPicPr>
        <p:blipFill>
          <a:blip r:embed="rId3" cstate="screen">
            <a:extLst>
              <a:ext uri="{28A0092B-C50C-407E-A947-70E740481C1C}">
                <a14:useLocalDpi xmlns:a14="http://schemas.microsoft.com/office/drawing/2010/main"/>
              </a:ext>
            </a:extLst>
          </a:blip>
          <a:stretch>
            <a:fillRect/>
          </a:stretch>
        </p:blipFill>
        <p:spPr>
          <a:xfrm>
            <a:off x="318618" y="2224"/>
            <a:ext cx="3290400" cy="685072"/>
          </a:xfrm>
          <a:prstGeom prst="rect">
            <a:avLst/>
          </a:prstGeom>
        </p:spPr>
      </p:pic>
    </p:spTree>
    <p:extLst>
      <p:ext uri="{BB962C8B-B14F-4D97-AF65-F5344CB8AC3E}">
        <p14:creationId xmlns:p14="http://schemas.microsoft.com/office/powerpoint/2010/main" val="8089624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1F72B6"/>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5A64684-422C-D171-0292-6610A91BE81D}"/>
              </a:ext>
            </a:extLst>
          </p:cNvPr>
          <p:cNvSpPr/>
          <p:nvPr userDrawn="1"/>
        </p:nvSpPr>
        <p:spPr>
          <a:xfrm>
            <a:off x="0" y="-8444"/>
            <a:ext cx="12192000" cy="71336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sz="1800"/>
          </a:p>
        </p:txBody>
      </p:sp>
      <p:pic>
        <p:nvPicPr>
          <p:cNvPr id="6" name="Picture 5">
            <a:extLst>
              <a:ext uri="{FF2B5EF4-FFF2-40B4-BE49-F238E27FC236}">
                <a16:creationId xmlns:a16="http://schemas.microsoft.com/office/drawing/2014/main" id="{4FD82848-CD15-3DBB-0148-67FB51371B08}"/>
              </a:ext>
            </a:extLst>
          </p:cNvPr>
          <p:cNvPicPr>
            <a:picLocks/>
          </p:cNvPicPr>
          <p:nvPr userDrawn="1"/>
        </p:nvPicPr>
        <p:blipFill>
          <a:blip r:embed="rId2" cstate="screen">
            <a:extLst>
              <a:ext uri="{28A0092B-C50C-407E-A947-70E740481C1C}">
                <a14:useLocalDpi xmlns:a14="http://schemas.microsoft.com/office/drawing/2010/main"/>
              </a:ext>
            </a:extLst>
          </a:blip>
          <a:srcRect/>
          <a:stretch/>
        </p:blipFill>
        <p:spPr>
          <a:xfrm>
            <a:off x="318618" y="2224"/>
            <a:ext cx="3290400" cy="685072"/>
          </a:xfrm>
          <a:prstGeom prst="rect">
            <a:avLst/>
          </a:prstGeom>
        </p:spPr>
      </p:pic>
      <p:sp>
        <p:nvSpPr>
          <p:cNvPr id="8" name="Rectangle 11">
            <a:extLst>
              <a:ext uri="{FF2B5EF4-FFF2-40B4-BE49-F238E27FC236}">
                <a16:creationId xmlns:a16="http://schemas.microsoft.com/office/drawing/2014/main" id="{181386B9-1456-137E-66EE-45A4447494C5}"/>
              </a:ext>
            </a:extLst>
          </p:cNvPr>
          <p:cNvSpPr/>
          <p:nvPr userDrawn="1"/>
        </p:nvSpPr>
        <p:spPr>
          <a:xfrm>
            <a:off x="1775458" y="6721474"/>
            <a:ext cx="10416543" cy="136562"/>
          </a:xfrm>
          <a:custGeom>
            <a:avLst/>
            <a:gdLst>
              <a:gd name="connsiteX0" fmla="*/ 0 w 8093413"/>
              <a:gd name="connsiteY0" fmla="*/ 0 h 133200"/>
              <a:gd name="connsiteX1" fmla="*/ 8093413 w 8093413"/>
              <a:gd name="connsiteY1" fmla="*/ 0 h 133200"/>
              <a:gd name="connsiteX2" fmla="*/ 8093413 w 8093413"/>
              <a:gd name="connsiteY2" fmla="*/ 133200 h 133200"/>
              <a:gd name="connsiteX3" fmla="*/ 0 w 8093413"/>
              <a:gd name="connsiteY3" fmla="*/ 133200 h 133200"/>
              <a:gd name="connsiteX4" fmla="*/ 0 w 8093413"/>
              <a:gd name="connsiteY4" fmla="*/ 0 h 133200"/>
              <a:gd name="connsiteX0" fmla="*/ 94130 w 8187543"/>
              <a:gd name="connsiteY0" fmla="*/ 0 h 136562"/>
              <a:gd name="connsiteX1" fmla="*/ 8187543 w 8187543"/>
              <a:gd name="connsiteY1" fmla="*/ 0 h 136562"/>
              <a:gd name="connsiteX2" fmla="*/ 8187543 w 8187543"/>
              <a:gd name="connsiteY2" fmla="*/ 133200 h 136562"/>
              <a:gd name="connsiteX3" fmla="*/ 0 w 8187543"/>
              <a:gd name="connsiteY3" fmla="*/ 136562 h 136562"/>
              <a:gd name="connsiteX4" fmla="*/ 94130 w 8187543"/>
              <a:gd name="connsiteY4" fmla="*/ 0 h 1365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87543" h="136562">
                <a:moveTo>
                  <a:pt x="94130" y="0"/>
                </a:moveTo>
                <a:lnTo>
                  <a:pt x="8187543" y="0"/>
                </a:lnTo>
                <a:lnTo>
                  <a:pt x="8187543" y="133200"/>
                </a:lnTo>
                <a:lnTo>
                  <a:pt x="0" y="136562"/>
                </a:lnTo>
                <a:lnTo>
                  <a:pt x="94130" y="0"/>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1800"/>
              <a:t> </a:t>
            </a:r>
          </a:p>
        </p:txBody>
      </p:sp>
      <p:pic>
        <p:nvPicPr>
          <p:cNvPr id="9" name="Picture 8">
            <a:extLst>
              <a:ext uri="{FF2B5EF4-FFF2-40B4-BE49-F238E27FC236}">
                <a16:creationId xmlns:a16="http://schemas.microsoft.com/office/drawing/2014/main" id="{09CB3CD2-68E1-7670-8AC8-DCAEFA04479C}"/>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828826" y="6739175"/>
            <a:ext cx="10363148" cy="101806"/>
          </a:xfrm>
          <a:prstGeom prst="rect">
            <a:avLst/>
          </a:prstGeom>
        </p:spPr>
      </p:pic>
      <p:sp>
        <p:nvSpPr>
          <p:cNvPr id="10" name="Slide Number Placeholder 5">
            <a:extLst>
              <a:ext uri="{FF2B5EF4-FFF2-40B4-BE49-F238E27FC236}">
                <a16:creationId xmlns:a16="http://schemas.microsoft.com/office/drawing/2014/main" id="{7855B251-549F-CC81-82C4-1791D4DC0F9C}"/>
              </a:ext>
            </a:extLst>
          </p:cNvPr>
          <p:cNvSpPr>
            <a:spLocks noGrp="1"/>
          </p:cNvSpPr>
          <p:nvPr>
            <p:ph type="sldNum" sz="quarter" idx="12"/>
          </p:nvPr>
        </p:nvSpPr>
        <p:spPr>
          <a:xfrm>
            <a:off x="11676283" y="6599573"/>
            <a:ext cx="505557" cy="365125"/>
          </a:xfrm>
        </p:spPr>
        <p:txBody>
          <a:bodyPr/>
          <a:lstStyle>
            <a:lvl1pPr>
              <a:defRPr sz="1000">
                <a:solidFill>
                  <a:schemeClr val="bg1"/>
                </a:solidFill>
              </a:defRPr>
            </a:lvl1pPr>
          </a:lstStyle>
          <a:p>
            <a:fld id="{D379440A-2DED-3643-ADED-9B5C83E7D828}" type="slidenum">
              <a:rPr lang="en-VN"/>
              <a:pPr/>
              <a:t>‹#›</a:t>
            </a:fld>
            <a:endParaRPr lang="en-VN"/>
          </a:p>
        </p:txBody>
      </p:sp>
      <p:sp>
        <p:nvSpPr>
          <p:cNvPr id="11" name="TextBox 10">
            <a:extLst>
              <a:ext uri="{FF2B5EF4-FFF2-40B4-BE49-F238E27FC236}">
                <a16:creationId xmlns:a16="http://schemas.microsoft.com/office/drawing/2014/main" id="{2C95FE02-F81D-DAA0-4384-0E62C5A8FC54}"/>
              </a:ext>
            </a:extLst>
          </p:cNvPr>
          <p:cNvSpPr txBox="1"/>
          <p:nvPr userDrawn="1"/>
        </p:nvSpPr>
        <p:spPr>
          <a:xfrm>
            <a:off x="140379" y="6663076"/>
            <a:ext cx="1624919" cy="253916"/>
          </a:xfrm>
          <a:prstGeom prst="rect">
            <a:avLst/>
          </a:prstGeom>
          <a:noFill/>
        </p:spPr>
        <p:txBody>
          <a:bodyPr wrap="square" rtlCol="0">
            <a:spAutoFit/>
          </a:bodyPr>
          <a:lstStyle/>
          <a:p>
            <a:r>
              <a:rPr lang="en-US" sz="1000">
                <a:solidFill>
                  <a:schemeClr val="bg1"/>
                </a:solidFill>
              </a:rPr>
              <a:t>https://huit.edu.vn</a:t>
            </a:r>
            <a:endParaRPr lang="en-VN" sz="1000">
              <a:solidFill>
                <a:schemeClr val="bg1"/>
              </a:solidFill>
            </a:endParaRPr>
          </a:p>
        </p:txBody>
      </p:sp>
    </p:spTree>
    <p:extLst>
      <p:ext uri="{BB962C8B-B14F-4D97-AF65-F5344CB8AC3E}">
        <p14:creationId xmlns:p14="http://schemas.microsoft.com/office/powerpoint/2010/main" val="6415120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5183188"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8" name="Rectangle 7">
            <a:extLst>
              <a:ext uri="{FF2B5EF4-FFF2-40B4-BE49-F238E27FC236}">
                <a16:creationId xmlns:a16="http://schemas.microsoft.com/office/drawing/2014/main" id="{57654E7B-7E2F-A597-CEAB-D64DA25FBCEB}"/>
              </a:ext>
            </a:extLst>
          </p:cNvPr>
          <p:cNvSpPr/>
          <p:nvPr userDrawn="1"/>
        </p:nvSpPr>
        <p:spPr>
          <a:xfrm>
            <a:off x="0" y="-8444"/>
            <a:ext cx="12192000" cy="71336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sz="1800"/>
          </a:p>
        </p:txBody>
      </p:sp>
      <p:sp>
        <p:nvSpPr>
          <p:cNvPr id="2" name="Title 1"/>
          <p:cNvSpPr>
            <a:spLocks noGrp="1"/>
          </p:cNvSpPr>
          <p:nvPr>
            <p:ph type="title"/>
          </p:nvPr>
        </p:nvSpPr>
        <p:spPr>
          <a:xfrm>
            <a:off x="839788" y="987426"/>
            <a:ext cx="3932237" cy="1069974"/>
          </a:xfrm>
        </p:spPr>
        <p:txBody>
          <a:bodyPr anchor="b"/>
          <a:lstStyle>
            <a:lvl1pPr>
              <a:defRPr sz="3200"/>
            </a:lvl1pPr>
          </a:lstStyle>
          <a:p>
            <a:r>
              <a:rPr lang="en-US" dirty="0"/>
              <a:t>Click to edit Master title style</a:t>
            </a:r>
          </a:p>
        </p:txBody>
      </p:sp>
      <p:sp>
        <p:nvSpPr>
          <p:cNvPr id="10" name="Rectangle 11">
            <a:extLst>
              <a:ext uri="{FF2B5EF4-FFF2-40B4-BE49-F238E27FC236}">
                <a16:creationId xmlns:a16="http://schemas.microsoft.com/office/drawing/2014/main" id="{EA9AB12A-F2B6-4320-39F1-67F3778EE5DF}"/>
              </a:ext>
            </a:extLst>
          </p:cNvPr>
          <p:cNvSpPr/>
          <p:nvPr userDrawn="1"/>
        </p:nvSpPr>
        <p:spPr>
          <a:xfrm>
            <a:off x="1775458" y="6721474"/>
            <a:ext cx="10416543" cy="136562"/>
          </a:xfrm>
          <a:custGeom>
            <a:avLst/>
            <a:gdLst>
              <a:gd name="connsiteX0" fmla="*/ 0 w 8093413"/>
              <a:gd name="connsiteY0" fmla="*/ 0 h 133200"/>
              <a:gd name="connsiteX1" fmla="*/ 8093413 w 8093413"/>
              <a:gd name="connsiteY1" fmla="*/ 0 h 133200"/>
              <a:gd name="connsiteX2" fmla="*/ 8093413 w 8093413"/>
              <a:gd name="connsiteY2" fmla="*/ 133200 h 133200"/>
              <a:gd name="connsiteX3" fmla="*/ 0 w 8093413"/>
              <a:gd name="connsiteY3" fmla="*/ 133200 h 133200"/>
              <a:gd name="connsiteX4" fmla="*/ 0 w 8093413"/>
              <a:gd name="connsiteY4" fmla="*/ 0 h 133200"/>
              <a:gd name="connsiteX0" fmla="*/ 94130 w 8187543"/>
              <a:gd name="connsiteY0" fmla="*/ 0 h 136562"/>
              <a:gd name="connsiteX1" fmla="*/ 8187543 w 8187543"/>
              <a:gd name="connsiteY1" fmla="*/ 0 h 136562"/>
              <a:gd name="connsiteX2" fmla="*/ 8187543 w 8187543"/>
              <a:gd name="connsiteY2" fmla="*/ 133200 h 136562"/>
              <a:gd name="connsiteX3" fmla="*/ 0 w 8187543"/>
              <a:gd name="connsiteY3" fmla="*/ 136562 h 136562"/>
              <a:gd name="connsiteX4" fmla="*/ 94130 w 8187543"/>
              <a:gd name="connsiteY4" fmla="*/ 0 h 1365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87543" h="136562">
                <a:moveTo>
                  <a:pt x="94130" y="0"/>
                </a:moveTo>
                <a:lnTo>
                  <a:pt x="8187543" y="0"/>
                </a:lnTo>
                <a:lnTo>
                  <a:pt x="8187543" y="133200"/>
                </a:lnTo>
                <a:lnTo>
                  <a:pt x="0" y="136562"/>
                </a:lnTo>
                <a:lnTo>
                  <a:pt x="94130"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1800"/>
              <a:t> </a:t>
            </a:r>
          </a:p>
        </p:txBody>
      </p:sp>
      <p:pic>
        <p:nvPicPr>
          <p:cNvPr id="11" name="Picture 10">
            <a:extLst>
              <a:ext uri="{FF2B5EF4-FFF2-40B4-BE49-F238E27FC236}">
                <a16:creationId xmlns:a16="http://schemas.microsoft.com/office/drawing/2014/main" id="{B773966A-35C2-70BC-CFF9-46C3441D8C5C}"/>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828826" y="6739175"/>
            <a:ext cx="10363148" cy="101806"/>
          </a:xfrm>
          <a:prstGeom prst="rect">
            <a:avLst/>
          </a:prstGeom>
        </p:spPr>
      </p:pic>
      <p:sp>
        <p:nvSpPr>
          <p:cNvPr id="12" name="Slide Number Placeholder 5">
            <a:extLst>
              <a:ext uri="{FF2B5EF4-FFF2-40B4-BE49-F238E27FC236}">
                <a16:creationId xmlns:a16="http://schemas.microsoft.com/office/drawing/2014/main" id="{C8C1A7AF-70A0-C0E9-B2F5-1490BE6C7ADB}"/>
              </a:ext>
            </a:extLst>
          </p:cNvPr>
          <p:cNvSpPr>
            <a:spLocks noGrp="1"/>
          </p:cNvSpPr>
          <p:nvPr>
            <p:ph type="sldNum" sz="quarter" idx="12"/>
          </p:nvPr>
        </p:nvSpPr>
        <p:spPr>
          <a:xfrm>
            <a:off x="11676283" y="6599573"/>
            <a:ext cx="505557" cy="365125"/>
          </a:xfrm>
        </p:spPr>
        <p:txBody>
          <a:bodyPr/>
          <a:lstStyle>
            <a:lvl1pPr>
              <a:defRPr sz="1000">
                <a:solidFill>
                  <a:schemeClr val="bg1"/>
                </a:solidFill>
              </a:defRPr>
            </a:lvl1pPr>
          </a:lstStyle>
          <a:p>
            <a:fld id="{D379440A-2DED-3643-ADED-9B5C83E7D828}" type="slidenum">
              <a:rPr lang="en-VN"/>
              <a:pPr/>
              <a:t>‹#›</a:t>
            </a:fld>
            <a:endParaRPr lang="en-VN"/>
          </a:p>
        </p:txBody>
      </p:sp>
      <p:sp>
        <p:nvSpPr>
          <p:cNvPr id="13" name="TextBox 12">
            <a:extLst>
              <a:ext uri="{FF2B5EF4-FFF2-40B4-BE49-F238E27FC236}">
                <a16:creationId xmlns:a16="http://schemas.microsoft.com/office/drawing/2014/main" id="{CC216FF7-3AE9-85FA-D18A-9862C6DB59AE}"/>
              </a:ext>
            </a:extLst>
          </p:cNvPr>
          <p:cNvSpPr txBox="1"/>
          <p:nvPr userDrawn="1"/>
        </p:nvSpPr>
        <p:spPr>
          <a:xfrm>
            <a:off x="140379" y="6663076"/>
            <a:ext cx="1624919" cy="253916"/>
          </a:xfrm>
          <a:prstGeom prst="rect">
            <a:avLst/>
          </a:prstGeom>
          <a:noFill/>
        </p:spPr>
        <p:txBody>
          <a:bodyPr wrap="square" rtlCol="0">
            <a:spAutoFit/>
          </a:bodyPr>
          <a:lstStyle/>
          <a:p>
            <a:r>
              <a:rPr lang="en-US" sz="1000">
                <a:solidFill>
                  <a:srgbClr val="0070C0"/>
                </a:solidFill>
              </a:rPr>
              <a:t>https://huit.edu.vn</a:t>
            </a:r>
            <a:endParaRPr lang="en-VN" sz="1000">
              <a:solidFill>
                <a:srgbClr val="0070C0"/>
              </a:solidFill>
            </a:endParaRPr>
          </a:p>
        </p:txBody>
      </p:sp>
      <p:pic>
        <p:nvPicPr>
          <p:cNvPr id="5" name="Picture 4" descr="A black background with white text&#10;&#10;Description automatically generated">
            <a:extLst>
              <a:ext uri="{FF2B5EF4-FFF2-40B4-BE49-F238E27FC236}">
                <a16:creationId xmlns:a16="http://schemas.microsoft.com/office/drawing/2014/main" id="{7C0ADFA0-11B6-96C9-35AE-E6733196ACDA}"/>
              </a:ext>
            </a:extLst>
          </p:cNvPr>
          <p:cNvPicPr>
            <a:picLocks/>
          </p:cNvPicPr>
          <p:nvPr userDrawn="1"/>
        </p:nvPicPr>
        <p:blipFill>
          <a:blip r:embed="rId3" cstate="screen">
            <a:extLst>
              <a:ext uri="{28A0092B-C50C-407E-A947-70E740481C1C}">
                <a14:useLocalDpi xmlns:a14="http://schemas.microsoft.com/office/drawing/2010/main"/>
              </a:ext>
            </a:extLst>
          </a:blip>
          <a:stretch>
            <a:fillRect/>
          </a:stretch>
        </p:blipFill>
        <p:spPr>
          <a:xfrm>
            <a:off x="318618" y="2224"/>
            <a:ext cx="3290400" cy="685072"/>
          </a:xfrm>
          <a:prstGeom prst="rect">
            <a:avLst/>
          </a:prstGeom>
        </p:spPr>
      </p:pic>
    </p:spTree>
    <p:extLst>
      <p:ext uri="{BB962C8B-B14F-4D97-AF65-F5344CB8AC3E}">
        <p14:creationId xmlns:p14="http://schemas.microsoft.com/office/powerpoint/2010/main" val="30716046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5183188" y="987426"/>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8" name="Rectangle 7">
            <a:extLst>
              <a:ext uri="{FF2B5EF4-FFF2-40B4-BE49-F238E27FC236}">
                <a16:creationId xmlns:a16="http://schemas.microsoft.com/office/drawing/2014/main" id="{4B2A7AA7-CA5F-D2FA-2E5E-C3E10A53D359}"/>
              </a:ext>
            </a:extLst>
          </p:cNvPr>
          <p:cNvSpPr/>
          <p:nvPr userDrawn="1"/>
        </p:nvSpPr>
        <p:spPr>
          <a:xfrm>
            <a:off x="0" y="-8444"/>
            <a:ext cx="12192000" cy="71336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sz="1800"/>
          </a:p>
        </p:txBody>
      </p:sp>
      <p:sp>
        <p:nvSpPr>
          <p:cNvPr id="2" name="Title 1"/>
          <p:cNvSpPr>
            <a:spLocks noGrp="1"/>
          </p:cNvSpPr>
          <p:nvPr>
            <p:ph type="title"/>
          </p:nvPr>
        </p:nvSpPr>
        <p:spPr>
          <a:xfrm>
            <a:off x="839788" y="987426"/>
            <a:ext cx="3932237" cy="1069974"/>
          </a:xfrm>
        </p:spPr>
        <p:txBody>
          <a:bodyPr anchor="b"/>
          <a:lstStyle>
            <a:lvl1pPr>
              <a:defRPr sz="3200"/>
            </a:lvl1pPr>
          </a:lstStyle>
          <a:p>
            <a:r>
              <a:rPr lang="en-US" dirty="0"/>
              <a:t>Click to edit Master title style</a:t>
            </a:r>
          </a:p>
        </p:txBody>
      </p:sp>
      <p:sp>
        <p:nvSpPr>
          <p:cNvPr id="10" name="Rectangle 11">
            <a:extLst>
              <a:ext uri="{FF2B5EF4-FFF2-40B4-BE49-F238E27FC236}">
                <a16:creationId xmlns:a16="http://schemas.microsoft.com/office/drawing/2014/main" id="{1EDE2594-98FA-EBCE-C733-A51E9F54ED18}"/>
              </a:ext>
            </a:extLst>
          </p:cNvPr>
          <p:cNvSpPr/>
          <p:nvPr userDrawn="1"/>
        </p:nvSpPr>
        <p:spPr>
          <a:xfrm>
            <a:off x="1775458" y="6721474"/>
            <a:ext cx="10416543" cy="136562"/>
          </a:xfrm>
          <a:custGeom>
            <a:avLst/>
            <a:gdLst>
              <a:gd name="connsiteX0" fmla="*/ 0 w 8093413"/>
              <a:gd name="connsiteY0" fmla="*/ 0 h 133200"/>
              <a:gd name="connsiteX1" fmla="*/ 8093413 w 8093413"/>
              <a:gd name="connsiteY1" fmla="*/ 0 h 133200"/>
              <a:gd name="connsiteX2" fmla="*/ 8093413 w 8093413"/>
              <a:gd name="connsiteY2" fmla="*/ 133200 h 133200"/>
              <a:gd name="connsiteX3" fmla="*/ 0 w 8093413"/>
              <a:gd name="connsiteY3" fmla="*/ 133200 h 133200"/>
              <a:gd name="connsiteX4" fmla="*/ 0 w 8093413"/>
              <a:gd name="connsiteY4" fmla="*/ 0 h 133200"/>
              <a:gd name="connsiteX0" fmla="*/ 94130 w 8187543"/>
              <a:gd name="connsiteY0" fmla="*/ 0 h 136562"/>
              <a:gd name="connsiteX1" fmla="*/ 8187543 w 8187543"/>
              <a:gd name="connsiteY1" fmla="*/ 0 h 136562"/>
              <a:gd name="connsiteX2" fmla="*/ 8187543 w 8187543"/>
              <a:gd name="connsiteY2" fmla="*/ 133200 h 136562"/>
              <a:gd name="connsiteX3" fmla="*/ 0 w 8187543"/>
              <a:gd name="connsiteY3" fmla="*/ 136562 h 136562"/>
              <a:gd name="connsiteX4" fmla="*/ 94130 w 8187543"/>
              <a:gd name="connsiteY4" fmla="*/ 0 h 1365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87543" h="136562">
                <a:moveTo>
                  <a:pt x="94130" y="0"/>
                </a:moveTo>
                <a:lnTo>
                  <a:pt x="8187543" y="0"/>
                </a:lnTo>
                <a:lnTo>
                  <a:pt x="8187543" y="133200"/>
                </a:lnTo>
                <a:lnTo>
                  <a:pt x="0" y="136562"/>
                </a:lnTo>
                <a:lnTo>
                  <a:pt x="94130"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1800"/>
              <a:t> </a:t>
            </a:r>
          </a:p>
        </p:txBody>
      </p:sp>
      <p:pic>
        <p:nvPicPr>
          <p:cNvPr id="11" name="Picture 10">
            <a:extLst>
              <a:ext uri="{FF2B5EF4-FFF2-40B4-BE49-F238E27FC236}">
                <a16:creationId xmlns:a16="http://schemas.microsoft.com/office/drawing/2014/main" id="{AF735AE5-30EC-7992-E657-2104C4F3BF3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828826" y="6739175"/>
            <a:ext cx="10363148" cy="101806"/>
          </a:xfrm>
          <a:prstGeom prst="rect">
            <a:avLst/>
          </a:prstGeom>
        </p:spPr>
      </p:pic>
      <p:sp>
        <p:nvSpPr>
          <p:cNvPr id="12" name="Slide Number Placeholder 5">
            <a:extLst>
              <a:ext uri="{FF2B5EF4-FFF2-40B4-BE49-F238E27FC236}">
                <a16:creationId xmlns:a16="http://schemas.microsoft.com/office/drawing/2014/main" id="{ACB5785D-C6E0-0BB4-B792-5DF6906E162F}"/>
              </a:ext>
            </a:extLst>
          </p:cNvPr>
          <p:cNvSpPr>
            <a:spLocks noGrp="1"/>
          </p:cNvSpPr>
          <p:nvPr>
            <p:ph type="sldNum" sz="quarter" idx="12"/>
          </p:nvPr>
        </p:nvSpPr>
        <p:spPr>
          <a:xfrm>
            <a:off x="11676283" y="6599573"/>
            <a:ext cx="505557" cy="365125"/>
          </a:xfrm>
        </p:spPr>
        <p:txBody>
          <a:bodyPr/>
          <a:lstStyle>
            <a:lvl1pPr>
              <a:defRPr sz="1000">
                <a:solidFill>
                  <a:schemeClr val="bg1"/>
                </a:solidFill>
              </a:defRPr>
            </a:lvl1pPr>
          </a:lstStyle>
          <a:p>
            <a:fld id="{D379440A-2DED-3643-ADED-9B5C83E7D828}" type="slidenum">
              <a:rPr lang="en-VN"/>
              <a:pPr/>
              <a:t>‹#›</a:t>
            </a:fld>
            <a:endParaRPr lang="en-VN"/>
          </a:p>
        </p:txBody>
      </p:sp>
      <p:sp>
        <p:nvSpPr>
          <p:cNvPr id="13" name="TextBox 12">
            <a:extLst>
              <a:ext uri="{FF2B5EF4-FFF2-40B4-BE49-F238E27FC236}">
                <a16:creationId xmlns:a16="http://schemas.microsoft.com/office/drawing/2014/main" id="{DDC76ABB-19BA-0D81-2004-CA8C1BFA3211}"/>
              </a:ext>
            </a:extLst>
          </p:cNvPr>
          <p:cNvSpPr txBox="1"/>
          <p:nvPr userDrawn="1"/>
        </p:nvSpPr>
        <p:spPr>
          <a:xfrm>
            <a:off x="140379" y="6663076"/>
            <a:ext cx="1624919" cy="253916"/>
          </a:xfrm>
          <a:prstGeom prst="rect">
            <a:avLst/>
          </a:prstGeom>
          <a:noFill/>
        </p:spPr>
        <p:txBody>
          <a:bodyPr wrap="square" rtlCol="0">
            <a:spAutoFit/>
          </a:bodyPr>
          <a:lstStyle/>
          <a:p>
            <a:r>
              <a:rPr lang="en-US" sz="1000">
                <a:solidFill>
                  <a:srgbClr val="0070C0"/>
                </a:solidFill>
              </a:rPr>
              <a:t>https://huit.edu.vn</a:t>
            </a:r>
            <a:endParaRPr lang="en-VN" sz="1000">
              <a:solidFill>
                <a:srgbClr val="0070C0"/>
              </a:solidFill>
            </a:endParaRPr>
          </a:p>
        </p:txBody>
      </p:sp>
      <p:pic>
        <p:nvPicPr>
          <p:cNvPr id="5" name="Picture 4" descr="A black background with white text&#10;&#10;Description automatically generated">
            <a:extLst>
              <a:ext uri="{FF2B5EF4-FFF2-40B4-BE49-F238E27FC236}">
                <a16:creationId xmlns:a16="http://schemas.microsoft.com/office/drawing/2014/main" id="{93DEC689-0562-F90A-00BD-D3E65D677F10}"/>
              </a:ext>
            </a:extLst>
          </p:cNvPr>
          <p:cNvPicPr>
            <a:picLocks/>
          </p:cNvPicPr>
          <p:nvPr userDrawn="1"/>
        </p:nvPicPr>
        <p:blipFill>
          <a:blip r:embed="rId3" cstate="screen">
            <a:extLst>
              <a:ext uri="{28A0092B-C50C-407E-A947-70E740481C1C}">
                <a14:useLocalDpi xmlns:a14="http://schemas.microsoft.com/office/drawing/2010/main"/>
              </a:ext>
            </a:extLst>
          </a:blip>
          <a:stretch>
            <a:fillRect/>
          </a:stretch>
        </p:blipFill>
        <p:spPr>
          <a:xfrm>
            <a:off x="318618" y="2224"/>
            <a:ext cx="3290400" cy="685072"/>
          </a:xfrm>
          <a:prstGeom prst="rect">
            <a:avLst/>
          </a:prstGeom>
        </p:spPr>
      </p:pic>
    </p:spTree>
    <p:extLst>
      <p:ext uri="{BB962C8B-B14F-4D97-AF65-F5344CB8AC3E}">
        <p14:creationId xmlns:p14="http://schemas.microsoft.com/office/powerpoint/2010/main" val="21413889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Rectangle 6">
            <a:extLst>
              <a:ext uri="{FF2B5EF4-FFF2-40B4-BE49-F238E27FC236}">
                <a16:creationId xmlns:a16="http://schemas.microsoft.com/office/drawing/2014/main" id="{B4B8236F-F572-6350-D20A-0FCE1F380099}"/>
              </a:ext>
            </a:extLst>
          </p:cNvPr>
          <p:cNvSpPr/>
          <p:nvPr userDrawn="1"/>
        </p:nvSpPr>
        <p:spPr>
          <a:xfrm>
            <a:off x="0" y="-8444"/>
            <a:ext cx="12192000" cy="71336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sz="1800"/>
          </a:p>
        </p:txBody>
      </p:sp>
      <p:sp>
        <p:nvSpPr>
          <p:cNvPr id="2" name="Title 1"/>
          <p:cNvSpPr>
            <a:spLocks noGrp="1"/>
          </p:cNvSpPr>
          <p:nvPr>
            <p:ph type="title"/>
          </p:nvPr>
        </p:nvSpPr>
        <p:spPr>
          <a:xfrm>
            <a:off x="838200" y="884304"/>
            <a:ext cx="10515600" cy="806385"/>
          </a:xfrm>
        </p:spPr>
        <p:txBody>
          <a:bodyPr/>
          <a:lstStyle/>
          <a:p>
            <a:r>
              <a:rPr lang="en-US" dirty="0"/>
              <a:t>Click to edit Master title style</a:t>
            </a:r>
          </a:p>
        </p:txBody>
      </p:sp>
      <p:sp>
        <p:nvSpPr>
          <p:cNvPr id="9" name="Rectangle 11">
            <a:extLst>
              <a:ext uri="{FF2B5EF4-FFF2-40B4-BE49-F238E27FC236}">
                <a16:creationId xmlns:a16="http://schemas.microsoft.com/office/drawing/2014/main" id="{9C659F1E-1F51-522D-AC8E-BE6E140A9E7D}"/>
              </a:ext>
            </a:extLst>
          </p:cNvPr>
          <p:cNvSpPr/>
          <p:nvPr userDrawn="1"/>
        </p:nvSpPr>
        <p:spPr>
          <a:xfrm>
            <a:off x="1775458" y="6721474"/>
            <a:ext cx="10416543" cy="136562"/>
          </a:xfrm>
          <a:custGeom>
            <a:avLst/>
            <a:gdLst>
              <a:gd name="connsiteX0" fmla="*/ 0 w 8093413"/>
              <a:gd name="connsiteY0" fmla="*/ 0 h 133200"/>
              <a:gd name="connsiteX1" fmla="*/ 8093413 w 8093413"/>
              <a:gd name="connsiteY1" fmla="*/ 0 h 133200"/>
              <a:gd name="connsiteX2" fmla="*/ 8093413 w 8093413"/>
              <a:gd name="connsiteY2" fmla="*/ 133200 h 133200"/>
              <a:gd name="connsiteX3" fmla="*/ 0 w 8093413"/>
              <a:gd name="connsiteY3" fmla="*/ 133200 h 133200"/>
              <a:gd name="connsiteX4" fmla="*/ 0 w 8093413"/>
              <a:gd name="connsiteY4" fmla="*/ 0 h 133200"/>
              <a:gd name="connsiteX0" fmla="*/ 94130 w 8187543"/>
              <a:gd name="connsiteY0" fmla="*/ 0 h 136562"/>
              <a:gd name="connsiteX1" fmla="*/ 8187543 w 8187543"/>
              <a:gd name="connsiteY1" fmla="*/ 0 h 136562"/>
              <a:gd name="connsiteX2" fmla="*/ 8187543 w 8187543"/>
              <a:gd name="connsiteY2" fmla="*/ 133200 h 136562"/>
              <a:gd name="connsiteX3" fmla="*/ 0 w 8187543"/>
              <a:gd name="connsiteY3" fmla="*/ 136562 h 136562"/>
              <a:gd name="connsiteX4" fmla="*/ 94130 w 8187543"/>
              <a:gd name="connsiteY4" fmla="*/ 0 h 1365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87543" h="136562">
                <a:moveTo>
                  <a:pt x="94130" y="0"/>
                </a:moveTo>
                <a:lnTo>
                  <a:pt x="8187543" y="0"/>
                </a:lnTo>
                <a:lnTo>
                  <a:pt x="8187543" y="133200"/>
                </a:lnTo>
                <a:lnTo>
                  <a:pt x="0" y="136562"/>
                </a:lnTo>
                <a:lnTo>
                  <a:pt x="94130"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1800"/>
              <a:t> </a:t>
            </a:r>
          </a:p>
        </p:txBody>
      </p:sp>
      <p:pic>
        <p:nvPicPr>
          <p:cNvPr id="10" name="Picture 9">
            <a:extLst>
              <a:ext uri="{FF2B5EF4-FFF2-40B4-BE49-F238E27FC236}">
                <a16:creationId xmlns:a16="http://schemas.microsoft.com/office/drawing/2014/main" id="{9D1B0D34-343B-C838-5720-7351BA57CF38}"/>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828826" y="6739175"/>
            <a:ext cx="10363148" cy="101806"/>
          </a:xfrm>
          <a:prstGeom prst="rect">
            <a:avLst/>
          </a:prstGeom>
        </p:spPr>
      </p:pic>
      <p:sp>
        <p:nvSpPr>
          <p:cNvPr id="11" name="Slide Number Placeholder 5">
            <a:extLst>
              <a:ext uri="{FF2B5EF4-FFF2-40B4-BE49-F238E27FC236}">
                <a16:creationId xmlns:a16="http://schemas.microsoft.com/office/drawing/2014/main" id="{2B8E042D-2BAA-2A3F-EC27-380C92DBE4B0}"/>
              </a:ext>
            </a:extLst>
          </p:cNvPr>
          <p:cNvSpPr>
            <a:spLocks noGrp="1"/>
          </p:cNvSpPr>
          <p:nvPr>
            <p:ph type="sldNum" sz="quarter" idx="12"/>
          </p:nvPr>
        </p:nvSpPr>
        <p:spPr>
          <a:xfrm>
            <a:off x="11676283" y="6599573"/>
            <a:ext cx="505557" cy="365125"/>
          </a:xfrm>
        </p:spPr>
        <p:txBody>
          <a:bodyPr/>
          <a:lstStyle>
            <a:lvl1pPr>
              <a:defRPr sz="1000">
                <a:solidFill>
                  <a:schemeClr val="bg1"/>
                </a:solidFill>
              </a:defRPr>
            </a:lvl1pPr>
          </a:lstStyle>
          <a:p>
            <a:fld id="{D379440A-2DED-3643-ADED-9B5C83E7D828}" type="slidenum">
              <a:rPr lang="en-VN"/>
              <a:pPr/>
              <a:t>‹#›</a:t>
            </a:fld>
            <a:endParaRPr lang="en-VN"/>
          </a:p>
        </p:txBody>
      </p:sp>
      <p:sp>
        <p:nvSpPr>
          <p:cNvPr id="12" name="TextBox 11">
            <a:extLst>
              <a:ext uri="{FF2B5EF4-FFF2-40B4-BE49-F238E27FC236}">
                <a16:creationId xmlns:a16="http://schemas.microsoft.com/office/drawing/2014/main" id="{00CD5B80-37F9-BE16-90B3-B1958D8A8755}"/>
              </a:ext>
            </a:extLst>
          </p:cNvPr>
          <p:cNvSpPr txBox="1"/>
          <p:nvPr userDrawn="1"/>
        </p:nvSpPr>
        <p:spPr>
          <a:xfrm>
            <a:off x="140379" y="6663076"/>
            <a:ext cx="1624919" cy="253916"/>
          </a:xfrm>
          <a:prstGeom prst="rect">
            <a:avLst/>
          </a:prstGeom>
          <a:noFill/>
        </p:spPr>
        <p:txBody>
          <a:bodyPr wrap="square" rtlCol="0">
            <a:spAutoFit/>
          </a:bodyPr>
          <a:lstStyle/>
          <a:p>
            <a:r>
              <a:rPr lang="en-US" sz="1000">
                <a:solidFill>
                  <a:srgbClr val="0070C0"/>
                </a:solidFill>
              </a:rPr>
              <a:t>https://huit.edu.vn</a:t>
            </a:r>
            <a:endParaRPr lang="en-VN" sz="1000">
              <a:solidFill>
                <a:srgbClr val="0070C0"/>
              </a:solidFill>
            </a:endParaRPr>
          </a:p>
        </p:txBody>
      </p:sp>
      <p:pic>
        <p:nvPicPr>
          <p:cNvPr id="4" name="Picture 3" descr="A black background with white text&#10;&#10;Description automatically generated">
            <a:extLst>
              <a:ext uri="{FF2B5EF4-FFF2-40B4-BE49-F238E27FC236}">
                <a16:creationId xmlns:a16="http://schemas.microsoft.com/office/drawing/2014/main" id="{E62415AA-63D3-FB51-385B-BC2BCB0599A3}"/>
              </a:ext>
            </a:extLst>
          </p:cNvPr>
          <p:cNvPicPr>
            <a:picLocks/>
          </p:cNvPicPr>
          <p:nvPr userDrawn="1"/>
        </p:nvPicPr>
        <p:blipFill>
          <a:blip r:embed="rId3" cstate="screen">
            <a:extLst>
              <a:ext uri="{28A0092B-C50C-407E-A947-70E740481C1C}">
                <a14:useLocalDpi xmlns:a14="http://schemas.microsoft.com/office/drawing/2010/main"/>
              </a:ext>
            </a:extLst>
          </a:blip>
          <a:stretch>
            <a:fillRect/>
          </a:stretch>
        </p:blipFill>
        <p:spPr>
          <a:xfrm>
            <a:off x="318618" y="2224"/>
            <a:ext cx="3290400" cy="685072"/>
          </a:xfrm>
          <a:prstGeom prst="rect">
            <a:avLst/>
          </a:prstGeom>
        </p:spPr>
      </p:pic>
    </p:spTree>
    <p:extLst>
      <p:ext uri="{BB962C8B-B14F-4D97-AF65-F5344CB8AC3E}">
        <p14:creationId xmlns:p14="http://schemas.microsoft.com/office/powerpoint/2010/main" val="19083602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6"/>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802366D-8698-B649-944B-CF1A6B166FF8}" type="datetimeFigureOut">
              <a:t>08/14/2025</a:t>
            </a:fld>
            <a:endParaRPr lang="en-VN"/>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VN"/>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379440A-2DED-3643-ADED-9B5C83E7D828}" type="slidenum">
              <a:t>‹#›</a:t>
            </a:fld>
            <a:endParaRPr lang="en-VN"/>
          </a:p>
        </p:txBody>
      </p:sp>
    </p:spTree>
    <p:extLst>
      <p:ext uri="{BB962C8B-B14F-4D97-AF65-F5344CB8AC3E}">
        <p14:creationId xmlns:p14="http://schemas.microsoft.com/office/powerpoint/2010/main" val="362272791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Lst>
  <p:txStyles>
    <p:title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Times New Roman" panose="02020603050405020304" pitchFamily="18" charset="0"/>
        </a:defRPr>
      </a:lvl1pPr>
    </p:titleStyle>
    <p:bodyStyle>
      <a:lvl1pPr marL="228600" indent="-228600" algn="l" defTabSz="914400" rtl="0" eaLnBrk="1" latinLnBrk="0" hangingPunct="1">
        <a:lnSpc>
          <a:spcPct val="15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15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15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hyperlink" Target="Thread/TcpChat.cs"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hyperlink" Target="Thread/ThreadPoolSample.cs"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hyperlink" Target="Thread/ThreadPoolTcpSrvr.cs"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hyperlink" Target="Thread/ThreadPoolTcpSrvr.cs"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hyperlink" Target="Thread/TcpClientTest.cs"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5CCF78BC-6A27-21AC-5EBD-81C9E14542EB}"/>
              </a:ext>
            </a:extLst>
          </p:cNvPr>
          <p:cNvSpPr txBox="1"/>
          <p:nvPr/>
        </p:nvSpPr>
        <p:spPr>
          <a:xfrm>
            <a:off x="1956757" y="2104808"/>
            <a:ext cx="8075195" cy="1446550"/>
          </a:xfrm>
          <a:prstGeom prst="rect">
            <a:avLst/>
          </a:prstGeom>
          <a:noFill/>
        </p:spPr>
        <p:txBody>
          <a:bodyPr wrap="square" rtlCol="0">
            <a:spAutoFit/>
          </a:bodyPr>
          <a:lstStyle/>
          <a:p>
            <a:pPr algn="ctr" defTabSz="457200"/>
            <a:r>
              <a:rPr lang="vi-VN" sz="4400" b="1">
                <a:solidFill>
                  <a:srgbClr val="034EA2"/>
                </a:solidFill>
                <a:latin typeface="Myriad Pro" panose="020B0503030403020204" pitchFamily="34" charset="0"/>
              </a:rPr>
              <a:t>CHƯƠNG </a:t>
            </a:r>
            <a:r>
              <a:rPr lang="en-US" sz="4400" b="1">
                <a:solidFill>
                  <a:srgbClr val="034EA2"/>
                </a:solidFill>
                <a:latin typeface="Myriad Pro" panose="020B0503030403020204" pitchFamily="34" charset="0"/>
              </a:rPr>
              <a:t>7</a:t>
            </a:r>
            <a:r>
              <a:rPr lang="vi-VN" sz="4400" b="1">
                <a:solidFill>
                  <a:srgbClr val="034EA2"/>
                </a:solidFill>
                <a:latin typeface="Myriad Pro" panose="020B0503030403020204" pitchFamily="34" charset="0"/>
              </a:rPr>
              <a:t> LẬP TRÌNH ỨNG DỤNG MẠNG MULTI-THREAD</a:t>
            </a:r>
            <a:endParaRPr lang="en-VN" sz="4400" b="1" dirty="0">
              <a:solidFill>
                <a:srgbClr val="034EA2"/>
              </a:solidFill>
              <a:latin typeface="Myriad Pro" panose="020B0503030403020204" pitchFamily="34" charset="0"/>
            </a:endParaRPr>
          </a:p>
        </p:txBody>
      </p:sp>
    </p:spTree>
    <p:extLst>
      <p:ext uri="{BB962C8B-B14F-4D97-AF65-F5344CB8AC3E}">
        <p14:creationId xmlns:p14="http://schemas.microsoft.com/office/powerpoint/2010/main" val="16424425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63835E-8FBD-4BE0-3E3F-C8D650B68250}"/>
              </a:ext>
            </a:extLst>
          </p:cNvPr>
          <p:cNvSpPr>
            <a:spLocks noGrp="1"/>
          </p:cNvSpPr>
          <p:nvPr>
            <p:ph type="title"/>
          </p:nvPr>
        </p:nvSpPr>
        <p:spPr/>
        <p:txBody>
          <a:bodyPr/>
          <a:lstStyle/>
          <a:p>
            <a:r>
              <a:rPr lang="en-US"/>
              <a:t>NỘI DUNG</a:t>
            </a:r>
          </a:p>
        </p:txBody>
      </p:sp>
      <p:sp>
        <p:nvSpPr>
          <p:cNvPr id="3" name="Content Placeholder 2">
            <a:extLst>
              <a:ext uri="{FF2B5EF4-FFF2-40B4-BE49-F238E27FC236}">
                <a16:creationId xmlns:a16="http://schemas.microsoft.com/office/drawing/2014/main" id="{66716272-44EF-B819-55DF-B8A5410F6C1A}"/>
              </a:ext>
            </a:extLst>
          </p:cNvPr>
          <p:cNvSpPr>
            <a:spLocks noGrp="1"/>
          </p:cNvSpPr>
          <p:nvPr>
            <p:ph idx="1"/>
          </p:nvPr>
        </p:nvSpPr>
        <p:spPr/>
        <p:txBody>
          <a:bodyPr>
            <a:normAutofit lnSpcReduction="10000"/>
          </a:bodyPr>
          <a:lstStyle/>
          <a:p>
            <a:r>
              <a:rPr lang="vi-VN"/>
              <a:t>Giới thiệu</a:t>
            </a:r>
            <a:endParaRPr lang="en-US"/>
          </a:p>
          <a:p>
            <a:r>
              <a:rPr lang="vi-VN"/>
              <a:t>Khái niệm về Thread</a:t>
            </a:r>
            <a:endParaRPr lang="en-US"/>
          </a:p>
          <a:p>
            <a:r>
              <a:rPr lang="vi-VN"/>
              <a:t>Tạo và Quản lý Thread</a:t>
            </a:r>
            <a:endParaRPr lang="en-US"/>
          </a:p>
          <a:p>
            <a:r>
              <a:rPr lang="vi-VN"/>
              <a:t>Ứng dụng Thread trong Server</a:t>
            </a:r>
            <a:endParaRPr lang="en-US"/>
          </a:p>
          <a:p>
            <a:r>
              <a:rPr lang="en-US"/>
              <a:t>Sử dụng thread cho việc truyền và nhận dữ liệu</a:t>
            </a:r>
          </a:p>
          <a:p>
            <a:r>
              <a:rPr lang="vi-VN"/>
              <a:t>Thread Pool</a:t>
            </a:r>
            <a:endParaRPr lang="en-US"/>
          </a:p>
          <a:p>
            <a:endParaRPr lang="en-US"/>
          </a:p>
        </p:txBody>
      </p:sp>
    </p:spTree>
    <p:extLst>
      <p:ext uri="{BB962C8B-B14F-4D97-AF65-F5344CB8AC3E}">
        <p14:creationId xmlns:p14="http://schemas.microsoft.com/office/powerpoint/2010/main" val="18958871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4C4CD6-D8FB-1A10-25DB-6B7E349A5356}"/>
              </a:ext>
            </a:extLst>
          </p:cNvPr>
          <p:cNvSpPr>
            <a:spLocks noGrp="1"/>
          </p:cNvSpPr>
          <p:nvPr>
            <p:ph type="title"/>
          </p:nvPr>
        </p:nvSpPr>
        <p:spPr/>
        <p:txBody>
          <a:bodyPr/>
          <a:lstStyle/>
          <a:p>
            <a:r>
              <a:rPr lang="en-US"/>
              <a:t>MỤC TIÊU</a:t>
            </a:r>
          </a:p>
        </p:txBody>
      </p:sp>
      <p:sp>
        <p:nvSpPr>
          <p:cNvPr id="3" name="Content Placeholder 2">
            <a:extLst>
              <a:ext uri="{FF2B5EF4-FFF2-40B4-BE49-F238E27FC236}">
                <a16:creationId xmlns:a16="http://schemas.microsoft.com/office/drawing/2014/main" id="{1D8B3306-770E-57DC-8962-64A4DDD4ADC6}"/>
              </a:ext>
            </a:extLst>
          </p:cNvPr>
          <p:cNvSpPr>
            <a:spLocks noGrp="1"/>
          </p:cNvSpPr>
          <p:nvPr>
            <p:ph idx="1"/>
          </p:nvPr>
        </p:nvSpPr>
        <p:spPr/>
        <p:txBody>
          <a:bodyPr/>
          <a:lstStyle/>
          <a:p>
            <a:r>
              <a:rPr lang="vi-VN"/>
              <a:t>Trình bày được cách thức sử dụng Thread.</a:t>
            </a:r>
          </a:p>
          <a:p>
            <a:r>
              <a:rPr lang="vi-VN"/>
              <a:t>Xây dựng được các ứng dụng đa luồng.</a:t>
            </a:r>
          </a:p>
        </p:txBody>
      </p:sp>
    </p:spTree>
    <p:extLst>
      <p:ext uri="{BB962C8B-B14F-4D97-AF65-F5344CB8AC3E}">
        <p14:creationId xmlns:p14="http://schemas.microsoft.com/office/powerpoint/2010/main" val="25693960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3B13AA-5840-91DF-26F8-98CF5F91C5C4}"/>
              </a:ext>
            </a:extLst>
          </p:cNvPr>
          <p:cNvSpPr>
            <a:spLocks noGrp="1"/>
          </p:cNvSpPr>
          <p:nvPr>
            <p:ph type="title"/>
          </p:nvPr>
        </p:nvSpPr>
        <p:spPr/>
        <p:txBody>
          <a:bodyPr>
            <a:noAutofit/>
          </a:bodyPr>
          <a:lstStyle/>
          <a:p>
            <a:r>
              <a:rPr lang="vi-VN" sz="3600"/>
              <a:t>GIỚI THIỆU</a:t>
            </a:r>
            <a:endParaRPr lang="en-US" sz="3400"/>
          </a:p>
        </p:txBody>
      </p:sp>
      <p:sp>
        <p:nvSpPr>
          <p:cNvPr id="3" name="Content Placeholder 2">
            <a:extLst>
              <a:ext uri="{FF2B5EF4-FFF2-40B4-BE49-F238E27FC236}">
                <a16:creationId xmlns:a16="http://schemas.microsoft.com/office/drawing/2014/main" id="{4404F45E-0E38-C415-03D8-65DA5D14CB7D}"/>
              </a:ext>
            </a:extLst>
          </p:cNvPr>
          <p:cNvSpPr>
            <a:spLocks noGrp="1"/>
          </p:cNvSpPr>
          <p:nvPr>
            <p:ph idx="1"/>
          </p:nvPr>
        </p:nvSpPr>
        <p:spPr/>
        <p:txBody>
          <a:bodyPr>
            <a:normAutofit fontScale="92500" lnSpcReduction="10000"/>
          </a:bodyPr>
          <a:lstStyle/>
          <a:p>
            <a:r>
              <a:rPr lang="en-US" b="1"/>
              <a:t>Ôn lại:</a:t>
            </a:r>
            <a:r>
              <a:rPr lang="en-US"/>
              <a:t> Ở các chương trước, chúng ta đã sử dụng các lớp socket </a:t>
            </a:r>
            <a:r>
              <a:rPr lang="en-US" b="1"/>
              <a:t>không đồng bộ</a:t>
            </a:r>
            <a:r>
              <a:rPr lang="en-US"/>
              <a:t> (asynchronous) để thực hiện các tác vụ mạng ở chế độ nền (background).</a:t>
            </a:r>
          </a:p>
          <a:p>
            <a:r>
              <a:rPr lang="en-US" b="1"/>
              <a:t>Vấn đề:</a:t>
            </a:r>
            <a:r>
              <a:rPr lang="en-US"/>
              <a:t> Chương trình có thể tiếp tục chạy trong khi đợi các hàm socket hoàn thành.</a:t>
            </a:r>
          </a:p>
          <a:p>
            <a:r>
              <a:rPr lang="en-US" b="1"/>
              <a:t>Hướng tiếp cận mới:</a:t>
            </a:r>
            <a:r>
              <a:rPr lang="en-US"/>
              <a:t> Chương này sẽ giới thiệu một phương pháp mạnh mẽ và linh hoạt hơn để đạt được mục tiêu tương tự: </a:t>
            </a:r>
            <a:r>
              <a:rPr lang="en-US" b="1"/>
              <a:t>sử dụng Thread</a:t>
            </a:r>
            <a:r>
              <a:rPr lang="en-US"/>
              <a:t>.</a:t>
            </a:r>
            <a:endParaRPr lang="en-US" sz="2600"/>
          </a:p>
        </p:txBody>
      </p:sp>
    </p:spTree>
    <p:extLst>
      <p:ext uri="{BB962C8B-B14F-4D97-AF65-F5344CB8AC3E}">
        <p14:creationId xmlns:p14="http://schemas.microsoft.com/office/powerpoint/2010/main" val="40676534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FCD5F9-CC76-5C47-E6F8-42ECBB6FD3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2BF50F-AA41-A3E1-8C33-10BFA69F2978}"/>
              </a:ext>
            </a:extLst>
          </p:cNvPr>
          <p:cNvSpPr>
            <a:spLocks noGrp="1"/>
          </p:cNvSpPr>
          <p:nvPr>
            <p:ph type="title"/>
          </p:nvPr>
        </p:nvSpPr>
        <p:spPr/>
        <p:txBody>
          <a:bodyPr>
            <a:noAutofit/>
          </a:bodyPr>
          <a:lstStyle/>
          <a:p>
            <a:r>
              <a:rPr lang="vi-VN" sz="3600"/>
              <a:t>KHÁI NIỆM VỀ THREAD</a:t>
            </a:r>
            <a:endParaRPr lang="en-US" sz="3400"/>
          </a:p>
        </p:txBody>
      </p:sp>
      <p:sp>
        <p:nvSpPr>
          <p:cNvPr id="3" name="Content Placeholder 2">
            <a:extLst>
              <a:ext uri="{FF2B5EF4-FFF2-40B4-BE49-F238E27FC236}">
                <a16:creationId xmlns:a16="http://schemas.microsoft.com/office/drawing/2014/main" id="{1FD3FFFE-D409-D860-622E-7947444BB257}"/>
              </a:ext>
            </a:extLst>
          </p:cNvPr>
          <p:cNvSpPr>
            <a:spLocks noGrp="1"/>
          </p:cNvSpPr>
          <p:nvPr>
            <p:ph idx="1"/>
          </p:nvPr>
        </p:nvSpPr>
        <p:spPr/>
        <p:txBody>
          <a:bodyPr>
            <a:normAutofit lnSpcReduction="10000"/>
          </a:bodyPr>
          <a:lstStyle/>
          <a:p>
            <a:r>
              <a:rPr lang="en-US" b="1"/>
              <a:t>Định nghĩa:</a:t>
            </a:r>
            <a:r>
              <a:rPr lang="en-US"/>
              <a:t> Thread (luồng) là một đường dẫn thực thi đơn lẻ trong một tiến trình (process). Một chương trình khi khởi chạy sẽ có ít nhất một luồng chính (main thread).</a:t>
            </a:r>
          </a:p>
          <a:p>
            <a:r>
              <a:rPr lang="en-US" b="1"/>
              <a:t>Đa luồng (Multi-threading):</a:t>
            </a:r>
            <a:endParaRPr lang="en-US"/>
          </a:p>
          <a:p>
            <a:pPr lvl="1"/>
            <a:r>
              <a:rPr lang="en-US" sz="2600"/>
              <a:t>Một chương trình có thể có nhiều luồng chạy </a:t>
            </a:r>
            <a:r>
              <a:rPr lang="en-US" sz="2600" b="1"/>
              <a:t>đồng thời</a:t>
            </a:r>
            <a:r>
              <a:rPr lang="en-US" sz="2600"/>
              <a:t>.</a:t>
            </a:r>
          </a:p>
          <a:p>
            <a:pPr lvl="1"/>
            <a:r>
              <a:rPr lang="en-US" sz="2600"/>
              <a:t>Tất cả các luồng trong cùng một tiến trình sẽ </a:t>
            </a:r>
            <a:r>
              <a:rPr lang="en-US" sz="2600" b="1"/>
              <a:t>chia sẻ chung không gian bộ nhớ</a:t>
            </a:r>
            <a:r>
              <a:rPr lang="en-US" sz="2600"/>
              <a:t>, giúp việc trao đổi dữ liệu trở nên dễ dàng.</a:t>
            </a:r>
          </a:p>
        </p:txBody>
      </p:sp>
    </p:spTree>
    <p:extLst>
      <p:ext uri="{BB962C8B-B14F-4D97-AF65-F5344CB8AC3E}">
        <p14:creationId xmlns:p14="http://schemas.microsoft.com/office/powerpoint/2010/main" val="9286667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B73D85-85BE-7455-0C3A-5FAD7EAA7F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4B4177-95D8-2047-D77B-5CD6B0A40CB9}"/>
              </a:ext>
            </a:extLst>
          </p:cNvPr>
          <p:cNvSpPr>
            <a:spLocks noGrp="1"/>
          </p:cNvSpPr>
          <p:nvPr>
            <p:ph type="title"/>
          </p:nvPr>
        </p:nvSpPr>
        <p:spPr/>
        <p:txBody>
          <a:bodyPr>
            <a:noAutofit/>
          </a:bodyPr>
          <a:lstStyle/>
          <a:p>
            <a:r>
              <a:rPr lang="vi-VN" sz="3600"/>
              <a:t>KHÁI NIỆM VỀ THREAD</a:t>
            </a:r>
            <a:endParaRPr lang="en-US" sz="3400"/>
          </a:p>
        </p:txBody>
      </p:sp>
      <p:sp>
        <p:nvSpPr>
          <p:cNvPr id="3" name="Content Placeholder 2">
            <a:extLst>
              <a:ext uri="{FF2B5EF4-FFF2-40B4-BE49-F238E27FC236}">
                <a16:creationId xmlns:a16="http://schemas.microsoft.com/office/drawing/2014/main" id="{F499E1C1-3A4C-6230-6E9D-AE28F1566162}"/>
              </a:ext>
            </a:extLst>
          </p:cNvPr>
          <p:cNvSpPr>
            <a:spLocks noGrp="1"/>
          </p:cNvSpPr>
          <p:nvPr>
            <p:ph idx="1"/>
          </p:nvPr>
        </p:nvSpPr>
        <p:spPr/>
        <p:txBody>
          <a:bodyPr>
            <a:normAutofit/>
          </a:bodyPr>
          <a:lstStyle/>
          <a:p>
            <a:r>
              <a:rPr lang="en-US" b="1"/>
              <a:t>Lợi ích:</a:t>
            </a:r>
            <a:endParaRPr lang="en-US"/>
          </a:p>
          <a:p>
            <a:pPr lvl="1"/>
            <a:r>
              <a:rPr lang="en-US" sz="2600"/>
              <a:t>Tăng khả năng phản hồi của ứng dụng (VD: Giao diện người dùng không bị "đơ" khi đang xử lý tác vụ nặng).</a:t>
            </a:r>
          </a:p>
          <a:p>
            <a:pPr lvl="1"/>
            <a:r>
              <a:rPr lang="en-US" sz="2600"/>
              <a:t>Tận dụng tối đa sức mạnh của CPU đa nhân.</a:t>
            </a:r>
          </a:p>
        </p:txBody>
      </p:sp>
    </p:spTree>
    <p:extLst>
      <p:ext uri="{BB962C8B-B14F-4D97-AF65-F5344CB8AC3E}">
        <p14:creationId xmlns:p14="http://schemas.microsoft.com/office/powerpoint/2010/main" val="42311887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C21E16-CBD4-9506-F47A-D613AF50B2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460F28-3B92-5C4F-20D9-C6763374AC25}"/>
              </a:ext>
            </a:extLst>
          </p:cNvPr>
          <p:cNvSpPr>
            <a:spLocks noGrp="1"/>
          </p:cNvSpPr>
          <p:nvPr>
            <p:ph type="title"/>
          </p:nvPr>
        </p:nvSpPr>
        <p:spPr/>
        <p:txBody>
          <a:bodyPr>
            <a:noAutofit/>
          </a:bodyPr>
          <a:lstStyle/>
          <a:p>
            <a:r>
              <a:rPr lang="en-US" sz="3600"/>
              <a:t>TẠO VÀ QUẢN LÝ THREAD</a:t>
            </a:r>
            <a:endParaRPr lang="en-US" sz="3400"/>
          </a:p>
        </p:txBody>
      </p:sp>
      <p:sp>
        <p:nvSpPr>
          <p:cNvPr id="3" name="Content Placeholder 2">
            <a:extLst>
              <a:ext uri="{FF2B5EF4-FFF2-40B4-BE49-F238E27FC236}">
                <a16:creationId xmlns:a16="http://schemas.microsoft.com/office/drawing/2014/main" id="{28610CD6-787B-6E34-8C53-DC965861C100}"/>
              </a:ext>
            </a:extLst>
          </p:cNvPr>
          <p:cNvSpPr>
            <a:spLocks noGrp="1"/>
          </p:cNvSpPr>
          <p:nvPr>
            <p:ph idx="1"/>
          </p:nvPr>
        </p:nvSpPr>
        <p:spPr/>
        <p:txBody>
          <a:bodyPr>
            <a:normAutofit/>
          </a:bodyPr>
          <a:lstStyle/>
          <a:p>
            <a:pPr lvl="0"/>
            <a:r>
              <a:rPr lang="en-US" b="1"/>
              <a:t>Namespace:</a:t>
            </a:r>
            <a:r>
              <a:rPr lang="en-US"/>
              <a:t> System.Threading chứa các lớp cần thiết.</a:t>
            </a:r>
          </a:p>
          <a:p>
            <a:pPr lvl="0"/>
            <a:r>
              <a:rPr lang="en-US" b="1"/>
              <a:t>Lớp Thread:</a:t>
            </a:r>
            <a:r>
              <a:rPr lang="en-US"/>
              <a:t> Dùng để tạo và điều khiển một luồng mới.</a:t>
            </a:r>
          </a:p>
          <a:p>
            <a:pPr lvl="1"/>
            <a:r>
              <a:rPr lang="en-US" sz="2600"/>
              <a:t>Hàm tạo: Thread(ThreadStart start)</a:t>
            </a:r>
          </a:p>
          <a:p>
            <a:pPr lvl="1"/>
            <a:r>
              <a:rPr lang="en-US" sz="2600"/>
              <a:t>ThreadStart là một delegate, trỏ đến phương thức mà luồng sẽ thực thi.</a:t>
            </a:r>
          </a:p>
        </p:txBody>
      </p:sp>
    </p:spTree>
    <p:extLst>
      <p:ext uri="{BB962C8B-B14F-4D97-AF65-F5344CB8AC3E}">
        <p14:creationId xmlns:p14="http://schemas.microsoft.com/office/powerpoint/2010/main" val="10810456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F4930C-4AAE-22BE-EC76-501903B281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9EA01A-334F-A95D-CD06-AC13014AF550}"/>
              </a:ext>
            </a:extLst>
          </p:cNvPr>
          <p:cNvSpPr>
            <a:spLocks noGrp="1"/>
          </p:cNvSpPr>
          <p:nvPr>
            <p:ph type="title"/>
          </p:nvPr>
        </p:nvSpPr>
        <p:spPr/>
        <p:txBody>
          <a:bodyPr>
            <a:noAutofit/>
          </a:bodyPr>
          <a:lstStyle/>
          <a:p>
            <a:r>
              <a:rPr lang="en-US" sz="3600"/>
              <a:t>TẠO VÀ QUẢN LÝ THREAD</a:t>
            </a:r>
            <a:endParaRPr lang="en-US" sz="3400"/>
          </a:p>
        </p:txBody>
      </p:sp>
      <p:sp>
        <p:nvSpPr>
          <p:cNvPr id="3" name="Content Placeholder 2">
            <a:extLst>
              <a:ext uri="{FF2B5EF4-FFF2-40B4-BE49-F238E27FC236}">
                <a16:creationId xmlns:a16="http://schemas.microsoft.com/office/drawing/2014/main" id="{052634E4-E092-472C-F859-C72C30A2EDAD}"/>
              </a:ext>
            </a:extLst>
          </p:cNvPr>
          <p:cNvSpPr>
            <a:spLocks noGrp="1"/>
          </p:cNvSpPr>
          <p:nvPr>
            <p:ph idx="1"/>
          </p:nvPr>
        </p:nvSpPr>
        <p:spPr/>
        <p:txBody>
          <a:bodyPr>
            <a:normAutofit/>
          </a:bodyPr>
          <a:lstStyle/>
          <a:p>
            <a:r>
              <a:rPr lang="en-US" b="1"/>
              <a:t>Các bước tạo và chạy một Thread:</a:t>
            </a:r>
            <a:endParaRPr lang="en-US"/>
          </a:p>
          <a:p>
            <a:pPr marL="971550" lvl="1" indent="-514350">
              <a:buFont typeface="+mj-lt"/>
              <a:buAutoNum type="arabicPeriod"/>
            </a:pPr>
            <a:r>
              <a:rPr lang="en-US" sz="2600"/>
              <a:t>Viết một phương thức (method) cho luồng thực thi.</a:t>
            </a:r>
          </a:p>
          <a:p>
            <a:pPr marL="971550" lvl="1" indent="-514350">
              <a:buFont typeface="+mj-lt"/>
              <a:buAutoNum type="arabicPeriod"/>
            </a:pPr>
            <a:r>
              <a:rPr lang="en-US" sz="2600"/>
              <a:t>Tạo một đối tượng Thread và truyền phương thức đó vào.</a:t>
            </a:r>
          </a:p>
          <a:p>
            <a:pPr marL="971550" lvl="1" indent="-514350">
              <a:buFont typeface="+mj-lt"/>
              <a:buAutoNum type="arabicPeriod"/>
            </a:pPr>
            <a:r>
              <a:rPr lang="en-US" sz="2600"/>
              <a:t>Gọi phương thức Start() để bắt đầu.</a:t>
            </a:r>
          </a:p>
        </p:txBody>
      </p:sp>
    </p:spTree>
    <p:extLst>
      <p:ext uri="{BB962C8B-B14F-4D97-AF65-F5344CB8AC3E}">
        <p14:creationId xmlns:p14="http://schemas.microsoft.com/office/powerpoint/2010/main" val="36720717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3D66F1-C30C-7021-269A-64007A72CF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E0354F-A087-8039-D56E-C791308E121D}"/>
              </a:ext>
            </a:extLst>
          </p:cNvPr>
          <p:cNvSpPr>
            <a:spLocks noGrp="1"/>
          </p:cNvSpPr>
          <p:nvPr>
            <p:ph type="title"/>
          </p:nvPr>
        </p:nvSpPr>
        <p:spPr/>
        <p:txBody>
          <a:bodyPr>
            <a:noAutofit/>
          </a:bodyPr>
          <a:lstStyle/>
          <a:p>
            <a:r>
              <a:rPr lang="en-US" sz="3600"/>
              <a:t>TẠO VÀ QUẢN LÝ THREAD</a:t>
            </a:r>
            <a:endParaRPr lang="en-US" sz="3400"/>
          </a:p>
        </p:txBody>
      </p:sp>
      <p:sp>
        <p:nvSpPr>
          <p:cNvPr id="3" name="Content Placeholder 2">
            <a:extLst>
              <a:ext uri="{FF2B5EF4-FFF2-40B4-BE49-F238E27FC236}">
                <a16:creationId xmlns:a16="http://schemas.microsoft.com/office/drawing/2014/main" id="{54BE8CCB-DD50-12F0-DB8D-18360D6BD1F5}"/>
              </a:ext>
            </a:extLst>
          </p:cNvPr>
          <p:cNvSpPr>
            <a:spLocks noGrp="1"/>
          </p:cNvSpPr>
          <p:nvPr>
            <p:ph idx="1"/>
          </p:nvPr>
        </p:nvSpPr>
        <p:spPr/>
        <p:txBody>
          <a:bodyPr>
            <a:normAutofit fontScale="92500" lnSpcReduction="10000"/>
          </a:bodyPr>
          <a:lstStyle/>
          <a:p>
            <a:r>
              <a:rPr lang="en-US" b="1"/>
              <a:t>Các bước tạo và chạy một Thread:</a:t>
            </a:r>
            <a:endParaRPr lang="en-US"/>
          </a:p>
          <a:p>
            <a:pPr marL="457200" lvl="1" indent="0">
              <a:buNone/>
            </a:pPr>
            <a:r>
              <a:rPr lang="en-US" sz="2600"/>
              <a:t>Ví dụ: </a:t>
            </a:r>
          </a:p>
          <a:p>
            <a:pPr marL="914400" lvl="2" indent="0">
              <a:buNone/>
            </a:pPr>
            <a:r>
              <a:rPr lang="vi-VN" sz="2400">
                <a:solidFill>
                  <a:schemeClr val="accent4"/>
                </a:solidFill>
              </a:rPr>
              <a:t>void TaskForThread() { </a:t>
            </a:r>
            <a:endParaRPr lang="en-US" sz="2400">
              <a:solidFill>
                <a:schemeClr val="accent4"/>
              </a:solidFill>
            </a:endParaRPr>
          </a:p>
          <a:p>
            <a:pPr marL="914400" lvl="2" indent="0">
              <a:buNone/>
            </a:pPr>
            <a:r>
              <a:rPr lang="vi-VN" sz="2400">
                <a:solidFill>
                  <a:schemeClr val="accent4"/>
                </a:solidFill>
              </a:rPr>
              <a:t>Console.WriteLine("Luồng phụ đang chạy..."); </a:t>
            </a:r>
            <a:endParaRPr lang="en-US" sz="2400">
              <a:solidFill>
                <a:schemeClr val="accent4"/>
              </a:solidFill>
            </a:endParaRPr>
          </a:p>
          <a:p>
            <a:pPr marL="914400" lvl="2" indent="0">
              <a:buNone/>
            </a:pPr>
            <a:r>
              <a:rPr lang="vi-VN" sz="2400">
                <a:solidFill>
                  <a:schemeClr val="accent4"/>
                </a:solidFill>
              </a:rPr>
              <a:t>} </a:t>
            </a:r>
            <a:endParaRPr lang="en-US" sz="2400">
              <a:solidFill>
                <a:schemeClr val="accent4"/>
              </a:solidFill>
            </a:endParaRPr>
          </a:p>
          <a:p>
            <a:pPr marL="914400" lvl="2" indent="0">
              <a:buNone/>
            </a:pPr>
            <a:r>
              <a:rPr lang="vi-VN" sz="2400">
                <a:solidFill>
                  <a:schemeClr val="accent4"/>
                </a:solidFill>
              </a:rPr>
              <a:t>// Trong hàm Main hoặc một phương thức khác </a:t>
            </a:r>
            <a:endParaRPr lang="en-US" sz="2400">
              <a:solidFill>
                <a:schemeClr val="accent4"/>
              </a:solidFill>
            </a:endParaRPr>
          </a:p>
          <a:p>
            <a:pPr marL="914400" lvl="2" indent="0">
              <a:buNone/>
            </a:pPr>
            <a:r>
              <a:rPr lang="vi-VN" sz="2400">
                <a:solidFill>
                  <a:schemeClr val="accent4"/>
                </a:solidFill>
              </a:rPr>
              <a:t>Thread myThread = new Thread(new ThreadStart(TaskForThread)); myThread.Start(); // Bắt đầu thực thi TaskForThread()</a:t>
            </a:r>
            <a:endParaRPr lang="en-US" sz="2200">
              <a:solidFill>
                <a:schemeClr val="accent4"/>
              </a:solidFill>
            </a:endParaRPr>
          </a:p>
        </p:txBody>
      </p:sp>
    </p:spTree>
    <p:extLst>
      <p:ext uri="{BB962C8B-B14F-4D97-AF65-F5344CB8AC3E}">
        <p14:creationId xmlns:p14="http://schemas.microsoft.com/office/powerpoint/2010/main" val="13644850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6F66E2-F55C-D1AF-6757-EC2626DFE4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8C9A67-8400-A417-87B3-AD9BE3FB53D7}"/>
              </a:ext>
            </a:extLst>
          </p:cNvPr>
          <p:cNvSpPr>
            <a:spLocks noGrp="1"/>
          </p:cNvSpPr>
          <p:nvPr>
            <p:ph type="title"/>
          </p:nvPr>
        </p:nvSpPr>
        <p:spPr/>
        <p:txBody>
          <a:bodyPr>
            <a:noAutofit/>
          </a:bodyPr>
          <a:lstStyle/>
          <a:p>
            <a:r>
              <a:rPr lang="en-US" sz="3600"/>
              <a:t>TẠO VÀ QUẢN LÝ THREAD</a:t>
            </a:r>
            <a:endParaRPr lang="en-US" sz="3400"/>
          </a:p>
        </p:txBody>
      </p:sp>
      <p:sp>
        <p:nvSpPr>
          <p:cNvPr id="3" name="Content Placeholder 2">
            <a:extLst>
              <a:ext uri="{FF2B5EF4-FFF2-40B4-BE49-F238E27FC236}">
                <a16:creationId xmlns:a16="http://schemas.microsoft.com/office/drawing/2014/main" id="{6DC2BADB-C04C-6FB4-8901-5188DC025120}"/>
              </a:ext>
            </a:extLst>
          </p:cNvPr>
          <p:cNvSpPr>
            <a:spLocks noGrp="1"/>
          </p:cNvSpPr>
          <p:nvPr>
            <p:ph idx="1"/>
          </p:nvPr>
        </p:nvSpPr>
        <p:spPr/>
        <p:txBody>
          <a:bodyPr>
            <a:normAutofit/>
          </a:bodyPr>
          <a:lstStyle/>
          <a:p>
            <a:r>
              <a:rPr lang="en-US" b="1"/>
              <a:t>Các phương thức quan trọng của lớp Thread</a:t>
            </a:r>
          </a:p>
          <a:p>
            <a:endParaRPr lang="en-US" sz="2200">
              <a:solidFill>
                <a:schemeClr val="accent4"/>
              </a:solidFill>
            </a:endParaRPr>
          </a:p>
        </p:txBody>
      </p:sp>
      <p:graphicFrame>
        <p:nvGraphicFramePr>
          <p:cNvPr id="4" name="Table 3">
            <a:extLst>
              <a:ext uri="{FF2B5EF4-FFF2-40B4-BE49-F238E27FC236}">
                <a16:creationId xmlns:a16="http://schemas.microsoft.com/office/drawing/2014/main" id="{22E4E043-E9BB-E87B-2A73-7FCEFB4DAE6C}"/>
              </a:ext>
            </a:extLst>
          </p:cNvPr>
          <p:cNvGraphicFramePr>
            <a:graphicFrameLocks noGrp="1"/>
          </p:cNvGraphicFramePr>
          <p:nvPr>
            <p:extLst>
              <p:ext uri="{D42A27DB-BD31-4B8C-83A1-F6EECF244321}">
                <p14:modId xmlns:p14="http://schemas.microsoft.com/office/powerpoint/2010/main" val="544488364"/>
              </p:ext>
            </p:extLst>
          </p:nvPr>
        </p:nvGraphicFramePr>
        <p:xfrm>
          <a:off x="1092200" y="2655519"/>
          <a:ext cx="10261600" cy="3910380"/>
        </p:xfrm>
        <a:graphic>
          <a:graphicData uri="http://schemas.openxmlformats.org/drawingml/2006/table">
            <a:tbl>
              <a:tblPr firstRow="1" firstCol="1" bandRow="1">
                <a:tableStyleId>{5940675A-B579-460E-94D1-54222C63F5DA}</a:tableStyleId>
              </a:tblPr>
              <a:tblGrid>
                <a:gridCol w="2489200">
                  <a:extLst>
                    <a:ext uri="{9D8B030D-6E8A-4147-A177-3AD203B41FA5}">
                      <a16:colId xmlns:a16="http://schemas.microsoft.com/office/drawing/2014/main" val="3042755151"/>
                    </a:ext>
                  </a:extLst>
                </a:gridCol>
                <a:gridCol w="7772400">
                  <a:extLst>
                    <a:ext uri="{9D8B030D-6E8A-4147-A177-3AD203B41FA5}">
                      <a16:colId xmlns:a16="http://schemas.microsoft.com/office/drawing/2014/main" val="3505504175"/>
                    </a:ext>
                  </a:extLst>
                </a:gridCol>
              </a:tblGrid>
              <a:tr h="433153">
                <a:tc>
                  <a:txBody>
                    <a:bodyPr/>
                    <a:lstStyle/>
                    <a:p>
                      <a:pPr algn="ctr">
                        <a:lnSpc>
                          <a:spcPct val="107000"/>
                        </a:lnSpc>
                        <a:spcAft>
                          <a:spcPts val="800"/>
                        </a:spcAft>
                        <a:buNone/>
                      </a:pPr>
                      <a:r>
                        <a:rPr lang="en-US" sz="2400" kern="100">
                          <a:effectLst/>
                          <a:latin typeface="Times New Roman" panose="02020603050405020304" pitchFamily="18" charset="0"/>
                          <a:cs typeface="Times New Roman" panose="02020603050405020304" pitchFamily="18" charset="0"/>
                        </a:rPr>
                        <a:t>Phương thức</a:t>
                      </a:r>
                      <a:endParaRPr lang="en-US" sz="24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algn="ctr">
                        <a:lnSpc>
                          <a:spcPct val="107000"/>
                        </a:lnSpc>
                        <a:spcAft>
                          <a:spcPts val="800"/>
                        </a:spcAft>
                        <a:buNone/>
                      </a:pPr>
                      <a:r>
                        <a:rPr lang="en-US" sz="2400" kern="100">
                          <a:effectLst/>
                          <a:latin typeface="Times New Roman" panose="02020603050405020304" pitchFamily="18" charset="0"/>
                          <a:cs typeface="Times New Roman" panose="02020603050405020304" pitchFamily="18" charset="0"/>
                        </a:rPr>
                        <a:t>Chức năng</a:t>
                      </a:r>
                      <a:endParaRPr lang="en-US" sz="24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267229065"/>
                  </a:ext>
                </a:extLst>
              </a:tr>
              <a:tr h="433153">
                <a:tc>
                  <a:txBody>
                    <a:bodyPr/>
                    <a:lstStyle/>
                    <a:p>
                      <a:pPr>
                        <a:lnSpc>
                          <a:spcPct val="107000"/>
                        </a:lnSpc>
                        <a:spcAft>
                          <a:spcPts val="800"/>
                        </a:spcAft>
                        <a:buNone/>
                      </a:pPr>
                      <a:r>
                        <a:rPr lang="en-US" sz="2400" kern="100">
                          <a:effectLst/>
                          <a:latin typeface="Times New Roman" panose="02020603050405020304" pitchFamily="18" charset="0"/>
                          <a:cs typeface="Times New Roman" panose="02020603050405020304" pitchFamily="18" charset="0"/>
                        </a:rPr>
                        <a:t>Start()</a:t>
                      </a:r>
                      <a:endParaRPr lang="en-US" sz="24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US" sz="2400" kern="100">
                          <a:effectLst/>
                          <a:latin typeface="Times New Roman" panose="02020603050405020304" pitchFamily="18" charset="0"/>
                          <a:cs typeface="Times New Roman" panose="02020603050405020304" pitchFamily="18" charset="0"/>
                        </a:rPr>
                        <a:t>Bắt đầu chạy luồng.</a:t>
                      </a:r>
                      <a:endParaRPr lang="en-US" sz="24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486068418"/>
                  </a:ext>
                </a:extLst>
              </a:tr>
              <a:tr h="870307">
                <a:tc>
                  <a:txBody>
                    <a:bodyPr/>
                    <a:lstStyle/>
                    <a:p>
                      <a:pPr>
                        <a:lnSpc>
                          <a:spcPct val="107000"/>
                        </a:lnSpc>
                        <a:spcAft>
                          <a:spcPts val="800"/>
                        </a:spcAft>
                        <a:buNone/>
                      </a:pPr>
                      <a:r>
                        <a:rPr lang="en-US" sz="2400" kern="100">
                          <a:effectLst/>
                          <a:latin typeface="Times New Roman" panose="02020603050405020304" pitchFamily="18" charset="0"/>
                          <a:cs typeface="Times New Roman" panose="02020603050405020304" pitchFamily="18" charset="0"/>
                        </a:rPr>
                        <a:t>Join()</a:t>
                      </a:r>
                      <a:endParaRPr lang="en-US" sz="24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US" sz="2400" kern="100">
                          <a:effectLst/>
                          <a:latin typeface="Times New Roman" panose="02020603050405020304" pitchFamily="18" charset="0"/>
                          <a:cs typeface="Times New Roman" panose="02020603050405020304" pitchFamily="18" charset="0"/>
                        </a:rPr>
                        <a:t>Chặn luồng hiện tại cho đến khi luồng này kết thúc.</a:t>
                      </a:r>
                      <a:endParaRPr lang="en-US" sz="24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796624935"/>
                  </a:ext>
                </a:extLst>
              </a:tr>
              <a:tr h="870307">
                <a:tc>
                  <a:txBody>
                    <a:bodyPr/>
                    <a:lstStyle/>
                    <a:p>
                      <a:pPr>
                        <a:lnSpc>
                          <a:spcPct val="107000"/>
                        </a:lnSpc>
                        <a:spcAft>
                          <a:spcPts val="800"/>
                        </a:spcAft>
                        <a:buNone/>
                      </a:pPr>
                      <a:r>
                        <a:rPr lang="en-US" sz="2400" kern="100">
                          <a:effectLst/>
                          <a:latin typeface="Times New Roman" panose="02020603050405020304" pitchFamily="18" charset="0"/>
                          <a:cs typeface="Times New Roman" panose="02020603050405020304" pitchFamily="18" charset="0"/>
                        </a:rPr>
                        <a:t>Sleep(int ms)</a:t>
                      </a:r>
                      <a:endParaRPr lang="en-US" sz="24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US" sz="2400" kern="100">
                          <a:effectLst/>
                          <a:latin typeface="Times New Roman" panose="02020603050405020304" pitchFamily="18" charset="0"/>
                          <a:cs typeface="Times New Roman" panose="02020603050405020304" pitchFamily="18" charset="0"/>
                        </a:rPr>
                        <a:t>Tạm dừng luồng trong một khoảng thời gian (tính bằng mili giây).</a:t>
                      </a:r>
                      <a:endParaRPr lang="en-US" sz="24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993895000"/>
                  </a:ext>
                </a:extLst>
              </a:tr>
              <a:tr h="433153">
                <a:tc>
                  <a:txBody>
                    <a:bodyPr/>
                    <a:lstStyle/>
                    <a:p>
                      <a:pPr>
                        <a:lnSpc>
                          <a:spcPct val="107000"/>
                        </a:lnSpc>
                        <a:spcAft>
                          <a:spcPts val="800"/>
                        </a:spcAft>
                        <a:buNone/>
                      </a:pPr>
                      <a:r>
                        <a:rPr lang="en-US" sz="2400" kern="100">
                          <a:effectLst/>
                          <a:latin typeface="Times New Roman" panose="02020603050405020304" pitchFamily="18" charset="0"/>
                          <a:cs typeface="Times New Roman" panose="02020603050405020304" pitchFamily="18" charset="0"/>
                        </a:rPr>
                        <a:t>Abort()</a:t>
                      </a:r>
                      <a:endParaRPr lang="en-US" sz="24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US" sz="2400" kern="100">
                          <a:effectLst/>
                          <a:latin typeface="Times New Roman" panose="02020603050405020304" pitchFamily="18" charset="0"/>
                          <a:cs typeface="Times New Roman" panose="02020603050405020304" pitchFamily="18" charset="0"/>
                        </a:rPr>
                        <a:t>Yêu cầu chấm dứt luồng. (Cần sử dụng cẩn thận!)</a:t>
                      </a:r>
                      <a:endParaRPr lang="en-US" sz="24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393396883"/>
                  </a:ext>
                </a:extLst>
              </a:tr>
              <a:tr h="870307">
                <a:tc>
                  <a:txBody>
                    <a:bodyPr/>
                    <a:lstStyle/>
                    <a:p>
                      <a:pPr>
                        <a:lnSpc>
                          <a:spcPct val="107000"/>
                        </a:lnSpc>
                        <a:spcAft>
                          <a:spcPts val="800"/>
                        </a:spcAft>
                        <a:buNone/>
                      </a:pPr>
                      <a:r>
                        <a:rPr lang="en-US" sz="2400" kern="100">
                          <a:effectLst/>
                          <a:latin typeface="Times New Roman" panose="02020603050405020304" pitchFamily="18" charset="0"/>
                          <a:cs typeface="Times New Roman" panose="02020603050405020304" pitchFamily="18" charset="0"/>
                        </a:rPr>
                        <a:t>Interrupt()</a:t>
                      </a:r>
                      <a:endParaRPr lang="en-US" sz="24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US" sz="2400" kern="100">
                          <a:effectLst/>
                          <a:latin typeface="Times New Roman" panose="02020603050405020304" pitchFamily="18" charset="0"/>
                          <a:cs typeface="Times New Roman" panose="02020603050405020304" pitchFamily="18" charset="0"/>
                        </a:rPr>
                        <a:t>Ngắt một luồng đang ở trạng thái chờ (Wait, Sleep, Join).</a:t>
                      </a:r>
                      <a:endParaRPr lang="en-US" sz="24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139105485"/>
                  </a:ext>
                </a:extLst>
              </a:tr>
            </a:tbl>
          </a:graphicData>
        </a:graphic>
      </p:graphicFrame>
    </p:spTree>
    <p:extLst>
      <p:ext uri="{BB962C8B-B14F-4D97-AF65-F5344CB8AC3E}">
        <p14:creationId xmlns:p14="http://schemas.microsoft.com/office/powerpoint/2010/main" val="27566183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49D892-03F5-9D54-F621-E602D5DB9F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2D9456-7FD8-1A17-2999-C3E7C7145F32}"/>
              </a:ext>
            </a:extLst>
          </p:cNvPr>
          <p:cNvSpPr>
            <a:spLocks noGrp="1"/>
          </p:cNvSpPr>
          <p:nvPr>
            <p:ph type="title"/>
          </p:nvPr>
        </p:nvSpPr>
        <p:spPr/>
        <p:txBody>
          <a:bodyPr>
            <a:noAutofit/>
          </a:bodyPr>
          <a:lstStyle/>
          <a:p>
            <a:r>
              <a:rPr lang="en-US" sz="3600"/>
              <a:t>ỨNG DỤNG THREAD TRONG SERVER</a:t>
            </a:r>
            <a:endParaRPr lang="en-US" sz="3400"/>
          </a:p>
        </p:txBody>
      </p:sp>
      <p:sp>
        <p:nvSpPr>
          <p:cNvPr id="3" name="Content Placeholder 2">
            <a:extLst>
              <a:ext uri="{FF2B5EF4-FFF2-40B4-BE49-F238E27FC236}">
                <a16:creationId xmlns:a16="http://schemas.microsoft.com/office/drawing/2014/main" id="{3AFA446A-AF23-8244-1FCE-FAF214881B0E}"/>
              </a:ext>
            </a:extLst>
          </p:cNvPr>
          <p:cNvSpPr>
            <a:spLocks noGrp="1"/>
          </p:cNvSpPr>
          <p:nvPr>
            <p:ph idx="1"/>
          </p:nvPr>
        </p:nvSpPr>
        <p:spPr/>
        <p:txBody>
          <a:bodyPr>
            <a:normAutofit fontScale="77500" lnSpcReduction="20000"/>
          </a:bodyPr>
          <a:lstStyle/>
          <a:p>
            <a:r>
              <a:rPr lang="en-US" sz="3300" b="1"/>
              <a:t>Thách thức lớn nhất của Server:</a:t>
            </a:r>
            <a:r>
              <a:rPr lang="en-US" sz="3300"/>
              <a:t> Làm thế nào để phục vụ </a:t>
            </a:r>
            <a:r>
              <a:rPr lang="en-US" sz="3300" b="1"/>
              <a:t>nhiều Client cùng một lúc</a:t>
            </a:r>
            <a:r>
              <a:rPr lang="en-US" sz="3300"/>
              <a:t>?</a:t>
            </a:r>
          </a:p>
          <a:p>
            <a:r>
              <a:rPr lang="en-US" sz="3300" b="1"/>
              <a:t>Giải pháp dùng Thread:</a:t>
            </a:r>
            <a:endParaRPr lang="en-US" sz="3300"/>
          </a:p>
          <a:p>
            <a:pPr lvl="1"/>
            <a:r>
              <a:rPr lang="en-US" sz="3100"/>
              <a:t>Đây là mô hình kinh điển và dễ hiểu.</a:t>
            </a:r>
          </a:p>
          <a:p>
            <a:pPr lvl="1"/>
            <a:r>
              <a:rPr lang="en-US" sz="3100" b="1"/>
              <a:t>Nguyên tắc:</a:t>
            </a:r>
            <a:r>
              <a:rPr lang="en-US" sz="3100"/>
              <a:t> Mỗi khi có một Client kết nối thành công, Server sẽ tạo ra một </a:t>
            </a:r>
            <a:r>
              <a:rPr lang="en-US" sz="3100" b="1"/>
              <a:t>Thread mới</a:t>
            </a:r>
            <a:r>
              <a:rPr lang="en-US" sz="3100"/>
              <a:t> dành riêng để phục vụ Client đó.</a:t>
            </a:r>
          </a:p>
          <a:p>
            <a:pPr lvl="1"/>
            <a:r>
              <a:rPr lang="en-US" sz="3100"/>
              <a:t>Luồng chính của Server sẽ quay trở lại trạng thái lắng nghe (Listen) để sẵn sàng cho các kết nối tiếp theo.</a:t>
            </a:r>
            <a:endParaRPr lang="en-US" sz="3100" b="1"/>
          </a:p>
          <a:p>
            <a:endParaRPr lang="en-US" sz="2200">
              <a:solidFill>
                <a:schemeClr val="accent4"/>
              </a:solidFill>
            </a:endParaRPr>
          </a:p>
        </p:txBody>
      </p:sp>
    </p:spTree>
    <p:extLst>
      <p:ext uri="{BB962C8B-B14F-4D97-AF65-F5344CB8AC3E}">
        <p14:creationId xmlns:p14="http://schemas.microsoft.com/office/powerpoint/2010/main" val="33761951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DFBB93-0DCD-2B8C-E6D9-04F382E6FB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9B0E21-77E6-4AF0-7D0A-35872286EA24}"/>
              </a:ext>
            </a:extLst>
          </p:cNvPr>
          <p:cNvSpPr>
            <a:spLocks noGrp="1"/>
          </p:cNvSpPr>
          <p:nvPr>
            <p:ph type="title"/>
          </p:nvPr>
        </p:nvSpPr>
        <p:spPr/>
        <p:txBody>
          <a:bodyPr>
            <a:noAutofit/>
          </a:bodyPr>
          <a:lstStyle/>
          <a:p>
            <a:r>
              <a:rPr lang="en-US" sz="3600"/>
              <a:t>ỨNG DỤNG THREAD TRONG SERVER</a:t>
            </a:r>
            <a:endParaRPr lang="en-US" sz="3400"/>
          </a:p>
        </p:txBody>
      </p:sp>
      <p:sp>
        <p:nvSpPr>
          <p:cNvPr id="3" name="Content Placeholder 2">
            <a:extLst>
              <a:ext uri="{FF2B5EF4-FFF2-40B4-BE49-F238E27FC236}">
                <a16:creationId xmlns:a16="http://schemas.microsoft.com/office/drawing/2014/main" id="{9AFA7444-1F9D-9BB6-C07F-3A7AFDFFEE40}"/>
              </a:ext>
            </a:extLst>
          </p:cNvPr>
          <p:cNvSpPr>
            <a:spLocks noGrp="1"/>
          </p:cNvSpPr>
          <p:nvPr>
            <p:ph idx="1"/>
          </p:nvPr>
        </p:nvSpPr>
        <p:spPr/>
        <p:txBody>
          <a:bodyPr>
            <a:normAutofit/>
          </a:bodyPr>
          <a:lstStyle/>
          <a:p>
            <a:r>
              <a:rPr lang="en-US"/>
              <a:t>Tạo một Thread Server</a:t>
            </a:r>
            <a:r>
              <a:rPr lang="en-US" sz="2400"/>
              <a:t> </a:t>
            </a:r>
            <a:br>
              <a:rPr lang="en-US" sz="2400"/>
            </a:br>
            <a:endParaRPr lang="en-US" sz="2200">
              <a:solidFill>
                <a:schemeClr val="accent4"/>
              </a:solidFill>
            </a:endParaRPr>
          </a:p>
        </p:txBody>
      </p:sp>
      <p:pic>
        <p:nvPicPr>
          <p:cNvPr id="5" name="Picture 4">
            <a:extLst>
              <a:ext uri="{FF2B5EF4-FFF2-40B4-BE49-F238E27FC236}">
                <a16:creationId xmlns:a16="http://schemas.microsoft.com/office/drawing/2014/main" id="{9B162393-A20D-F672-BCFB-B71DF20599A1}"/>
              </a:ext>
            </a:extLst>
          </p:cNvPr>
          <p:cNvPicPr>
            <a:picLocks noChangeAspect="1"/>
          </p:cNvPicPr>
          <p:nvPr/>
        </p:nvPicPr>
        <p:blipFill>
          <a:blip r:embed="rId2"/>
          <a:stretch>
            <a:fillRect/>
          </a:stretch>
        </p:blipFill>
        <p:spPr>
          <a:xfrm>
            <a:off x="2666848" y="2644676"/>
            <a:ext cx="5893103" cy="3854648"/>
          </a:xfrm>
          <a:prstGeom prst="rect">
            <a:avLst/>
          </a:prstGeom>
        </p:spPr>
      </p:pic>
    </p:spTree>
    <p:extLst>
      <p:ext uri="{BB962C8B-B14F-4D97-AF65-F5344CB8AC3E}">
        <p14:creationId xmlns:p14="http://schemas.microsoft.com/office/powerpoint/2010/main" val="17811201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73910D-6D29-8762-4D3E-685ADFBA50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940353-5ABC-399E-78A4-510080597C8F}"/>
              </a:ext>
            </a:extLst>
          </p:cNvPr>
          <p:cNvSpPr>
            <a:spLocks noGrp="1"/>
          </p:cNvSpPr>
          <p:nvPr>
            <p:ph type="title"/>
          </p:nvPr>
        </p:nvSpPr>
        <p:spPr/>
        <p:txBody>
          <a:bodyPr>
            <a:noAutofit/>
          </a:bodyPr>
          <a:lstStyle/>
          <a:p>
            <a:r>
              <a:rPr lang="en-US" sz="3600"/>
              <a:t>ỨNG DỤNG THREAD TRONG SERVER</a:t>
            </a:r>
            <a:endParaRPr lang="en-US" sz="3400"/>
          </a:p>
        </p:txBody>
      </p:sp>
      <p:sp>
        <p:nvSpPr>
          <p:cNvPr id="3" name="Content Placeholder 2">
            <a:extLst>
              <a:ext uri="{FF2B5EF4-FFF2-40B4-BE49-F238E27FC236}">
                <a16:creationId xmlns:a16="http://schemas.microsoft.com/office/drawing/2014/main" id="{F453D592-471D-3644-B570-3A318D029E5E}"/>
              </a:ext>
            </a:extLst>
          </p:cNvPr>
          <p:cNvSpPr>
            <a:spLocks noGrp="1"/>
          </p:cNvSpPr>
          <p:nvPr>
            <p:ph idx="1"/>
          </p:nvPr>
        </p:nvSpPr>
        <p:spPr/>
        <p:txBody>
          <a:bodyPr>
            <a:normAutofit/>
          </a:bodyPr>
          <a:lstStyle/>
          <a:p>
            <a:r>
              <a:rPr lang="en-US"/>
              <a:t>Tạo một Thread Server</a:t>
            </a:r>
            <a:r>
              <a:rPr lang="en-US" sz="2400"/>
              <a:t> </a:t>
            </a:r>
          </a:p>
          <a:p>
            <a:pPr lvl="1"/>
            <a:r>
              <a:rPr lang="vi-VN" sz="2600"/>
              <a:t>Khi phương thức </a:t>
            </a:r>
            <a:r>
              <a:rPr lang="vi-VN" sz="2600" b="1"/>
              <a:t>Accept()</a:t>
            </a:r>
            <a:r>
              <a:rPr lang="vi-VN" sz="2600"/>
              <a:t> được gọi trong </a:t>
            </a:r>
            <a:r>
              <a:rPr lang="vi-VN" sz="2600" b="1"/>
              <a:t>Server</a:t>
            </a:r>
            <a:r>
              <a:rPr lang="vi-VN" sz="2600"/>
              <a:t>, nó sẽ tạo ra một đối tượng </a:t>
            </a:r>
            <a:r>
              <a:rPr lang="vi-VN" sz="2600" b="1"/>
              <a:t>socket</a:t>
            </a:r>
            <a:r>
              <a:rPr lang="vi-VN" sz="2600"/>
              <a:t> mới cho kết nối đó.</a:t>
            </a:r>
            <a:endParaRPr lang="en-US" sz="2600"/>
          </a:p>
          <a:p>
            <a:pPr lvl="1"/>
            <a:r>
              <a:rPr lang="vi-VN" sz="2600"/>
              <a:t>Đối tượng này sau đó sẽ được truyền đến phương thức ủy thác của </a:t>
            </a:r>
            <a:r>
              <a:rPr lang="vi-VN" sz="2600" b="1"/>
              <a:t>thread</a:t>
            </a:r>
            <a:r>
              <a:rPr lang="vi-VN" sz="2600"/>
              <a:t> và sử dụng </a:t>
            </a:r>
            <a:r>
              <a:rPr lang="vi-VN" sz="2600" b="1"/>
              <a:t>thread</a:t>
            </a:r>
            <a:r>
              <a:rPr lang="vi-VN" sz="2600"/>
              <a:t> đó để trao đổi dữ liệu với </a:t>
            </a:r>
            <a:r>
              <a:rPr lang="vi-VN" sz="2600" b="1"/>
              <a:t>Client</a:t>
            </a:r>
            <a:r>
              <a:rPr lang="vi-VN" sz="2600"/>
              <a:t>.</a:t>
            </a:r>
            <a:br>
              <a:rPr lang="en-US" sz="2000"/>
            </a:br>
            <a:endParaRPr lang="en-US" sz="1800">
              <a:solidFill>
                <a:schemeClr val="accent4"/>
              </a:solidFill>
            </a:endParaRPr>
          </a:p>
        </p:txBody>
      </p:sp>
    </p:spTree>
    <p:extLst>
      <p:ext uri="{BB962C8B-B14F-4D97-AF65-F5344CB8AC3E}">
        <p14:creationId xmlns:p14="http://schemas.microsoft.com/office/powerpoint/2010/main" val="39542382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DF1C01-BCA7-055E-AA55-ED86BF46FC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4A0C01-94C4-AF9C-762A-8924F81C984B}"/>
              </a:ext>
            </a:extLst>
          </p:cNvPr>
          <p:cNvSpPr>
            <a:spLocks noGrp="1"/>
          </p:cNvSpPr>
          <p:nvPr>
            <p:ph type="title"/>
          </p:nvPr>
        </p:nvSpPr>
        <p:spPr/>
        <p:txBody>
          <a:bodyPr>
            <a:noAutofit/>
          </a:bodyPr>
          <a:lstStyle/>
          <a:p>
            <a:r>
              <a:rPr lang="en-US" sz="3600"/>
              <a:t>SỬ DỤNG THREAD CHO VIỆC TRUYỀN VÀ NHẬN DỮ LIỆU</a:t>
            </a:r>
            <a:endParaRPr lang="en-US" sz="3400"/>
          </a:p>
        </p:txBody>
      </p:sp>
      <p:sp>
        <p:nvSpPr>
          <p:cNvPr id="3" name="Content Placeholder 2">
            <a:extLst>
              <a:ext uri="{FF2B5EF4-FFF2-40B4-BE49-F238E27FC236}">
                <a16:creationId xmlns:a16="http://schemas.microsoft.com/office/drawing/2014/main" id="{33965FA8-3921-3BD1-0CE2-AF35A17E4B3E}"/>
              </a:ext>
            </a:extLst>
          </p:cNvPr>
          <p:cNvSpPr>
            <a:spLocks noGrp="1"/>
          </p:cNvSpPr>
          <p:nvPr>
            <p:ph idx="1"/>
          </p:nvPr>
        </p:nvSpPr>
        <p:spPr/>
        <p:txBody>
          <a:bodyPr>
            <a:normAutofit/>
          </a:bodyPr>
          <a:lstStyle/>
          <a:p>
            <a:r>
              <a:rPr lang="vi-VN"/>
              <a:t>Cùng với sự hỗ trợ cho việc kết nối nhiều Client, thread cũng có thể được sử dụng khi mà không có một mô hình giao thức rõ ràng nào được sử dụng.</a:t>
            </a:r>
            <a:endParaRPr lang="en-US"/>
          </a:p>
          <a:p>
            <a:r>
              <a:rPr lang="vi-VN"/>
              <a:t>Một vấn đề là trong các ví dụ trước chúng ta đều biết rằng cả Client và Server biết chính xác khi nào chúng sẽ nhận và truyền dữ liệu.</a:t>
            </a:r>
            <a:endParaRPr lang="en-US" sz="2400"/>
          </a:p>
        </p:txBody>
      </p:sp>
    </p:spTree>
    <p:extLst>
      <p:ext uri="{BB962C8B-B14F-4D97-AF65-F5344CB8AC3E}">
        <p14:creationId xmlns:p14="http://schemas.microsoft.com/office/powerpoint/2010/main" val="31851017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D97A9E-D3A8-391D-47C3-BEF0374DA3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509AC8-F59B-4325-6C62-945922EF4863}"/>
              </a:ext>
            </a:extLst>
          </p:cNvPr>
          <p:cNvSpPr>
            <a:spLocks noGrp="1"/>
          </p:cNvSpPr>
          <p:nvPr>
            <p:ph type="title"/>
          </p:nvPr>
        </p:nvSpPr>
        <p:spPr/>
        <p:txBody>
          <a:bodyPr>
            <a:noAutofit/>
          </a:bodyPr>
          <a:lstStyle/>
          <a:p>
            <a:r>
              <a:rPr lang="en-US" sz="3600"/>
              <a:t>SỬ DỤNG THREAD CHO VIỆC TRUYỀN VÀ NHẬN DỮ LIỆU</a:t>
            </a:r>
            <a:endParaRPr lang="en-US" sz="3400"/>
          </a:p>
        </p:txBody>
      </p:sp>
      <p:sp>
        <p:nvSpPr>
          <p:cNvPr id="3" name="Content Placeholder 2">
            <a:extLst>
              <a:ext uri="{FF2B5EF4-FFF2-40B4-BE49-F238E27FC236}">
                <a16:creationId xmlns:a16="http://schemas.microsoft.com/office/drawing/2014/main" id="{6DB66510-B7C3-7254-DEEF-839004D591FE}"/>
              </a:ext>
            </a:extLst>
          </p:cNvPr>
          <p:cNvSpPr>
            <a:spLocks noGrp="1"/>
          </p:cNvSpPr>
          <p:nvPr>
            <p:ph idx="1"/>
          </p:nvPr>
        </p:nvSpPr>
        <p:spPr/>
        <p:txBody>
          <a:bodyPr>
            <a:normAutofit/>
          </a:bodyPr>
          <a:lstStyle/>
          <a:p>
            <a:r>
              <a:rPr lang="vi-VN"/>
              <a:t>Tuy nhiên, điều này là không đúng trong các ứng dụng thực tế.</a:t>
            </a:r>
            <a:endParaRPr lang="en-US"/>
          </a:p>
          <a:p>
            <a:r>
              <a:rPr lang="vi-VN"/>
              <a:t>Chẳng hạn như trong một chương trình chat, bên nhận sẽ không biết chính xác khi nào bên gửi sẽ gửi dữ liệu.</a:t>
            </a:r>
            <a:endParaRPr lang="en-US" sz="2400"/>
          </a:p>
        </p:txBody>
      </p:sp>
    </p:spTree>
    <p:extLst>
      <p:ext uri="{BB962C8B-B14F-4D97-AF65-F5344CB8AC3E}">
        <p14:creationId xmlns:p14="http://schemas.microsoft.com/office/powerpoint/2010/main" val="35956284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E3FD2E-44E0-73D1-4F2F-263ACA7DDE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8EABCC-6DEB-C0E3-DE54-92F3F9FF2091}"/>
              </a:ext>
            </a:extLst>
          </p:cNvPr>
          <p:cNvSpPr>
            <a:spLocks noGrp="1"/>
          </p:cNvSpPr>
          <p:nvPr>
            <p:ph type="title"/>
          </p:nvPr>
        </p:nvSpPr>
        <p:spPr/>
        <p:txBody>
          <a:bodyPr>
            <a:noAutofit/>
          </a:bodyPr>
          <a:lstStyle/>
          <a:p>
            <a:r>
              <a:rPr lang="en-US" sz="3600"/>
              <a:t>SỬ DỤNG THREAD CHO VIỆC TRUYỀN VÀ NHẬN DỮ LIỆU</a:t>
            </a:r>
            <a:endParaRPr lang="en-US" sz="3400"/>
          </a:p>
        </p:txBody>
      </p:sp>
      <p:sp>
        <p:nvSpPr>
          <p:cNvPr id="3" name="Content Placeholder 2">
            <a:extLst>
              <a:ext uri="{FF2B5EF4-FFF2-40B4-BE49-F238E27FC236}">
                <a16:creationId xmlns:a16="http://schemas.microsoft.com/office/drawing/2014/main" id="{29F88AA1-40D4-3DDD-05C0-524E70D3C944}"/>
              </a:ext>
            </a:extLst>
          </p:cNvPr>
          <p:cNvSpPr>
            <a:spLocks noGrp="1"/>
          </p:cNvSpPr>
          <p:nvPr>
            <p:ph idx="1"/>
          </p:nvPr>
        </p:nvSpPr>
        <p:spPr/>
        <p:txBody>
          <a:bodyPr>
            <a:normAutofit/>
          </a:bodyPr>
          <a:lstStyle/>
          <a:p>
            <a:r>
              <a:rPr lang="vi-VN"/>
              <a:t>Để giải quyết vấn đề này, ta cần sử dụng </a:t>
            </a:r>
            <a:r>
              <a:rPr lang="vi-VN" b="1"/>
              <a:t>Thread</a:t>
            </a:r>
            <a:r>
              <a:rPr lang="vi-VN"/>
              <a:t> bằng cách tạo ra một </a:t>
            </a:r>
            <a:r>
              <a:rPr lang="vi-VN" b="1"/>
              <a:t>thread thứ cấp</a:t>
            </a:r>
            <a:r>
              <a:rPr lang="vi-VN"/>
              <a:t> chuyên để xử lý việc gửi và nhận dữ liệu.</a:t>
            </a:r>
            <a:endParaRPr lang="en-US"/>
          </a:p>
          <a:p>
            <a:r>
              <a:rPr lang="vi-VN"/>
              <a:t>Cách này giúp đảm bảo rằng quá trình gửi và nhận dữ liệu diễn ra liên tục và không bị gián đoạn, đồng thời mỗi thread có thể xử lý các tác vụ riêng biệt mà không ảnh hưởng đến các hoạt động khác của chương trình.</a:t>
            </a:r>
            <a:endParaRPr lang="en-US" sz="2400"/>
          </a:p>
        </p:txBody>
      </p:sp>
    </p:spTree>
    <p:extLst>
      <p:ext uri="{BB962C8B-B14F-4D97-AF65-F5344CB8AC3E}">
        <p14:creationId xmlns:p14="http://schemas.microsoft.com/office/powerpoint/2010/main" val="27027543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1A39CD-E4EB-E5CC-0565-2C5CEE6912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B82F82-B077-D65C-6921-F12D61DBE854}"/>
              </a:ext>
            </a:extLst>
          </p:cNvPr>
          <p:cNvSpPr>
            <a:spLocks noGrp="1"/>
          </p:cNvSpPr>
          <p:nvPr>
            <p:ph type="title"/>
          </p:nvPr>
        </p:nvSpPr>
        <p:spPr/>
        <p:txBody>
          <a:bodyPr>
            <a:noAutofit/>
          </a:bodyPr>
          <a:lstStyle/>
          <a:p>
            <a:r>
              <a:rPr lang="en-US" sz="3600"/>
              <a:t>SỬ DỤNG THREAD CHO VIỆC TRUYỀN VÀ NHẬN DỮ LIỆU</a:t>
            </a:r>
            <a:endParaRPr lang="en-US" sz="3400"/>
          </a:p>
        </p:txBody>
      </p:sp>
      <p:sp>
        <p:nvSpPr>
          <p:cNvPr id="3" name="Content Placeholder 2">
            <a:extLst>
              <a:ext uri="{FF2B5EF4-FFF2-40B4-BE49-F238E27FC236}">
                <a16:creationId xmlns:a16="http://schemas.microsoft.com/office/drawing/2014/main" id="{5C10F2E0-2C98-1D58-2004-34B7CA3E0288}"/>
              </a:ext>
            </a:extLst>
          </p:cNvPr>
          <p:cNvSpPr>
            <a:spLocks noGrp="1"/>
          </p:cNvSpPr>
          <p:nvPr>
            <p:ph idx="1"/>
          </p:nvPr>
        </p:nvSpPr>
        <p:spPr/>
        <p:txBody>
          <a:bodyPr>
            <a:normAutofit/>
          </a:bodyPr>
          <a:lstStyle/>
          <a:p>
            <a:r>
              <a:rPr lang="en-US"/>
              <a:t>Sơ đồ sử dụng thread cho chương trình chat </a:t>
            </a:r>
          </a:p>
          <a:p>
            <a:endParaRPr lang="en-US" sz="2400"/>
          </a:p>
        </p:txBody>
      </p:sp>
      <p:pic>
        <p:nvPicPr>
          <p:cNvPr id="5" name="Picture 4">
            <a:extLst>
              <a:ext uri="{FF2B5EF4-FFF2-40B4-BE49-F238E27FC236}">
                <a16:creationId xmlns:a16="http://schemas.microsoft.com/office/drawing/2014/main" id="{1477408E-DE4A-7C7E-A398-5543E55B0205}"/>
              </a:ext>
            </a:extLst>
          </p:cNvPr>
          <p:cNvPicPr>
            <a:picLocks noChangeAspect="1"/>
          </p:cNvPicPr>
          <p:nvPr/>
        </p:nvPicPr>
        <p:blipFill>
          <a:blip r:embed="rId2"/>
          <a:stretch>
            <a:fillRect/>
          </a:stretch>
        </p:blipFill>
        <p:spPr>
          <a:xfrm>
            <a:off x="3080268" y="2590800"/>
            <a:ext cx="6031464" cy="3987799"/>
          </a:xfrm>
          <a:prstGeom prst="rect">
            <a:avLst/>
          </a:prstGeom>
        </p:spPr>
      </p:pic>
    </p:spTree>
    <p:extLst>
      <p:ext uri="{BB962C8B-B14F-4D97-AF65-F5344CB8AC3E}">
        <p14:creationId xmlns:p14="http://schemas.microsoft.com/office/powerpoint/2010/main" val="36648006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EE0910-B6EF-0202-B3F3-60C7EA17A2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13E4B2-522F-54F4-4E97-77204D5C2595}"/>
              </a:ext>
            </a:extLst>
          </p:cNvPr>
          <p:cNvSpPr>
            <a:spLocks noGrp="1"/>
          </p:cNvSpPr>
          <p:nvPr>
            <p:ph type="title"/>
          </p:nvPr>
        </p:nvSpPr>
        <p:spPr/>
        <p:txBody>
          <a:bodyPr>
            <a:noAutofit/>
          </a:bodyPr>
          <a:lstStyle/>
          <a:p>
            <a:r>
              <a:rPr lang="en-US" sz="3600"/>
              <a:t>SỬ DỤNG THREAD CHO VIỆC TRUYỀN VÀ NHẬN DỮ LIỆU</a:t>
            </a:r>
            <a:endParaRPr lang="en-US" sz="3400"/>
          </a:p>
        </p:txBody>
      </p:sp>
      <p:sp>
        <p:nvSpPr>
          <p:cNvPr id="3" name="Content Placeholder 2">
            <a:extLst>
              <a:ext uri="{FF2B5EF4-FFF2-40B4-BE49-F238E27FC236}">
                <a16:creationId xmlns:a16="http://schemas.microsoft.com/office/drawing/2014/main" id="{3D3D33FA-D994-61C7-FC04-91A2F140EF97}"/>
              </a:ext>
            </a:extLst>
          </p:cNvPr>
          <p:cNvSpPr>
            <a:spLocks noGrp="1"/>
          </p:cNvSpPr>
          <p:nvPr>
            <p:ph idx="1"/>
          </p:nvPr>
        </p:nvSpPr>
        <p:spPr>
          <a:xfrm>
            <a:off x="838200" y="1825625"/>
            <a:ext cx="10515600" cy="4351338"/>
          </a:xfrm>
        </p:spPr>
        <p:txBody>
          <a:bodyPr>
            <a:normAutofit/>
          </a:bodyPr>
          <a:lstStyle/>
          <a:p>
            <a:r>
              <a:rPr lang="en-US">
                <a:hlinkClick r:id="rId2" action="ppaction://hlinkfile"/>
              </a:rPr>
              <a:t>Sơ đồ sử dụng thread cho chương trình chat (Code)</a:t>
            </a:r>
            <a:endParaRPr lang="en-US"/>
          </a:p>
        </p:txBody>
      </p:sp>
    </p:spTree>
    <p:extLst>
      <p:ext uri="{BB962C8B-B14F-4D97-AF65-F5344CB8AC3E}">
        <p14:creationId xmlns:p14="http://schemas.microsoft.com/office/powerpoint/2010/main" val="13264101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EA450C-37CD-80C1-E8D6-E832A74EFE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94F8B9-BEB3-F318-BE6D-50D4E2AFFF0F}"/>
              </a:ext>
            </a:extLst>
          </p:cNvPr>
          <p:cNvSpPr>
            <a:spLocks noGrp="1"/>
          </p:cNvSpPr>
          <p:nvPr>
            <p:ph type="title"/>
          </p:nvPr>
        </p:nvSpPr>
        <p:spPr/>
        <p:txBody>
          <a:bodyPr>
            <a:noAutofit/>
          </a:bodyPr>
          <a:lstStyle/>
          <a:p>
            <a:r>
              <a:rPr lang="en-US" sz="3600"/>
              <a:t>THREAD POOL</a:t>
            </a:r>
            <a:endParaRPr lang="en-US" sz="3400"/>
          </a:p>
        </p:txBody>
      </p:sp>
      <p:sp>
        <p:nvSpPr>
          <p:cNvPr id="3" name="Content Placeholder 2">
            <a:extLst>
              <a:ext uri="{FF2B5EF4-FFF2-40B4-BE49-F238E27FC236}">
                <a16:creationId xmlns:a16="http://schemas.microsoft.com/office/drawing/2014/main" id="{B73440C7-C27B-350D-B1AE-B8E56D013484}"/>
              </a:ext>
            </a:extLst>
          </p:cNvPr>
          <p:cNvSpPr>
            <a:spLocks noGrp="1"/>
          </p:cNvSpPr>
          <p:nvPr>
            <p:ph idx="1"/>
          </p:nvPr>
        </p:nvSpPr>
        <p:spPr>
          <a:xfrm>
            <a:off x="838200" y="1825625"/>
            <a:ext cx="10515600" cy="4351338"/>
          </a:xfrm>
        </p:spPr>
        <p:txBody>
          <a:bodyPr>
            <a:normAutofit/>
          </a:bodyPr>
          <a:lstStyle/>
          <a:p>
            <a:r>
              <a:rPr lang="vi-VN"/>
              <a:t>Việc tạo ra nhiều thread mỗi khi có một kết nối đến sẽ làm chậm thời gian thực hiện của chương trình.</a:t>
            </a:r>
          </a:p>
          <a:p>
            <a:r>
              <a:rPr lang="vi-VN"/>
              <a:t>Để khắc phục tình trạng này, ta sử dụng Thread Pool.</a:t>
            </a:r>
          </a:p>
          <a:p>
            <a:endParaRPr lang="en-US"/>
          </a:p>
        </p:txBody>
      </p:sp>
    </p:spTree>
    <p:extLst>
      <p:ext uri="{BB962C8B-B14F-4D97-AF65-F5344CB8AC3E}">
        <p14:creationId xmlns:p14="http://schemas.microsoft.com/office/powerpoint/2010/main" val="20646827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B84964-7515-3F97-CFBD-9686D2B8AF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C5CE0A-B0E1-D520-A5D1-970F91F0EFAB}"/>
              </a:ext>
            </a:extLst>
          </p:cNvPr>
          <p:cNvSpPr>
            <a:spLocks noGrp="1"/>
          </p:cNvSpPr>
          <p:nvPr>
            <p:ph type="title"/>
          </p:nvPr>
        </p:nvSpPr>
        <p:spPr/>
        <p:txBody>
          <a:bodyPr>
            <a:noAutofit/>
          </a:bodyPr>
          <a:lstStyle/>
          <a:p>
            <a:r>
              <a:rPr lang="en-US" sz="3600"/>
              <a:t>THREAD POOL</a:t>
            </a:r>
            <a:endParaRPr lang="en-US" sz="3400"/>
          </a:p>
        </p:txBody>
      </p:sp>
      <p:sp>
        <p:nvSpPr>
          <p:cNvPr id="3" name="Content Placeholder 2">
            <a:extLst>
              <a:ext uri="{FF2B5EF4-FFF2-40B4-BE49-F238E27FC236}">
                <a16:creationId xmlns:a16="http://schemas.microsoft.com/office/drawing/2014/main" id="{A3C33F3E-969D-3B30-2B5E-111518BDC001}"/>
              </a:ext>
            </a:extLst>
          </p:cNvPr>
          <p:cNvSpPr>
            <a:spLocks noGrp="1"/>
          </p:cNvSpPr>
          <p:nvPr>
            <p:ph idx="1"/>
          </p:nvPr>
        </p:nvSpPr>
        <p:spPr>
          <a:xfrm>
            <a:off x="838200" y="1825625"/>
            <a:ext cx="10515600" cy="4351338"/>
          </a:xfrm>
        </p:spPr>
        <p:txBody>
          <a:bodyPr>
            <a:normAutofit/>
          </a:bodyPr>
          <a:lstStyle/>
          <a:p>
            <a:r>
              <a:rPr lang="vi-VN"/>
              <a:t>Lớp </a:t>
            </a:r>
            <a:r>
              <a:rPr lang="vi-VN" b="1"/>
              <a:t>ThreadPool</a:t>
            </a:r>
            <a:endParaRPr lang="en-US"/>
          </a:p>
          <a:p>
            <a:pPr lvl="1"/>
            <a:r>
              <a:rPr lang="vi-VN" sz="2600"/>
              <a:t>Lớp </a:t>
            </a:r>
            <a:r>
              <a:rPr lang="vi-VN" sz="2600" b="1"/>
              <a:t>ThreadPool</a:t>
            </a:r>
            <a:r>
              <a:rPr lang="vi-VN" sz="2600"/>
              <a:t> được chứa trong </a:t>
            </a:r>
            <a:r>
              <a:rPr lang="vi-VN" sz="2600" b="1"/>
              <a:t>namespace System.Threading</a:t>
            </a:r>
            <a:r>
              <a:rPr lang="vi-VN" sz="2600"/>
              <a:t>.</a:t>
            </a:r>
            <a:endParaRPr lang="en-US" sz="2600"/>
          </a:p>
          <a:p>
            <a:pPr lvl="1"/>
            <a:r>
              <a:rPr lang="vi-VN" sz="2600"/>
              <a:t>Lớp </a:t>
            </a:r>
            <a:r>
              <a:rPr lang="vi-VN" sz="2600" b="1"/>
              <a:t>ThreadPool</a:t>
            </a:r>
            <a:r>
              <a:rPr lang="vi-VN" sz="2600"/>
              <a:t> gán một ủy thác (delegate) tới các thread trong </a:t>
            </a:r>
            <a:r>
              <a:rPr lang="vi-VN" sz="2600" b="1"/>
              <a:t>thread pool</a:t>
            </a:r>
            <a:r>
              <a:rPr lang="vi-VN" sz="2600"/>
              <a:t>.</a:t>
            </a:r>
            <a:endParaRPr lang="en-US" sz="2600"/>
          </a:p>
          <a:p>
            <a:pPr lvl="1"/>
            <a:r>
              <a:rPr lang="vi-VN" sz="2600"/>
              <a:t>Tất cả các phương thức trong lớp </a:t>
            </a:r>
            <a:r>
              <a:rPr lang="vi-VN" sz="2600" b="1"/>
              <a:t>ThreadPool</a:t>
            </a:r>
            <a:r>
              <a:rPr lang="vi-VN" sz="2600"/>
              <a:t> là phương thức tĩnh, vì vậy hàm tạo (constructor) không bao giờ được sử dụng.</a:t>
            </a:r>
            <a:endParaRPr lang="en-US" sz="2600"/>
          </a:p>
        </p:txBody>
      </p:sp>
    </p:spTree>
    <p:extLst>
      <p:ext uri="{BB962C8B-B14F-4D97-AF65-F5344CB8AC3E}">
        <p14:creationId xmlns:p14="http://schemas.microsoft.com/office/powerpoint/2010/main" val="17072001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BAEDD3-AE5D-927D-4E15-7C1E829132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69CFA0-BB0E-8983-8B13-EEB17569E28A}"/>
              </a:ext>
            </a:extLst>
          </p:cNvPr>
          <p:cNvSpPr>
            <a:spLocks noGrp="1"/>
          </p:cNvSpPr>
          <p:nvPr>
            <p:ph type="title"/>
          </p:nvPr>
        </p:nvSpPr>
        <p:spPr/>
        <p:txBody>
          <a:bodyPr>
            <a:noAutofit/>
          </a:bodyPr>
          <a:lstStyle/>
          <a:p>
            <a:r>
              <a:rPr lang="en-US" sz="3600"/>
              <a:t>THREAD POOL</a:t>
            </a:r>
            <a:endParaRPr lang="en-US" sz="3400"/>
          </a:p>
        </p:txBody>
      </p:sp>
      <p:sp>
        <p:nvSpPr>
          <p:cNvPr id="3" name="Content Placeholder 2">
            <a:extLst>
              <a:ext uri="{FF2B5EF4-FFF2-40B4-BE49-F238E27FC236}">
                <a16:creationId xmlns:a16="http://schemas.microsoft.com/office/drawing/2014/main" id="{0886AE38-7074-AD25-1D16-E28494D5DDC0}"/>
              </a:ext>
            </a:extLst>
          </p:cNvPr>
          <p:cNvSpPr>
            <a:spLocks noGrp="1"/>
          </p:cNvSpPr>
          <p:nvPr>
            <p:ph idx="1"/>
          </p:nvPr>
        </p:nvSpPr>
        <p:spPr>
          <a:xfrm>
            <a:off x="838200" y="1825625"/>
            <a:ext cx="10515600" cy="4351338"/>
          </a:xfrm>
        </p:spPr>
        <p:txBody>
          <a:bodyPr>
            <a:normAutofit/>
          </a:bodyPr>
          <a:lstStyle/>
          <a:p>
            <a:r>
              <a:rPr lang="en-US"/>
              <a:t>Các phương thức trong lớp ThreadPool</a:t>
            </a:r>
          </a:p>
          <a:p>
            <a:endParaRPr lang="en-US" sz="2600"/>
          </a:p>
        </p:txBody>
      </p:sp>
      <p:pic>
        <p:nvPicPr>
          <p:cNvPr id="5" name="Picture 4">
            <a:extLst>
              <a:ext uri="{FF2B5EF4-FFF2-40B4-BE49-F238E27FC236}">
                <a16:creationId xmlns:a16="http://schemas.microsoft.com/office/drawing/2014/main" id="{96087572-E8AF-0F6B-F1C7-B076A3E5FE23}"/>
              </a:ext>
            </a:extLst>
          </p:cNvPr>
          <p:cNvPicPr>
            <a:picLocks noChangeAspect="1"/>
          </p:cNvPicPr>
          <p:nvPr/>
        </p:nvPicPr>
        <p:blipFill>
          <a:blip r:embed="rId2"/>
          <a:stretch>
            <a:fillRect/>
          </a:stretch>
        </p:blipFill>
        <p:spPr>
          <a:xfrm>
            <a:off x="2197016" y="2451100"/>
            <a:ext cx="7797967" cy="4210834"/>
          </a:xfrm>
          <a:prstGeom prst="rect">
            <a:avLst/>
          </a:prstGeom>
        </p:spPr>
      </p:pic>
    </p:spTree>
    <p:extLst>
      <p:ext uri="{BB962C8B-B14F-4D97-AF65-F5344CB8AC3E}">
        <p14:creationId xmlns:p14="http://schemas.microsoft.com/office/powerpoint/2010/main" val="22547456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BF6323-720B-1C2C-C5D3-CFF12EDF4B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FDB591-292F-3835-B133-3A50E6E64719}"/>
              </a:ext>
            </a:extLst>
          </p:cNvPr>
          <p:cNvSpPr>
            <a:spLocks noGrp="1"/>
          </p:cNvSpPr>
          <p:nvPr>
            <p:ph type="title"/>
          </p:nvPr>
        </p:nvSpPr>
        <p:spPr/>
        <p:txBody>
          <a:bodyPr>
            <a:noAutofit/>
          </a:bodyPr>
          <a:lstStyle/>
          <a:p>
            <a:r>
              <a:rPr lang="en-US" sz="3600"/>
              <a:t>THREAD POOL</a:t>
            </a:r>
            <a:endParaRPr lang="en-US" sz="3400"/>
          </a:p>
        </p:txBody>
      </p:sp>
      <p:sp>
        <p:nvSpPr>
          <p:cNvPr id="3" name="Content Placeholder 2">
            <a:extLst>
              <a:ext uri="{FF2B5EF4-FFF2-40B4-BE49-F238E27FC236}">
                <a16:creationId xmlns:a16="http://schemas.microsoft.com/office/drawing/2014/main" id="{82040A43-559E-1A38-02C1-3565F5272C0D}"/>
              </a:ext>
            </a:extLst>
          </p:cNvPr>
          <p:cNvSpPr>
            <a:spLocks noGrp="1"/>
          </p:cNvSpPr>
          <p:nvPr>
            <p:ph idx="1"/>
          </p:nvPr>
        </p:nvSpPr>
        <p:spPr>
          <a:xfrm>
            <a:off x="838200" y="1825625"/>
            <a:ext cx="10515600" cy="4351338"/>
          </a:xfrm>
        </p:spPr>
        <p:txBody>
          <a:bodyPr>
            <a:normAutofit/>
          </a:bodyPr>
          <a:lstStyle/>
          <a:p>
            <a:r>
              <a:rPr lang="vi-VN"/>
              <a:t>Đăng ký</a:t>
            </a:r>
          </a:p>
          <a:p>
            <a:pPr lvl="1"/>
            <a:r>
              <a:rPr lang="vi-VN" sz="2600"/>
              <a:t>Để đăng ký một ủy quyền cho việc sử dụng các thread trong thread pool ta dùng cú pháp sau:</a:t>
            </a:r>
          </a:p>
          <a:p>
            <a:pPr marL="457200" lvl="1" indent="0" algn="ctr">
              <a:buNone/>
            </a:pPr>
            <a:r>
              <a:rPr lang="vi-VN" sz="2600"/>
              <a:t>ThreadPool.QueueUserWorkItem(new WaitCallback(Counter));</a:t>
            </a:r>
          </a:p>
          <a:p>
            <a:pPr lvl="1"/>
            <a:r>
              <a:rPr lang="vi-VN" sz="2600"/>
              <a:t>Biến `Counter` là ủy thác của phương thức chạy trong thread.</a:t>
            </a:r>
          </a:p>
          <a:p>
            <a:endParaRPr lang="en-US" sz="2600"/>
          </a:p>
        </p:txBody>
      </p:sp>
    </p:spTree>
    <p:extLst>
      <p:ext uri="{BB962C8B-B14F-4D97-AF65-F5344CB8AC3E}">
        <p14:creationId xmlns:p14="http://schemas.microsoft.com/office/powerpoint/2010/main" val="3143531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053AAC-84ED-6423-FB1A-0C13D6B731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34A0DB-AE32-4D5E-4634-8792F693F104}"/>
              </a:ext>
            </a:extLst>
          </p:cNvPr>
          <p:cNvSpPr>
            <a:spLocks noGrp="1"/>
          </p:cNvSpPr>
          <p:nvPr>
            <p:ph type="title"/>
          </p:nvPr>
        </p:nvSpPr>
        <p:spPr/>
        <p:txBody>
          <a:bodyPr>
            <a:noAutofit/>
          </a:bodyPr>
          <a:lstStyle/>
          <a:p>
            <a:r>
              <a:rPr lang="en-US" sz="3600"/>
              <a:t>THREAD POOL</a:t>
            </a:r>
            <a:endParaRPr lang="en-US" sz="3400"/>
          </a:p>
        </p:txBody>
      </p:sp>
      <p:sp>
        <p:nvSpPr>
          <p:cNvPr id="3" name="Content Placeholder 2">
            <a:extLst>
              <a:ext uri="{FF2B5EF4-FFF2-40B4-BE49-F238E27FC236}">
                <a16:creationId xmlns:a16="http://schemas.microsoft.com/office/drawing/2014/main" id="{12C0E41B-731A-E21F-BD4A-91F77C4CAD9C}"/>
              </a:ext>
            </a:extLst>
          </p:cNvPr>
          <p:cNvSpPr>
            <a:spLocks noGrp="1"/>
          </p:cNvSpPr>
          <p:nvPr>
            <p:ph idx="1"/>
          </p:nvPr>
        </p:nvSpPr>
        <p:spPr>
          <a:xfrm>
            <a:off x="838200" y="1825625"/>
            <a:ext cx="10515600" cy="4351338"/>
          </a:xfrm>
        </p:spPr>
        <p:txBody>
          <a:bodyPr>
            <a:normAutofit lnSpcReduction="10000"/>
          </a:bodyPr>
          <a:lstStyle/>
          <a:p>
            <a:r>
              <a:rPr lang="en-US">
                <a:hlinkClick r:id="rId2" action="ppaction://hlinkfile"/>
              </a:rPr>
              <a:t>Ví dụ: ThreadPoolSample.cs (Code)</a:t>
            </a:r>
            <a:endParaRPr lang="en-US"/>
          </a:p>
          <a:p>
            <a:pPr lvl="1"/>
            <a:r>
              <a:rPr lang="vi-VN" sz="2600"/>
              <a:t>Khi chương trình chạy, bạn sẽ thấy thông báo:</a:t>
            </a:r>
          </a:p>
          <a:p>
            <a:pPr lvl="2"/>
            <a:r>
              <a:rPr lang="vi-VN"/>
              <a:t>"Chương trình chính bắt đầu"</a:t>
            </a:r>
          </a:p>
          <a:p>
            <a:pPr lvl="2"/>
            <a:r>
              <a:rPr lang="vi-VN"/>
              <a:t>"Chương trình chính đang làm việc khác..."</a:t>
            </a:r>
          </a:p>
          <a:p>
            <a:pPr lvl="2"/>
            <a:r>
              <a:rPr lang="vi-VN"/>
              <a:t>Sau đó, ThreadPool sẽ thực hiện công việc và in ra thông báo:</a:t>
            </a:r>
          </a:p>
          <a:p>
            <a:pPr lvl="2"/>
            <a:r>
              <a:rPr lang="vi-VN"/>
              <a:t>"Công việc bắt đầu trong ThreadPool"</a:t>
            </a:r>
          </a:p>
          <a:p>
            <a:pPr lvl="2"/>
            <a:r>
              <a:rPr lang="vi-VN"/>
              <a:t>"Thông điệp: Lời chào từ ThreadPool"</a:t>
            </a:r>
          </a:p>
          <a:p>
            <a:pPr lvl="2"/>
            <a:r>
              <a:rPr lang="vi-VN"/>
              <a:t>"Công việc hoàn thành trong ThreadPool"</a:t>
            </a:r>
          </a:p>
          <a:p>
            <a:endParaRPr lang="en-US" sz="2600"/>
          </a:p>
        </p:txBody>
      </p:sp>
    </p:spTree>
    <p:extLst>
      <p:ext uri="{BB962C8B-B14F-4D97-AF65-F5344CB8AC3E}">
        <p14:creationId xmlns:p14="http://schemas.microsoft.com/office/powerpoint/2010/main" val="4109616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E1D3A2-3F5E-2EFB-53EB-1C07B690A1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07CE70-6B2F-8A9A-441A-8D66B2554938}"/>
              </a:ext>
            </a:extLst>
          </p:cNvPr>
          <p:cNvSpPr>
            <a:spLocks noGrp="1"/>
          </p:cNvSpPr>
          <p:nvPr>
            <p:ph type="title"/>
          </p:nvPr>
        </p:nvSpPr>
        <p:spPr/>
        <p:txBody>
          <a:bodyPr>
            <a:noAutofit/>
          </a:bodyPr>
          <a:lstStyle/>
          <a:p>
            <a:r>
              <a:rPr lang="en-US" sz="3600"/>
              <a:t>THREAD POOL</a:t>
            </a:r>
            <a:endParaRPr lang="en-US" sz="3400"/>
          </a:p>
        </p:txBody>
      </p:sp>
      <p:sp>
        <p:nvSpPr>
          <p:cNvPr id="3" name="Content Placeholder 2">
            <a:extLst>
              <a:ext uri="{FF2B5EF4-FFF2-40B4-BE49-F238E27FC236}">
                <a16:creationId xmlns:a16="http://schemas.microsoft.com/office/drawing/2014/main" id="{30CC15D3-8DB1-8D5C-6493-172536554CDA}"/>
              </a:ext>
            </a:extLst>
          </p:cNvPr>
          <p:cNvSpPr>
            <a:spLocks noGrp="1"/>
          </p:cNvSpPr>
          <p:nvPr>
            <p:ph idx="1"/>
          </p:nvPr>
        </p:nvSpPr>
        <p:spPr>
          <a:xfrm>
            <a:off x="838200" y="1825625"/>
            <a:ext cx="10515600" cy="4351338"/>
          </a:xfrm>
        </p:spPr>
        <p:txBody>
          <a:bodyPr>
            <a:normAutofit/>
          </a:bodyPr>
          <a:lstStyle/>
          <a:p>
            <a:r>
              <a:rPr lang="vi-VN"/>
              <a:t>Kiểm tra kết quả:</a:t>
            </a:r>
            <a:endParaRPr lang="en-US"/>
          </a:p>
          <a:p>
            <a:pPr lvl="1"/>
            <a:r>
              <a:rPr lang="vi-VN" sz="2600"/>
              <a:t>Bạn sẽ thấy rằng mặc dù chương trình chính tiếp tục làm việc ("Chương trình chính đang làm việc khác..."), nhưng công việc trong ThreadPool vẫn được thực thi song song.</a:t>
            </a:r>
            <a:endParaRPr lang="en-US" sz="2600"/>
          </a:p>
          <a:p>
            <a:pPr lvl="1"/>
            <a:r>
              <a:rPr lang="vi-VN" sz="2600"/>
              <a:t>Sau 2 giây, thông báo "Công việc hoàn thành trong ThreadPool" sẽ xuất hiện.</a:t>
            </a:r>
            <a:endParaRPr lang="en-US" sz="2600"/>
          </a:p>
        </p:txBody>
      </p:sp>
    </p:spTree>
    <p:extLst>
      <p:ext uri="{BB962C8B-B14F-4D97-AF65-F5344CB8AC3E}">
        <p14:creationId xmlns:p14="http://schemas.microsoft.com/office/powerpoint/2010/main" val="7249694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90F155-159B-169E-ED31-53613F3D80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5100D0-613F-B263-95DA-06E761A82E87}"/>
              </a:ext>
            </a:extLst>
          </p:cNvPr>
          <p:cNvSpPr>
            <a:spLocks noGrp="1"/>
          </p:cNvSpPr>
          <p:nvPr>
            <p:ph type="title"/>
          </p:nvPr>
        </p:nvSpPr>
        <p:spPr/>
        <p:txBody>
          <a:bodyPr>
            <a:noAutofit/>
          </a:bodyPr>
          <a:lstStyle/>
          <a:p>
            <a:r>
              <a:rPr lang="en-US" sz="3600"/>
              <a:t>THREAD POOL</a:t>
            </a:r>
            <a:endParaRPr lang="en-US" sz="3400"/>
          </a:p>
        </p:txBody>
      </p:sp>
      <p:sp>
        <p:nvSpPr>
          <p:cNvPr id="3" name="Content Placeholder 2">
            <a:extLst>
              <a:ext uri="{FF2B5EF4-FFF2-40B4-BE49-F238E27FC236}">
                <a16:creationId xmlns:a16="http://schemas.microsoft.com/office/drawing/2014/main" id="{2E135C0F-D9EA-C299-84D9-F24FA66EDC0F}"/>
              </a:ext>
            </a:extLst>
          </p:cNvPr>
          <p:cNvSpPr>
            <a:spLocks noGrp="1"/>
          </p:cNvSpPr>
          <p:nvPr>
            <p:ph idx="1"/>
          </p:nvPr>
        </p:nvSpPr>
        <p:spPr>
          <a:xfrm>
            <a:off x="838200" y="1825625"/>
            <a:ext cx="10515600" cy="4351338"/>
          </a:xfrm>
        </p:spPr>
        <p:txBody>
          <a:bodyPr>
            <a:normAutofit/>
          </a:bodyPr>
          <a:lstStyle/>
          <a:p>
            <a:r>
              <a:rPr lang="vi-VN" b="1"/>
              <a:t>Sử dụng ThreadPool trong Server</a:t>
            </a:r>
            <a:endParaRPr lang="vi-VN"/>
          </a:p>
          <a:p>
            <a:pPr lvl="1"/>
            <a:r>
              <a:rPr lang="vi-VN" sz="2600"/>
              <a:t>Đối với các server có ít client kết nối đến cùng một lúc (&lt;25), ta có thể sử dụng ThreadPool để phục vụ cho các client thay vì sử dụng thread riêng biệt.</a:t>
            </a:r>
          </a:p>
          <a:p>
            <a:pPr lvl="1"/>
            <a:r>
              <a:rPr lang="vi-VN" sz="2600"/>
              <a:t>Mỗi client sẽ được gán một item và được xử lý bởi một thread trong ThreadPool.</a:t>
            </a:r>
          </a:p>
        </p:txBody>
      </p:sp>
    </p:spTree>
    <p:extLst>
      <p:ext uri="{BB962C8B-B14F-4D97-AF65-F5344CB8AC3E}">
        <p14:creationId xmlns:p14="http://schemas.microsoft.com/office/powerpoint/2010/main" val="405341630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7072DD-D71F-B2FF-0315-FA022D6736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19164C-40CF-D13C-F7A5-04B47820B7E4}"/>
              </a:ext>
            </a:extLst>
          </p:cNvPr>
          <p:cNvSpPr>
            <a:spLocks noGrp="1"/>
          </p:cNvSpPr>
          <p:nvPr>
            <p:ph type="title"/>
          </p:nvPr>
        </p:nvSpPr>
        <p:spPr/>
        <p:txBody>
          <a:bodyPr>
            <a:noAutofit/>
          </a:bodyPr>
          <a:lstStyle/>
          <a:p>
            <a:r>
              <a:rPr lang="en-US" sz="3600"/>
              <a:t>THREAD POOL</a:t>
            </a:r>
            <a:endParaRPr lang="en-US" sz="3400"/>
          </a:p>
        </p:txBody>
      </p:sp>
      <p:sp>
        <p:nvSpPr>
          <p:cNvPr id="3" name="Content Placeholder 2">
            <a:extLst>
              <a:ext uri="{FF2B5EF4-FFF2-40B4-BE49-F238E27FC236}">
                <a16:creationId xmlns:a16="http://schemas.microsoft.com/office/drawing/2014/main" id="{C29109DA-45F4-BCC3-2B26-EA40DC509AD6}"/>
              </a:ext>
            </a:extLst>
          </p:cNvPr>
          <p:cNvSpPr>
            <a:spLocks noGrp="1"/>
          </p:cNvSpPr>
          <p:nvPr>
            <p:ph idx="1"/>
          </p:nvPr>
        </p:nvSpPr>
        <p:spPr>
          <a:xfrm>
            <a:off x="838200" y="1825625"/>
            <a:ext cx="10515600" cy="4351338"/>
          </a:xfrm>
        </p:spPr>
        <p:txBody>
          <a:bodyPr>
            <a:normAutofit/>
          </a:bodyPr>
          <a:lstStyle/>
          <a:p>
            <a:r>
              <a:rPr lang="vi-VN" b="1"/>
              <a:t>Sử dụng ThreadPool trong Server</a:t>
            </a:r>
            <a:endParaRPr lang="vi-VN"/>
          </a:p>
          <a:p>
            <a:pPr lvl="1"/>
            <a:r>
              <a:rPr lang="en-US" sz="2600">
                <a:hlinkClick r:id="rId2" action="ppaction://hlinkfile"/>
              </a:rPr>
              <a:t>Ví dụ về Server sử dụng thread pool (Code)</a:t>
            </a:r>
            <a:endParaRPr lang="en-US" sz="2600"/>
          </a:p>
          <a:p>
            <a:pPr lvl="1"/>
            <a:r>
              <a:rPr lang="vi-VN" sz="2600"/>
              <a:t>Khi có một client kết nối, server sẽ gọi ThreadPool.QueueUserWorkItem để xử lý kết nối đó bằng phương thức HandleClient. Điều này cho phép server không bị chặn bởi mỗi kết nối, thay vào đó mỗi kết nối sẽ được xử lý trong một thread riêng biệt do ThreadPool quản lý.</a:t>
            </a:r>
            <a:endParaRPr lang="en-US" sz="2600"/>
          </a:p>
          <a:p>
            <a:pPr marL="457200" lvl="1" indent="0">
              <a:buNone/>
            </a:pPr>
            <a:endParaRPr lang="vi-VN" sz="2600"/>
          </a:p>
        </p:txBody>
      </p:sp>
    </p:spTree>
    <p:extLst>
      <p:ext uri="{BB962C8B-B14F-4D97-AF65-F5344CB8AC3E}">
        <p14:creationId xmlns:p14="http://schemas.microsoft.com/office/powerpoint/2010/main" val="136291604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02610-B350-DD19-2290-83B6E34923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C3A08E-9E93-A1E3-6BC1-28A06B1977C1}"/>
              </a:ext>
            </a:extLst>
          </p:cNvPr>
          <p:cNvSpPr>
            <a:spLocks noGrp="1"/>
          </p:cNvSpPr>
          <p:nvPr>
            <p:ph type="title"/>
          </p:nvPr>
        </p:nvSpPr>
        <p:spPr/>
        <p:txBody>
          <a:bodyPr>
            <a:noAutofit/>
          </a:bodyPr>
          <a:lstStyle/>
          <a:p>
            <a:r>
              <a:rPr lang="en-US" sz="3600"/>
              <a:t>THREAD POOL</a:t>
            </a:r>
            <a:endParaRPr lang="en-US" sz="3400"/>
          </a:p>
        </p:txBody>
      </p:sp>
      <p:sp>
        <p:nvSpPr>
          <p:cNvPr id="3" name="Content Placeholder 2">
            <a:extLst>
              <a:ext uri="{FF2B5EF4-FFF2-40B4-BE49-F238E27FC236}">
                <a16:creationId xmlns:a16="http://schemas.microsoft.com/office/drawing/2014/main" id="{D27A025E-6781-B849-471F-9109327931FB}"/>
              </a:ext>
            </a:extLst>
          </p:cNvPr>
          <p:cNvSpPr>
            <a:spLocks noGrp="1"/>
          </p:cNvSpPr>
          <p:nvPr>
            <p:ph idx="1"/>
          </p:nvPr>
        </p:nvSpPr>
        <p:spPr>
          <a:xfrm>
            <a:off x="838200" y="1825625"/>
            <a:ext cx="10515600" cy="4351338"/>
          </a:xfrm>
        </p:spPr>
        <p:txBody>
          <a:bodyPr>
            <a:normAutofit lnSpcReduction="10000"/>
          </a:bodyPr>
          <a:lstStyle/>
          <a:p>
            <a:r>
              <a:rPr lang="vi-VN" b="1"/>
              <a:t>Sử dụng ThreadPool trong Server</a:t>
            </a:r>
            <a:endParaRPr lang="vi-VN"/>
          </a:p>
          <a:p>
            <a:pPr lvl="1"/>
            <a:r>
              <a:rPr lang="en-US" sz="2600">
                <a:hlinkClick r:id="rId2" action="ppaction://hlinkfile"/>
              </a:rPr>
              <a:t>Ví dụ về Server sử dụng thread pool (Code)</a:t>
            </a:r>
            <a:endParaRPr lang="en-US" sz="2600"/>
          </a:p>
          <a:p>
            <a:pPr lvl="1"/>
            <a:r>
              <a:rPr lang="vi-VN" sz="2600"/>
              <a:t>Xử lý dữ liệu:</a:t>
            </a:r>
            <a:r>
              <a:rPr lang="en-US" sz="2600"/>
              <a:t> </a:t>
            </a:r>
          </a:p>
          <a:p>
            <a:pPr lvl="2"/>
            <a:r>
              <a:rPr lang="vi-VN" sz="2400"/>
              <a:t>Server sẽ nhận dữ liệu từ client qua NetworkStream, sau đó in ra và gửi phản hồi lại cho client.</a:t>
            </a:r>
            <a:endParaRPr lang="en-US" sz="2400"/>
          </a:p>
          <a:p>
            <a:pPr lvl="1"/>
            <a:r>
              <a:rPr lang="vi-VN" sz="2600"/>
              <a:t>Đóng kết nối:</a:t>
            </a:r>
            <a:endParaRPr lang="en-US" sz="2600"/>
          </a:p>
          <a:p>
            <a:pPr lvl="2"/>
            <a:r>
              <a:rPr lang="vi-VN" sz="2400"/>
              <a:t>Sau khi xử lý xong, kết nối sẽ được đóng</a:t>
            </a:r>
            <a:r>
              <a:rPr lang="vi-VN" sz="2200"/>
              <a:t>.</a:t>
            </a:r>
          </a:p>
        </p:txBody>
      </p:sp>
    </p:spTree>
    <p:extLst>
      <p:ext uri="{BB962C8B-B14F-4D97-AF65-F5344CB8AC3E}">
        <p14:creationId xmlns:p14="http://schemas.microsoft.com/office/powerpoint/2010/main" val="6567708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BCC731-9C5D-24F4-7A5C-5F98593D89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9CB2CE-7B35-05D8-C518-D65FDC10F34D}"/>
              </a:ext>
            </a:extLst>
          </p:cNvPr>
          <p:cNvSpPr>
            <a:spLocks noGrp="1"/>
          </p:cNvSpPr>
          <p:nvPr>
            <p:ph type="title"/>
          </p:nvPr>
        </p:nvSpPr>
        <p:spPr/>
        <p:txBody>
          <a:bodyPr>
            <a:noAutofit/>
          </a:bodyPr>
          <a:lstStyle/>
          <a:p>
            <a:r>
              <a:rPr lang="en-US" sz="3600"/>
              <a:t>THREAD POOL</a:t>
            </a:r>
            <a:endParaRPr lang="en-US" sz="3400"/>
          </a:p>
        </p:txBody>
      </p:sp>
      <p:sp>
        <p:nvSpPr>
          <p:cNvPr id="3" name="Content Placeholder 2">
            <a:extLst>
              <a:ext uri="{FF2B5EF4-FFF2-40B4-BE49-F238E27FC236}">
                <a16:creationId xmlns:a16="http://schemas.microsoft.com/office/drawing/2014/main" id="{22BF6927-9FEF-24DD-BBD2-05A4B9128CFE}"/>
              </a:ext>
            </a:extLst>
          </p:cNvPr>
          <p:cNvSpPr>
            <a:spLocks noGrp="1"/>
          </p:cNvSpPr>
          <p:nvPr>
            <p:ph idx="1"/>
          </p:nvPr>
        </p:nvSpPr>
        <p:spPr>
          <a:xfrm>
            <a:off x="838200" y="1825625"/>
            <a:ext cx="10515600" cy="4351338"/>
          </a:xfrm>
        </p:spPr>
        <p:txBody>
          <a:bodyPr>
            <a:normAutofit fontScale="77500" lnSpcReduction="20000"/>
          </a:bodyPr>
          <a:lstStyle/>
          <a:p>
            <a:r>
              <a:rPr lang="vi-VN" b="1"/>
              <a:t>Sử dụng ThreadPool trong Server</a:t>
            </a:r>
            <a:endParaRPr lang="vi-VN"/>
          </a:p>
          <a:p>
            <a:pPr lvl="1"/>
            <a:r>
              <a:rPr lang="en-US" sz="2600"/>
              <a:t>Kiểm tra c</a:t>
            </a:r>
            <a:r>
              <a:rPr lang="vi-VN" sz="2600"/>
              <a:t>hương trình Server TCP sử dụng ThreadPool</a:t>
            </a:r>
            <a:r>
              <a:rPr lang="en-US" sz="2600"/>
              <a:t> bằng cách tạo TcpClientTest.cs  </a:t>
            </a:r>
            <a:r>
              <a:rPr lang="en-US" sz="2600">
                <a:hlinkClick r:id="rId2" action="ppaction://hlinkfile"/>
              </a:rPr>
              <a:t>(Code)</a:t>
            </a:r>
            <a:endParaRPr lang="en-US" sz="2600"/>
          </a:p>
          <a:p>
            <a:pPr lvl="1"/>
            <a:r>
              <a:rPr lang="vi-VN" sz="2600"/>
              <a:t>Chạy server trước.</a:t>
            </a:r>
            <a:endParaRPr lang="en-US" sz="2600"/>
          </a:p>
          <a:p>
            <a:pPr lvl="1"/>
            <a:r>
              <a:rPr lang="vi-VN" sz="2600"/>
              <a:t>Chạy client, nhập ví dụ: Xin chào Server!.</a:t>
            </a:r>
            <a:endParaRPr lang="en-US" sz="2600"/>
          </a:p>
          <a:p>
            <a:pPr lvl="1"/>
            <a:r>
              <a:rPr lang="vi-VN" sz="2600"/>
              <a:t>Quan sát server in ra:</a:t>
            </a:r>
            <a:endParaRPr lang="en-US" sz="2600"/>
          </a:p>
          <a:p>
            <a:pPr marL="914400" lvl="2" indent="0">
              <a:buNone/>
            </a:pPr>
            <a:r>
              <a:rPr lang="en-US" sz="2600"/>
              <a:t>Đã kết nối với một client!</a:t>
            </a:r>
          </a:p>
          <a:p>
            <a:pPr marL="914400" lvl="2" indent="0">
              <a:buNone/>
            </a:pPr>
            <a:r>
              <a:rPr lang="en-US" sz="2600"/>
              <a:t>Nhận dữ liệu từ client: Xin chào Server!</a:t>
            </a:r>
          </a:p>
          <a:p>
            <a:pPr lvl="1"/>
            <a:r>
              <a:rPr lang="en-US" sz="2600"/>
              <a:t>Client nhận phản hồi</a:t>
            </a:r>
          </a:p>
        </p:txBody>
      </p:sp>
    </p:spTree>
    <p:extLst>
      <p:ext uri="{BB962C8B-B14F-4D97-AF65-F5344CB8AC3E}">
        <p14:creationId xmlns:p14="http://schemas.microsoft.com/office/powerpoint/2010/main" val="27461263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01EEE2-A0ED-3421-4847-FBD7AA4D51C5}"/>
              </a:ext>
            </a:extLst>
          </p:cNvPr>
          <p:cNvSpPr>
            <a:spLocks noGrp="1"/>
          </p:cNvSpPr>
          <p:nvPr>
            <p:ph type="title"/>
          </p:nvPr>
        </p:nvSpPr>
        <p:spPr/>
        <p:txBody>
          <a:bodyPr/>
          <a:lstStyle/>
          <a:p>
            <a:pPr algn="ctr"/>
            <a:r>
              <a:rPr lang="en-US"/>
              <a:t>Q&amp;A</a:t>
            </a:r>
          </a:p>
        </p:txBody>
      </p:sp>
      <p:grpSp>
        <p:nvGrpSpPr>
          <p:cNvPr id="14" name="Group 17">
            <a:extLst>
              <a:ext uri="{FF2B5EF4-FFF2-40B4-BE49-F238E27FC236}">
                <a16:creationId xmlns:a16="http://schemas.microsoft.com/office/drawing/2014/main" id="{DDA224F6-CC4B-1835-8E4C-0430E90CE44F}"/>
              </a:ext>
            </a:extLst>
          </p:cNvPr>
          <p:cNvGrpSpPr>
            <a:grpSpLocks/>
          </p:cNvGrpSpPr>
          <p:nvPr/>
        </p:nvGrpSpPr>
        <p:grpSpPr bwMode="auto">
          <a:xfrm>
            <a:off x="5167313" y="2116931"/>
            <a:ext cx="1857375" cy="3995738"/>
            <a:chOff x="2208" y="768"/>
            <a:chExt cx="1170" cy="2517"/>
          </a:xfrm>
        </p:grpSpPr>
        <p:sp>
          <p:nvSpPr>
            <p:cNvPr id="15" name="AutoShape 7">
              <a:extLst>
                <a:ext uri="{FF2B5EF4-FFF2-40B4-BE49-F238E27FC236}">
                  <a16:creationId xmlns:a16="http://schemas.microsoft.com/office/drawing/2014/main" id="{782FAECC-73D8-E397-CFEE-63C9BA938F63}"/>
                </a:ext>
              </a:extLst>
            </p:cNvPr>
            <p:cNvSpPr>
              <a:spLocks noChangeAspect="1" noChangeArrowheads="1" noTextEdit="1"/>
            </p:cNvSpPr>
            <p:nvPr/>
          </p:nvSpPr>
          <p:spPr bwMode="auto">
            <a:xfrm>
              <a:off x="2208" y="768"/>
              <a:ext cx="1170" cy="25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6" name="Freeform 8">
              <a:extLst>
                <a:ext uri="{FF2B5EF4-FFF2-40B4-BE49-F238E27FC236}">
                  <a16:creationId xmlns:a16="http://schemas.microsoft.com/office/drawing/2014/main" id="{5D175F58-3E4A-FA53-853A-7B359AA35450}"/>
                </a:ext>
              </a:extLst>
            </p:cNvPr>
            <p:cNvSpPr>
              <a:spLocks/>
            </p:cNvSpPr>
            <p:nvPr/>
          </p:nvSpPr>
          <p:spPr bwMode="auto">
            <a:xfrm>
              <a:off x="2582" y="1093"/>
              <a:ext cx="457" cy="507"/>
            </a:xfrm>
            <a:custGeom>
              <a:avLst/>
              <a:gdLst>
                <a:gd name="T0" fmla="*/ 238 w 457"/>
                <a:gd name="T1" fmla="*/ 117 h 507"/>
                <a:gd name="T2" fmla="*/ 198 w 457"/>
                <a:gd name="T3" fmla="*/ 65 h 507"/>
                <a:gd name="T4" fmla="*/ 142 w 457"/>
                <a:gd name="T5" fmla="*/ 26 h 507"/>
                <a:gd name="T6" fmla="*/ 92 w 457"/>
                <a:gd name="T7" fmla="*/ 0 h 507"/>
                <a:gd name="T8" fmla="*/ 52 w 457"/>
                <a:gd name="T9" fmla="*/ 7 h 507"/>
                <a:gd name="T10" fmla="*/ 23 w 457"/>
                <a:gd name="T11" fmla="*/ 36 h 507"/>
                <a:gd name="T12" fmla="*/ 0 w 457"/>
                <a:gd name="T13" fmla="*/ 124 h 507"/>
                <a:gd name="T14" fmla="*/ 9 w 457"/>
                <a:gd name="T15" fmla="*/ 225 h 507"/>
                <a:gd name="T16" fmla="*/ 33 w 457"/>
                <a:gd name="T17" fmla="*/ 322 h 507"/>
                <a:gd name="T18" fmla="*/ 59 w 457"/>
                <a:gd name="T19" fmla="*/ 397 h 507"/>
                <a:gd name="T20" fmla="*/ 109 w 457"/>
                <a:gd name="T21" fmla="*/ 475 h 507"/>
                <a:gd name="T22" fmla="*/ 152 w 457"/>
                <a:gd name="T23" fmla="*/ 507 h 507"/>
                <a:gd name="T24" fmla="*/ 211 w 457"/>
                <a:gd name="T25" fmla="*/ 507 h 507"/>
                <a:gd name="T26" fmla="*/ 271 w 457"/>
                <a:gd name="T27" fmla="*/ 485 h 507"/>
                <a:gd name="T28" fmla="*/ 301 w 457"/>
                <a:gd name="T29" fmla="*/ 429 h 507"/>
                <a:gd name="T30" fmla="*/ 317 w 457"/>
                <a:gd name="T31" fmla="*/ 358 h 507"/>
                <a:gd name="T32" fmla="*/ 311 w 457"/>
                <a:gd name="T33" fmla="*/ 270 h 507"/>
                <a:gd name="T34" fmla="*/ 450 w 457"/>
                <a:gd name="T35" fmla="*/ 280 h 507"/>
                <a:gd name="T36" fmla="*/ 457 w 457"/>
                <a:gd name="T37" fmla="*/ 241 h 507"/>
                <a:gd name="T38" fmla="*/ 298 w 457"/>
                <a:gd name="T39" fmla="*/ 225 h 507"/>
                <a:gd name="T40" fmla="*/ 258 w 457"/>
                <a:gd name="T41" fmla="*/ 134 h 507"/>
                <a:gd name="T42" fmla="*/ 238 w 457"/>
                <a:gd name="T43" fmla="*/ 117 h 5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57" h="507">
                  <a:moveTo>
                    <a:pt x="238" y="117"/>
                  </a:moveTo>
                  <a:lnTo>
                    <a:pt x="198" y="65"/>
                  </a:lnTo>
                  <a:lnTo>
                    <a:pt x="142" y="26"/>
                  </a:lnTo>
                  <a:lnTo>
                    <a:pt x="92" y="0"/>
                  </a:lnTo>
                  <a:lnTo>
                    <a:pt x="52" y="7"/>
                  </a:lnTo>
                  <a:lnTo>
                    <a:pt x="23" y="36"/>
                  </a:lnTo>
                  <a:lnTo>
                    <a:pt x="0" y="124"/>
                  </a:lnTo>
                  <a:lnTo>
                    <a:pt x="9" y="225"/>
                  </a:lnTo>
                  <a:lnTo>
                    <a:pt x="33" y="322"/>
                  </a:lnTo>
                  <a:lnTo>
                    <a:pt x="59" y="397"/>
                  </a:lnTo>
                  <a:lnTo>
                    <a:pt x="109" y="475"/>
                  </a:lnTo>
                  <a:lnTo>
                    <a:pt x="152" y="507"/>
                  </a:lnTo>
                  <a:lnTo>
                    <a:pt x="211" y="507"/>
                  </a:lnTo>
                  <a:lnTo>
                    <a:pt x="271" y="485"/>
                  </a:lnTo>
                  <a:lnTo>
                    <a:pt x="301" y="429"/>
                  </a:lnTo>
                  <a:lnTo>
                    <a:pt x="317" y="358"/>
                  </a:lnTo>
                  <a:lnTo>
                    <a:pt x="311" y="270"/>
                  </a:lnTo>
                  <a:lnTo>
                    <a:pt x="450" y="280"/>
                  </a:lnTo>
                  <a:lnTo>
                    <a:pt x="457" y="241"/>
                  </a:lnTo>
                  <a:lnTo>
                    <a:pt x="298" y="225"/>
                  </a:lnTo>
                  <a:lnTo>
                    <a:pt x="258" y="134"/>
                  </a:lnTo>
                  <a:lnTo>
                    <a:pt x="238" y="117"/>
                  </a:lnTo>
                  <a:close/>
                </a:path>
              </a:pathLst>
            </a:custGeom>
            <a:solidFill>
              <a:srgbClr val="CC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 name="Freeform 9">
              <a:extLst>
                <a:ext uri="{FF2B5EF4-FFF2-40B4-BE49-F238E27FC236}">
                  <a16:creationId xmlns:a16="http://schemas.microsoft.com/office/drawing/2014/main" id="{811E8910-EAB4-D4C0-67BB-4FD4FF844A60}"/>
                </a:ext>
              </a:extLst>
            </p:cNvPr>
            <p:cNvSpPr>
              <a:spLocks/>
            </p:cNvSpPr>
            <p:nvPr/>
          </p:nvSpPr>
          <p:spPr bwMode="auto">
            <a:xfrm>
              <a:off x="2210" y="963"/>
              <a:ext cx="526" cy="813"/>
            </a:xfrm>
            <a:custGeom>
              <a:avLst/>
              <a:gdLst>
                <a:gd name="T0" fmla="*/ 307 w 526"/>
                <a:gd name="T1" fmla="*/ 19 h 813"/>
                <a:gd name="T2" fmla="*/ 373 w 526"/>
                <a:gd name="T3" fmla="*/ 0 h 813"/>
                <a:gd name="T4" fmla="*/ 426 w 526"/>
                <a:gd name="T5" fmla="*/ 3 h 813"/>
                <a:gd name="T6" fmla="*/ 466 w 526"/>
                <a:gd name="T7" fmla="*/ 32 h 813"/>
                <a:gd name="T8" fmla="*/ 493 w 526"/>
                <a:gd name="T9" fmla="*/ 78 h 813"/>
                <a:gd name="T10" fmla="*/ 483 w 526"/>
                <a:gd name="T11" fmla="*/ 126 h 813"/>
                <a:gd name="T12" fmla="*/ 446 w 526"/>
                <a:gd name="T13" fmla="*/ 126 h 813"/>
                <a:gd name="T14" fmla="*/ 456 w 526"/>
                <a:gd name="T15" fmla="*/ 87 h 813"/>
                <a:gd name="T16" fmla="*/ 426 w 526"/>
                <a:gd name="T17" fmla="*/ 52 h 813"/>
                <a:gd name="T18" fmla="*/ 397 w 526"/>
                <a:gd name="T19" fmla="*/ 39 h 813"/>
                <a:gd name="T20" fmla="*/ 347 w 526"/>
                <a:gd name="T21" fmla="*/ 52 h 813"/>
                <a:gd name="T22" fmla="*/ 367 w 526"/>
                <a:gd name="T23" fmla="*/ 91 h 813"/>
                <a:gd name="T24" fmla="*/ 373 w 526"/>
                <a:gd name="T25" fmla="*/ 126 h 813"/>
                <a:gd name="T26" fmla="*/ 367 w 526"/>
                <a:gd name="T27" fmla="*/ 156 h 813"/>
                <a:gd name="T28" fmla="*/ 317 w 526"/>
                <a:gd name="T29" fmla="*/ 169 h 813"/>
                <a:gd name="T30" fmla="*/ 264 w 526"/>
                <a:gd name="T31" fmla="*/ 159 h 813"/>
                <a:gd name="T32" fmla="*/ 254 w 526"/>
                <a:gd name="T33" fmla="*/ 136 h 813"/>
                <a:gd name="T34" fmla="*/ 198 w 526"/>
                <a:gd name="T35" fmla="*/ 198 h 813"/>
                <a:gd name="T36" fmla="*/ 165 w 526"/>
                <a:gd name="T37" fmla="*/ 266 h 813"/>
                <a:gd name="T38" fmla="*/ 119 w 526"/>
                <a:gd name="T39" fmla="*/ 354 h 813"/>
                <a:gd name="T40" fmla="*/ 89 w 526"/>
                <a:gd name="T41" fmla="*/ 432 h 813"/>
                <a:gd name="T42" fmla="*/ 76 w 526"/>
                <a:gd name="T43" fmla="*/ 507 h 813"/>
                <a:gd name="T44" fmla="*/ 86 w 526"/>
                <a:gd name="T45" fmla="*/ 546 h 813"/>
                <a:gd name="T46" fmla="*/ 139 w 526"/>
                <a:gd name="T47" fmla="*/ 595 h 813"/>
                <a:gd name="T48" fmla="*/ 248 w 526"/>
                <a:gd name="T49" fmla="*/ 637 h 813"/>
                <a:gd name="T50" fmla="*/ 307 w 526"/>
                <a:gd name="T51" fmla="*/ 656 h 813"/>
                <a:gd name="T52" fmla="*/ 367 w 526"/>
                <a:gd name="T53" fmla="*/ 666 h 813"/>
                <a:gd name="T54" fmla="*/ 456 w 526"/>
                <a:gd name="T55" fmla="*/ 702 h 813"/>
                <a:gd name="T56" fmla="*/ 522 w 526"/>
                <a:gd name="T57" fmla="*/ 725 h 813"/>
                <a:gd name="T58" fmla="*/ 526 w 526"/>
                <a:gd name="T59" fmla="*/ 770 h 813"/>
                <a:gd name="T60" fmla="*/ 493 w 526"/>
                <a:gd name="T61" fmla="*/ 803 h 813"/>
                <a:gd name="T62" fmla="*/ 453 w 526"/>
                <a:gd name="T63" fmla="*/ 813 h 813"/>
                <a:gd name="T64" fmla="*/ 393 w 526"/>
                <a:gd name="T65" fmla="*/ 783 h 813"/>
                <a:gd name="T66" fmla="*/ 254 w 526"/>
                <a:gd name="T67" fmla="*/ 712 h 813"/>
                <a:gd name="T68" fmla="*/ 139 w 526"/>
                <a:gd name="T69" fmla="*/ 663 h 813"/>
                <a:gd name="T70" fmla="*/ 59 w 526"/>
                <a:gd name="T71" fmla="*/ 608 h 813"/>
                <a:gd name="T72" fmla="*/ 6 w 526"/>
                <a:gd name="T73" fmla="*/ 559 h 813"/>
                <a:gd name="T74" fmla="*/ 0 w 526"/>
                <a:gd name="T75" fmla="*/ 500 h 813"/>
                <a:gd name="T76" fmla="*/ 29 w 526"/>
                <a:gd name="T77" fmla="*/ 422 h 813"/>
                <a:gd name="T78" fmla="*/ 89 w 526"/>
                <a:gd name="T79" fmla="*/ 305 h 813"/>
                <a:gd name="T80" fmla="*/ 145 w 526"/>
                <a:gd name="T81" fmla="*/ 208 h 813"/>
                <a:gd name="T82" fmla="*/ 215 w 526"/>
                <a:gd name="T83" fmla="*/ 107 h 813"/>
                <a:gd name="T84" fmla="*/ 268 w 526"/>
                <a:gd name="T85" fmla="*/ 48 h 813"/>
                <a:gd name="T86" fmla="*/ 334 w 526"/>
                <a:gd name="T87" fmla="*/ 19 h 813"/>
                <a:gd name="T88" fmla="*/ 307 w 526"/>
                <a:gd name="T89" fmla="*/ 19 h 8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26" h="813">
                  <a:moveTo>
                    <a:pt x="307" y="19"/>
                  </a:moveTo>
                  <a:lnTo>
                    <a:pt x="373" y="0"/>
                  </a:lnTo>
                  <a:lnTo>
                    <a:pt x="426" y="3"/>
                  </a:lnTo>
                  <a:lnTo>
                    <a:pt x="466" y="32"/>
                  </a:lnTo>
                  <a:lnTo>
                    <a:pt x="493" y="78"/>
                  </a:lnTo>
                  <a:lnTo>
                    <a:pt x="483" y="126"/>
                  </a:lnTo>
                  <a:lnTo>
                    <a:pt x="446" y="126"/>
                  </a:lnTo>
                  <a:lnTo>
                    <a:pt x="456" y="87"/>
                  </a:lnTo>
                  <a:lnTo>
                    <a:pt x="426" y="52"/>
                  </a:lnTo>
                  <a:lnTo>
                    <a:pt x="397" y="39"/>
                  </a:lnTo>
                  <a:lnTo>
                    <a:pt x="347" y="52"/>
                  </a:lnTo>
                  <a:lnTo>
                    <a:pt x="367" y="91"/>
                  </a:lnTo>
                  <a:lnTo>
                    <a:pt x="373" y="126"/>
                  </a:lnTo>
                  <a:lnTo>
                    <a:pt x="367" y="156"/>
                  </a:lnTo>
                  <a:lnTo>
                    <a:pt x="317" y="169"/>
                  </a:lnTo>
                  <a:lnTo>
                    <a:pt x="264" y="159"/>
                  </a:lnTo>
                  <a:lnTo>
                    <a:pt x="254" y="136"/>
                  </a:lnTo>
                  <a:lnTo>
                    <a:pt x="198" y="198"/>
                  </a:lnTo>
                  <a:lnTo>
                    <a:pt x="165" y="266"/>
                  </a:lnTo>
                  <a:lnTo>
                    <a:pt x="119" y="354"/>
                  </a:lnTo>
                  <a:lnTo>
                    <a:pt x="89" y="432"/>
                  </a:lnTo>
                  <a:lnTo>
                    <a:pt x="76" y="507"/>
                  </a:lnTo>
                  <a:lnTo>
                    <a:pt x="86" y="546"/>
                  </a:lnTo>
                  <a:lnTo>
                    <a:pt x="139" y="595"/>
                  </a:lnTo>
                  <a:lnTo>
                    <a:pt x="248" y="637"/>
                  </a:lnTo>
                  <a:lnTo>
                    <a:pt x="307" y="656"/>
                  </a:lnTo>
                  <a:lnTo>
                    <a:pt x="367" y="666"/>
                  </a:lnTo>
                  <a:lnTo>
                    <a:pt x="456" y="702"/>
                  </a:lnTo>
                  <a:lnTo>
                    <a:pt x="522" y="725"/>
                  </a:lnTo>
                  <a:lnTo>
                    <a:pt x="526" y="770"/>
                  </a:lnTo>
                  <a:lnTo>
                    <a:pt x="493" y="803"/>
                  </a:lnTo>
                  <a:lnTo>
                    <a:pt x="453" y="813"/>
                  </a:lnTo>
                  <a:lnTo>
                    <a:pt x="393" y="783"/>
                  </a:lnTo>
                  <a:lnTo>
                    <a:pt x="254" y="712"/>
                  </a:lnTo>
                  <a:lnTo>
                    <a:pt x="139" y="663"/>
                  </a:lnTo>
                  <a:lnTo>
                    <a:pt x="59" y="608"/>
                  </a:lnTo>
                  <a:lnTo>
                    <a:pt x="6" y="559"/>
                  </a:lnTo>
                  <a:lnTo>
                    <a:pt x="0" y="500"/>
                  </a:lnTo>
                  <a:lnTo>
                    <a:pt x="29" y="422"/>
                  </a:lnTo>
                  <a:lnTo>
                    <a:pt x="89" y="305"/>
                  </a:lnTo>
                  <a:lnTo>
                    <a:pt x="145" y="208"/>
                  </a:lnTo>
                  <a:lnTo>
                    <a:pt x="215" y="107"/>
                  </a:lnTo>
                  <a:lnTo>
                    <a:pt x="268" y="48"/>
                  </a:lnTo>
                  <a:lnTo>
                    <a:pt x="334" y="19"/>
                  </a:lnTo>
                  <a:lnTo>
                    <a:pt x="307" y="19"/>
                  </a:lnTo>
                  <a:close/>
                </a:path>
              </a:pathLst>
            </a:custGeom>
            <a:solidFill>
              <a:srgbClr val="CC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8" name="Freeform 10">
              <a:extLst>
                <a:ext uri="{FF2B5EF4-FFF2-40B4-BE49-F238E27FC236}">
                  <a16:creationId xmlns:a16="http://schemas.microsoft.com/office/drawing/2014/main" id="{4CC112B0-28E3-A73F-195A-D3A0432FDE0E}"/>
                </a:ext>
              </a:extLst>
            </p:cNvPr>
            <p:cNvSpPr>
              <a:spLocks/>
            </p:cNvSpPr>
            <p:nvPr/>
          </p:nvSpPr>
          <p:spPr bwMode="auto">
            <a:xfrm>
              <a:off x="2706" y="1637"/>
              <a:ext cx="275" cy="763"/>
            </a:xfrm>
            <a:custGeom>
              <a:avLst/>
              <a:gdLst>
                <a:gd name="T0" fmla="*/ 17 w 275"/>
                <a:gd name="T1" fmla="*/ 59 h 763"/>
                <a:gd name="T2" fmla="*/ 27 w 275"/>
                <a:gd name="T3" fmla="*/ 20 h 763"/>
                <a:gd name="T4" fmla="*/ 70 w 275"/>
                <a:gd name="T5" fmla="*/ 0 h 763"/>
                <a:gd name="T6" fmla="*/ 109 w 275"/>
                <a:gd name="T7" fmla="*/ 0 h 763"/>
                <a:gd name="T8" fmla="*/ 159 w 275"/>
                <a:gd name="T9" fmla="*/ 29 h 763"/>
                <a:gd name="T10" fmla="*/ 206 w 275"/>
                <a:gd name="T11" fmla="*/ 98 h 763"/>
                <a:gd name="T12" fmla="*/ 239 w 275"/>
                <a:gd name="T13" fmla="*/ 169 h 763"/>
                <a:gd name="T14" fmla="*/ 255 w 275"/>
                <a:gd name="T15" fmla="*/ 266 h 763"/>
                <a:gd name="T16" fmla="*/ 269 w 275"/>
                <a:gd name="T17" fmla="*/ 380 h 763"/>
                <a:gd name="T18" fmla="*/ 275 w 275"/>
                <a:gd name="T19" fmla="*/ 490 h 763"/>
                <a:gd name="T20" fmla="*/ 275 w 275"/>
                <a:gd name="T21" fmla="*/ 633 h 763"/>
                <a:gd name="T22" fmla="*/ 255 w 275"/>
                <a:gd name="T23" fmla="*/ 721 h 763"/>
                <a:gd name="T24" fmla="*/ 219 w 275"/>
                <a:gd name="T25" fmla="*/ 753 h 763"/>
                <a:gd name="T26" fmla="*/ 156 w 275"/>
                <a:gd name="T27" fmla="*/ 763 h 763"/>
                <a:gd name="T28" fmla="*/ 90 w 275"/>
                <a:gd name="T29" fmla="*/ 760 h 763"/>
                <a:gd name="T30" fmla="*/ 56 w 275"/>
                <a:gd name="T31" fmla="*/ 721 h 763"/>
                <a:gd name="T32" fmla="*/ 37 w 275"/>
                <a:gd name="T33" fmla="*/ 653 h 763"/>
                <a:gd name="T34" fmla="*/ 20 w 275"/>
                <a:gd name="T35" fmla="*/ 585 h 763"/>
                <a:gd name="T36" fmla="*/ 7 w 275"/>
                <a:gd name="T37" fmla="*/ 461 h 763"/>
                <a:gd name="T38" fmla="*/ 0 w 275"/>
                <a:gd name="T39" fmla="*/ 322 h 763"/>
                <a:gd name="T40" fmla="*/ 0 w 275"/>
                <a:gd name="T41" fmla="*/ 159 h 763"/>
                <a:gd name="T42" fmla="*/ 17 w 275"/>
                <a:gd name="T43" fmla="*/ 88 h 763"/>
                <a:gd name="T44" fmla="*/ 17 w 275"/>
                <a:gd name="T45" fmla="*/ 59 h 7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75" h="763">
                  <a:moveTo>
                    <a:pt x="17" y="59"/>
                  </a:moveTo>
                  <a:lnTo>
                    <a:pt x="27" y="20"/>
                  </a:lnTo>
                  <a:lnTo>
                    <a:pt x="70" y="0"/>
                  </a:lnTo>
                  <a:lnTo>
                    <a:pt x="109" y="0"/>
                  </a:lnTo>
                  <a:lnTo>
                    <a:pt x="159" y="29"/>
                  </a:lnTo>
                  <a:lnTo>
                    <a:pt x="206" y="98"/>
                  </a:lnTo>
                  <a:lnTo>
                    <a:pt x="239" y="169"/>
                  </a:lnTo>
                  <a:lnTo>
                    <a:pt x="255" y="266"/>
                  </a:lnTo>
                  <a:lnTo>
                    <a:pt x="269" y="380"/>
                  </a:lnTo>
                  <a:lnTo>
                    <a:pt x="275" y="490"/>
                  </a:lnTo>
                  <a:lnTo>
                    <a:pt x="275" y="633"/>
                  </a:lnTo>
                  <a:lnTo>
                    <a:pt x="255" y="721"/>
                  </a:lnTo>
                  <a:lnTo>
                    <a:pt x="219" y="753"/>
                  </a:lnTo>
                  <a:lnTo>
                    <a:pt x="156" y="763"/>
                  </a:lnTo>
                  <a:lnTo>
                    <a:pt x="90" y="760"/>
                  </a:lnTo>
                  <a:lnTo>
                    <a:pt x="56" y="721"/>
                  </a:lnTo>
                  <a:lnTo>
                    <a:pt x="37" y="653"/>
                  </a:lnTo>
                  <a:lnTo>
                    <a:pt x="20" y="585"/>
                  </a:lnTo>
                  <a:lnTo>
                    <a:pt x="7" y="461"/>
                  </a:lnTo>
                  <a:lnTo>
                    <a:pt x="0" y="322"/>
                  </a:lnTo>
                  <a:lnTo>
                    <a:pt x="0" y="159"/>
                  </a:lnTo>
                  <a:lnTo>
                    <a:pt x="17" y="88"/>
                  </a:lnTo>
                  <a:lnTo>
                    <a:pt x="17" y="59"/>
                  </a:lnTo>
                  <a:close/>
                </a:path>
              </a:pathLst>
            </a:custGeom>
            <a:solidFill>
              <a:srgbClr val="CC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 name="Freeform 11">
              <a:extLst>
                <a:ext uri="{FF2B5EF4-FFF2-40B4-BE49-F238E27FC236}">
                  <a16:creationId xmlns:a16="http://schemas.microsoft.com/office/drawing/2014/main" id="{68733806-2F95-286D-501B-CE5AD8D67CE6}"/>
                </a:ext>
              </a:extLst>
            </p:cNvPr>
            <p:cNvSpPr>
              <a:spLocks/>
            </p:cNvSpPr>
            <p:nvPr/>
          </p:nvSpPr>
          <p:spPr bwMode="auto">
            <a:xfrm>
              <a:off x="2833" y="1658"/>
              <a:ext cx="420" cy="586"/>
            </a:xfrm>
            <a:custGeom>
              <a:avLst/>
              <a:gdLst>
                <a:gd name="T0" fmla="*/ 23 w 420"/>
                <a:gd name="T1" fmla="*/ 0 h 586"/>
                <a:gd name="T2" fmla="*/ 109 w 420"/>
                <a:gd name="T3" fmla="*/ 10 h 586"/>
                <a:gd name="T4" fmla="*/ 198 w 420"/>
                <a:gd name="T5" fmla="*/ 26 h 586"/>
                <a:gd name="T6" fmla="*/ 291 w 420"/>
                <a:gd name="T7" fmla="*/ 78 h 586"/>
                <a:gd name="T8" fmla="*/ 357 w 420"/>
                <a:gd name="T9" fmla="*/ 117 h 586"/>
                <a:gd name="T10" fmla="*/ 400 w 420"/>
                <a:gd name="T11" fmla="*/ 173 h 586"/>
                <a:gd name="T12" fmla="*/ 420 w 420"/>
                <a:gd name="T13" fmla="*/ 205 h 586"/>
                <a:gd name="T14" fmla="*/ 380 w 420"/>
                <a:gd name="T15" fmla="*/ 300 h 586"/>
                <a:gd name="T16" fmla="*/ 317 w 420"/>
                <a:gd name="T17" fmla="*/ 358 h 586"/>
                <a:gd name="T18" fmla="*/ 241 w 420"/>
                <a:gd name="T19" fmla="*/ 400 h 586"/>
                <a:gd name="T20" fmla="*/ 201 w 420"/>
                <a:gd name="T21" fmla="*/ 426 h 586"/>
                <a:gd name="T22" fmla="*/ 132 w 420"/>
                <a:gd name="T23" fmla="*/ 439 h 586"/>
                <a:gd name="T24" fmla="*/ 129 w 420"/>
                <a:gd name="T25" fmla="*/ 465 h 586"/>
                <a:gd name="T26" fmla="*/ 182 w 420"/>
                <a:gd name="T27" fmla="*/ 488 h 586"/>
                <a:gd name="T28" fmla="*/ 258 w 420"/>
                <a:gd name="T29" fmla="*/ 508 h 586"/>
                <a:gd name="T30" fmla="*/ 330 w 420"/>
                <a:gd name="T31" fmla="*/ 547 h 586"/>
                <a:gd name="T32" fmla="*/ 301 w 420"/>
                <a:gd name="T33" fmla="*/ 576 h 586"/>
                <a:gd name="T34" fmla="*/ 271 w 420"/>
                <a:gd name="T35" fmla="*/ 586 h 586"/>
                <a:gd name="T36" fmla="*/ 228 w 420"/>
                <a:gd name="T37" fmla="*/ 543 h 586"/>
                <a:gd name="T38" fmla="*/ 162 w 420"/>
                <a:gd name="T39" fmla="*/ 517 h 586"/>
                <a:gd name="T40" fmla="*/ 109 w 420"/>
                <a:gd name="T41" fmla="*/ 498 h 586"/>
                <a:gd name="T42" fmla="*/ 109 w 420"/>
                <a:gd name="T43" fmla="*/ 459 h 586"/>
                <a:gd name="T44" fmla="*/ 119 w 420"/>
                <a:gd name="T45" fmla="*/ 417 h 586"/>
                <a:gd name="T46" fmla="*/ 152 w 420"/>
                <a:gd name="T47" fmla="*/ 400 h 586"/>
                <a:gd name="T48" fmla="*/ 258 w 420"/>
                <a:gd name="T49" fmla="*/ 358 h 586"/>
                <a:gd name="T50" fmla="*/ 317 w 420"/>
                <a:gd name="T51" fmla="*/ 293 h 586"/>
                <a:gd name="T52" fmla="*/ 360 w 420"/>
                <a:gd name="T53" fmla="*/ 225 h 586"/>
                <a:gd name="T54" fmla="*/ 350 w 420"/>
                <a:gd name="T55" fmla="*/ 192 h 586"/>
                <a:gd name="T56" fmla="*/ 317 w 420"/>
                <a:gd name="T57" fmla="*/ 153 h 586"/>
                <a:gd name="T58" fmla="*/ 238 w 420"/>
                <a:gd name="T59" fmla="*/ 98 h 586"/>
                <a:gd name="T60" fmla="*/ 142 w 420"/>
                <a:gd name="T61" fmla="*/ 78 h 586"/>
                <a:gd name="T62" fmla="*/ 79 w 420"/>
                <a:gd name="T63" fmla="*/ 75 h 586"/>
                <a:gd name="T64" fmla="*/ 23 w 420"/>
                <a:gd name="T65" fmla="*/ 75 h 586"/>
                <a:gd name="T66" fmla="*/ 0 w 420"/>
                <a:gd name="T67" fmla="*/ 39 h 586"/>
                <a:gd name="T68" fmla="*/ 23 w 420"/>
                <a:gd name="T69" fmla="*/ 0 h 5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20" h="586">
                  <a:moveTo>
                    <a:pt x="23" y="0"/>
                  </a:moveTo>
                  <a:lnTo>
                    <a:pt x="109" y="10"/>
                  </a:lnTo>
                  <a:lnTo>
                    <a:pt x="198" y="26"/>
                  </a:lnTo>
                  <a:lnTo>
                    <a:pt x="291" y="78"/>
                  </a:lnTo>
                  <a:lnTo>
                    <a:pt x="357" y="117"/>
                  </a:lnTo>
                  <a:lnTo>
                    <a:pt x="400" y="173"/>
                  </a:lnTo>
                  <a:lnTo>
                    <a:pt x="420" y="205"/>
                  </a:lnTo>
                  <a:lnTo>
                    <a:pt x="380" y="300"/>
                  </a:lnTo>
                  <a:lnTo>
                    <a:pt x="317" y="358"/>
                  </a:lnTo>
                  <a:lnTo>
                    <a:pt x="241" y="400"/>
                  </a:lnTo>
                  <a:lnTo>
                    <a:pt x="201" y="426"/>
                  </a:lnTo>
                  <a:lnTo>
                    <a:pt x="132" y="439"/>
                  </a:lnTo>
                  <a:lnTo>
                    <a:pt x="129" y="465"/>
                  </a:lnTo>
                  <a:lnTo>
                    <a:pt x="182" y="488"/>
                  </a:lnTo>
                  <a:lnTo>
                    <a:pt x="258" y="508"/>
                  </a:lnTo>
                  <a:lnTo>
                    <a:pt x="330" y="547"/>
                  </a:lnTo>
                  <a:lnTo>
                    <a:pt x="301" y="576"/>
                  </a:lnTo>
                  <a:lnTo>
                    <a:pt x="271" y="586"/>
                  </a:lnTo>
                  <a:lnTo>
                    <a:pt x="228" y="543"/>
                  </a:lnTo>
                  <a:lnTo>
                    <a:pt x="162" y="517"/>
                  </a:lnTo>
                  <a:lnTo>
                    <a:pt x="109" y="498"/>
                  </a:lnTo>
                  <a:lnTo>
                    <a:pt x="109" y="459"/>
                  </a:lnTo>
                  <a:lnTo>
                    <a:pt x="119" y="417"/>
                  </a:lnTo>
                  <a:lnTo>
                    <a:pt x="152" y="400"/>
                  </a:lnTo>
                  <a:lnTo>
                    <a:pt x="258" y="358"/>
                  </a:lnTo>
                  <a:lnTo>
                    <a:pt x="317" y="293"/>
                  </a:lnTo>
                  <a:lnTo>
                    <a:pt x="360" y="225"/>
                  </a:lnTo>
                  <a:lnTo>
                    <a:pt x="350" y="192"/>
                  </a:lnTo>
                  <a:lnTo>
                    <a:pt x="317" y="153"/>
                  </a:lnTo>
                  <a:lnTo>
                    <a:pt x="238" y="98"/>
                  </a:lnTo>
                  <a:lnTo>
                    <a:pt x="142" y="78"/>
                  </a:lnTo>
                  <a:lnTo>
                    <a:pt x="79" y="75"/>
                  </a:lnTo>
                  <a:lnTo>
                    <a:pt x="23" y="75"/>
                  </a:lnTo>
                  <a:lnTo>
                    <a:pt x="0" y="39"/>
                  </a:lnTo>
                  <a:lnTo>
                    <a:pt x="23" y="0"/>
                  </a:lnTo>
                  <a:close/>
                </a:path>
              </a:pathLst>
            </a:custGeom>
            <a:solidFill>
              <a:srgbClr val="CC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0" name="Freeform 12">
              <a:extLst>
                <a:ext uri="{FF2B5EF4-FFF2-40B4-BE49-F238E27FC236}">
                  <a16:creationId xmlns:a16="http://schemas.microsoft.com/office/drawing/2014/main" id="{B2C41A88-C6FA-84C9-5C93-D71E4B4B5DFC}"/>
                </a:ext>
              </a:extLst>
            </p:cNvPr>
            <p:cNvSpPr>
              <a:spLocks/>
            </p:cNvSpPr>
            <p:nvPr/>
          </p:nvSpPr>
          <p:spPr bwMode="auto">
            <a:xfrm>
              <a:off x="2866" y="2322"/>
              <a:ext cx="511" cy="947"/>
            </a:xfrm>
            <a:custGeom>
              <a:avLst/>
              <a:gdLst>
                <a:gd name="T0" fmla="*/ 59 w 511"/>
                <a:gd name="T1" fmla="*/ 0 h 947"/>
                <a:gd name="T2" fmla="*/ 13 w 511"/>
                <a:gd name="T3" fmla="*/ 0 h 947"/>
                <a:gd name="T4" fmla="*/ 0 w 511"/>
                <a:gd name="T5" fmla="*/ 68 h 947"/>
                <a:gd name="T6" fmla="*/ 33 w 511"/>
                <a:gd name="T7" fmla="*/ 108 h 947"/>
                <a:gd name="T8" fmla="*/ 139 w 511"/>
                <a:gd name="T9" fmla="*/ 202 h 947"/>
                <a:gd name="T10" fmla="*/ 232 w 511"/>
                <a:gd name="T11" fmla="*/ 322 h 947"/>
                <a:gd name="T12" fmla="*/ 292 w 511"/>
                <a:gd name="T13" fmla="*/ 446 h 947"/>
                <a:gd name="T14" fmla="*/ 301 w 511"/>
                <a:gd name="T15" fmla="*/ 527 h 947"/>
                <a:gd name="T16" fmla="*/ 298 w 511"/>
                <a:gd name="T17" fmla="*/ 586 h 947"/>
                <a:gd name="T18" fmla="*/ 272 w 511"/>
                <a:gd name="T19" fmla="*/ 719 h 947"/>
                <a:gd name="T20" fmla="*/ 238 w 511"/>
                <a:gd name="T21" fmla="*/ 827 h 947"/>
                <a:gd name="T22" fmla="*/ 209 w 511"/>
                <a:gd name="T23" fmla="*/ 889 h 947"/>
                <a:gd name="T24" fmla="*/ 202 w 511"/>
                <a:gd name="T25" fmla="*/ 928 h 947"/>
                <a:gd name="T26" fmla="*/ 232 w 511"/>
                <a:gd name="T27" fmla="*/ 928 h 947"/>
                <a:gd name="T28" fmla="*/ 278 w 511"/>
                <a:gd name="T29" fmla="*/ 915 h 947"/>
                <a:gd name="T30" fmla="*/ 292 w 511"/>
                <a:gd name="T31" fmla="*/ 918 h 947"/>
                <a:gd name="T32" fmla="*/ 388 w 511"/>
                <a:gd name="T33" fmla="*/ 924 h 947"/>
                <a:gd name="T34" fmla="*/ 461 w 511"/>
                <a:gd name="T35" fmla="*/ 947 h 947"/>
                <a:gd name="T36" fmla="*/ 487 w 511"/>
                <a:gd name="T37" fmla="*/ 934 h 947"/>
                <a:gd name="T38" fmla="*/ 511 w 511"/>
                <a:gd name="T39" fmla="*/ 885 h 947"/>
                <a:gd name="T40" fmla="*/ 487 w 511"/>
                <a:gd name="T41" fmla="*/ 859 h 947"/>
                <a:gd name="T42" fmla="*/ 378 w 511"/>
                <a:gd name="T43" fmla="*/ 856 h 947"/>
                <a:gd name="T44" fmla="*/ 301 w 511"/>
                <a:gd name="T45" fmla="*/ 866 h 947"/>
                <a:gd name="T46" fmla="*/ 262 w 511"/>
                <a:gd name="T47" fmla="*/ 885 h 947"/>
                <a:gd name="T48" fmla="*/ 268 w 511"/>
                <a:gd name="T49" fmla="*/ 840 h 947"/>
                <a:gd name="T50" fmla="*/ 308 w 511"/>
                <a:gd name="T51" fmla="*/ 771 h 947"/>
                <a:gd name="T52" fmla="*/ 341 w 511"/>
                <a:gd name="T53" fmla="*/ 664 h 947"/>
                <a:gd name="T54" fmla="*/ 368 w 511"/>
                <a:gd name="T55" fmla="*/ 573 h 947"/>
                <a:gd name="T56" fmla="*/ 348 w 511"/>
                <a:gd name="T57" fmla="*/ 469 h 947"/>
                <a:gd name="T58" fmla="*/ 318 w 511"/>
                <a:gd name="T59" fmla="*/ 358 h 947"/>
                <a:gd name="T60" fmla="*/ 258 w 511"/>
                <a:gd name="T61" fmla="*/ 231 h 947"/>
                <a:gd name="T62" fmla="*/ 172 w 511"/>
                <a:gd name="T63" fmla="*/ 114 h 947"/>
                <a:gd name="T64" fmla="*/ 99 w 511"/>
                <a:gd name="T65" fmla="*/ 29 h 947"/>
                <a:gd name="T66" fmla="*/ 59 w 511"/>
                <a:gd name="T67" fmla="*/ 0 h 9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11" h="947">
                  <a:moveTo>
                    <a:pt x="59" y="0"/>
                  </a:moveTo>
                  <a:lnTo>
                    <a:pt x="13" y="0"/>
                  </a:lnTo>
                  <a:lnTo>
                    <a:pt x="0" y="68"/>
                  </a:lnTo>
                  <a:lnTo>
                    <a:pt x="33" y="108"/>
                  </a:lnTo>
                  <a:lnTo>
                    <a:pt x="139" y="202"/>
                  </a:lnTo>
                  <a:lnTo>
                    <a:pt x="232" y="322"/>
                  </a:lnTo>
                  <a:lnTo>
                    <a:pt x="292" y="446"/>
                  </a:lnTo>
                  <a:lnTo>
                    <a:pt x="301" y="527"/>
                  </a:lnTo>
                  <a:lnTo>
                    <a:pt x="298" y="586"/>
                  </a:lnTo>
                  <a:lnTo>
                    <a:pt x="272" y="719"/>
                  </a:lnTo>
                  <a:lnTo>
                    <a:pt x="238" y="827"/>
                  </a:lnTo>
                  <a:lnTo>
                    <a:pt x="209" y="889"/>
                  </a:lnTo>
                  <a:lnTo>
                    <a:pt x="202" y="928"/>
                  </a:lnTo>
                  <a:lnTo>
                    <a:pt x="232" y="928"/>
                  </a:lnTo>
                  <a:lnTo>
                    <a:pt x="278" y="915"/>
                  </a:lnTo>
                  <a:lnTo>
                    <a:pt x="292" y="918"/>
                  </a:lnTo>
                  <a:lnTo>
                    <a:pt x="388" y="924"/>
                  </a:lnTo>
                  <a:lnTo>
                    <a:pt x="461" y="947"/>
                  </a:lnTo>
                  <a:lnTo>
                    <a:pt x="487" y="934"/>
                  </a:lnTo>
                  <a:lnTo>
                    <a:pt x="511" y="885"/>
                  </a:lnTo>
                  <a:lnTo>
                    <a:pt x="487" y="859"/>
                  </a:lnTo>
                  <a:lnTo>
                    <a:pt x="378" y="856"/>
                  </a:lnTo>
                  <a:lnTo>
                    <a:pt x="301" y="866"/>
                  </a:lnTo>
                  <a:lnTo>
                    <a:pt x="262" y="885"/>
                  </a:lnTo>
                  <a:lnTo>
                    <a:pt x="268" y="840"/>
                  </a:lnTo>
                  <a:lnTo>
                    <a:pt x="308" y="771"/>
                  </a:lnTo>
                  <a:lnTo>
                    <a:pt x="341" y="664"/>
                  </a:lnTo>
                  <a:lnTo>
                    <a:pt x="368" y="573"/>
                  </a:lnTo>
                  <a:lnTo>
                    <a:pt x="348" y="469"/>
                  </a:lnTo>
                  <a:lnTo>
                    <a:pt x="318" y="358"/>
                  </a:lnTo>
                  <a:lnTo>
                    <a:pt x="258" y="231"/>
                  </a:lnTo>
                  <a:lnTo>
                    <a:pt x="172" y="114"/>
                  </a:lnTo>
                  <a:lnTo>
                    <a:pt x="99" y="29"/>
                  </a:lnTo>
                  <a:lnTo>
                    <a:pt x="59" y="0"/>
                  </a:lnTo>
                  <a:close/>
                </a:path>
              </a:pathLst>
            </a:custGeom>
            <a:solidFill>
              <a:srgbClr val="CC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 name="Freeform 13">
              <a:extLst>
                <a:ext uri="{FF2B5EF4-FFF2-40B4-BE49-F238E27FC236}">
                  <a16:creationId xmlns:a16="http://schemas.microsoft.com/office/drawing/2014/main" id="{FF51962F-FE47-EFFC-E4FD-B888E3845FC7}"/>
                </a:ext>
              </a:extLst>
            </p:cNvPr>
            <p:cNvSpPr>
              <a:spLocks/>
            </p:cNvSpPr>
            <p:nvPr/>
          </p:nvSpPr>
          <p:spPr bwMode="auto">
            <a:xfrm>
              <a:off x="2545" y="2320"/>
              <a:ext cx="344" cy="965"/>
            </a:xfrm>
            <a:custGeom>
              <a:avLst/>
              <a:gdLst>
                <a:gd name="T0" fmla="*/ 238 w 344"/>
                <a:gd name="T1" fmla="*/ 0 h 965"/>
                <a:gd name="T2" fmla="*/ 195 w 344"/>
                <a:gd name="T3" fmla="*/ 91 h 965"/>
                <a:gd name="T4" fmla="*/ 165 w 344"/>
                <a:gd name="T5" fmla="*/ 224 h 965"/>
                <a:gd name="T6" fmla="*/ 129 w 344"/>
                <a:gd name="T7" fmla="*/ 371 h 965"/>
                <a:gd name="T8" fmla="*/ 96 w 344"/>
                <a:gd name="T9" fmla="*/ 520 h 965"/>
                <a:gd name="T10" fmla="*/ 96 w 344"/>
                <a:gd name="T11" fmla="*/ 575 h 965"/>
                <a:gd name="T12" fmla="*/ 129 w 344"/>
                <a:gd name="T13" fmla="*/ 673 h 965"/>
                <a:gd name="T14" fmla="*/ 175 w 344"/>
                <a:gd name="T15" fmla="*/ 725 h 965"/>
                <a:gd name="T16" fmla="*/ 218 w 344"/>
                <a:gd name="T17" fmla="*/ 790 h 965"/>
                <a:gd name="T18" fmla="*/ 248 w 344"/>
                <a:gd name="T19" fmla="*/ 838 h 965"/>
                <a:gd name="T20" fmla="*/ 235 w 344"/>
                <a:gd name="T21" fmla="*/ 861 h 965"/>
                <a:gd name="T22" fmla="*/ 159 w 344"/>
                <a:gd name="T23" fmla="*/ 871 h 965"/>
                <a:gd name="T24" fmla="*/ 36 w 344"/>
                <a:gd name="T25" fmla="*/ 890 h 965"/>
                <a:gd name="T26" fmla="*/ 0 w 344"/>
                <a:gd name="T27" fmla="*/ 920 h 965"/>
                <a:gd name="T28" fmla="*/ 30 w 344"/>
                <a:gd name="T29" fmla="*/ 946 h 965"/>
                <a:gd name="T30" fmla="*/ 99 w 344"/>
                <a:gd name="T31" fmla="*/ 965 h 965"/>
                <a:gd name="T32" fmla="*/ 179 w 344"/>
                <a:gd name="T33" fmla="*/ 926 h 965"/>
                <a:gd name="T34" fmla="*/ 238 w 344"/>
                <a:gd name="T35" fmla="*/ 900 h 965"/>
                <a:gd name="T36" fmla="*/ 314 w 344"/>
                <a:gd name="T37" fmla="*/ 890 h 965"/>
                <a:gd name="T38" fmla="*/ 344 w 344"/>
                <a:gd name="T39" fmla="*/ 881 h 965"/>
                <a:gd name="T40" fmla="*/ 334 w 344"/>
                <a:gd name="T41" fmla="*/ 848 h 965"/>
                <a:gd name="T42" fmla="*/ 248 w 344"/>
                <a:gd name="T43" fmla="*/ 764 h 965"/>
                <a:gd name="T44" fmla="*/ 198 w 344"/>
                <a:gd name="T45" fmla="*/ 676 h 965"/>
                <a:gd name="T46" fmla="*/ 155 w 344"/>
                <a:gd name="T47" fmla="*/ 617 h 965"/>
                <a:gd name="T48" fmla="*/ 149 w 344"/>
                <a:gd name="T49" fmla="*/ 559 h 965"/>
                <a:gd name="T50" fmla="*/ 169 w 344"/>
                <a:gd name="T51" fmla="*/ 462 h 965"/>
                <a:gd name="T52" fmla="*/ 215 w 344"/>
                <a:gd name="T53" fmla="*/ 361 h 965"/>
                <a:gd name="T54" fmla="*/ 265 w 344"/>
                <a:gd name="T55" fmla="*/ 189 h 965"/>
                <a:gd name="T56" fmla="*/ 308 w 344"/>
                <a:gd name="T57" fmla="*/ 88 h 965"/>
                <a:gd name="T58" fmla="*/ 304 w 344"/>
                <a:gd name="T59" fmla="*/ 29 h 965"/>
                <a:gd name="T60" fmla="*/ 265 w 344"/>
                <a:gd name="T61" fmla="*/ 0 h 965"/>
                <a:gd name="T62" fmla="*/ 238 w 344"/>
                <a:gd name="T63" fmla="*/ 0 h 9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44" h="965">
                  <a:moveTo>
                    <a:pt x="238" y="0"/>
                  </a:moveTo>
                  <a:lnTo>
                    <a:pt x="195" y="91"/>
                  </a:lnTo>
                  <a:lnTo>
                    <a:pt x="165" y="224"/>
                  </a:lnTo>
                  <a:lnTo>
                    <a:pt x="129" y="371"/>
                  </a:lnTo>
                  <a:lnTo>
                    <a:pt x="96" y="520"/>
                  </a:lnTo>
                  <a:lnTo>
                    <a:pt x="96" y="575"/>
                  </a:lnTo>
                  <a:lnTo>
                    <a:pt x="129" y="673"/>
                  </a:lnTo>
                  <a:lnTo>
                    <a:pt x="175" y="725"/>
                  </a:lnTo>
                  <a:lnTo>
                    <a:pt x="218" y="790"/>
                  </a:lnTo>
                  <a:lnTo>
                    <a:pt x="248" y="838"/>
                  </a:lnTo>
                  <a:lnTo>
                    <a:pt x="235" y="861"/>
                  </a:lnTo>
                  <a:lnTo>
                    <a:pt x="159" y="871"/>
                  </a:lnTo>
                  <a:lnTo>
                    <a:pt x="36" y="890"/>
                  </a:lnTo>
                  <a:lnTo>
                    <a:pt x="0" y="920"/>
                  </a:lnTo>
                  <a:lnTo>
                    <a:pt x="30" y="946"/>
                  </a:lnTo>
                  <a:lnTo>
                    <a:pt x="99" y="965"/>
                  </a:lnTo>
                  <a:lnTo>
                    <a:pt x="179" y="926"/>
                  </a:lnTo>
                  <a:lnTo>
                    <a:pt x="238" y="900"/>
                  </a:lnTo>
                  <a:lnTo>
                    <a:pt x="314" y="890"/>
                  </a:lnTo>
                  <a:lnTo>
                    <a:pt x="344" y="881"/>
                  </a:lnTo>
                  <a:lnTo>
                    <a:pt x="334" y="848"/>
                  </a:lnTo>
                  <a:lnTo>
                    <a:pt x="248" y="764"/>
                  </a:lnTo>
                  <a:lnTo>
                    <a:pt x="198" y="676"/>
                  </a:lnTo>
                  <a:lnTo>
                    <a:pt x="155" y="617"/>
                  </a:lnTo>
                  <a:lnTo>
                    <a:pt x="149" y="559"/>
                  </a:lnTo>
                  <a:lnTo>
                    <a:pt x="169" y="462"/>
                  </a:lnTo>
                  <a:lnTo>
                    <a:pt x="215" y="361"/>
                  </a:lnTo>
                  <a:lnTo>
                    <a:pt x="265" y="189"/>
                  </a:lnTo>
                  <a:lnTo>
                    <a:pt x="308" y="88"/>
                  </a:lnTo>
                  <a:lnTo>
                    <a:pt x="304" y="29"/>
                  </a:lnTo>
                  <a:lnTo>
                    <a:pt x="265" y="0"/>
                  </a:lnTo>
                  <a:lnTo>
                    <a:pt x="238" y="0"/>
                  </a:lnTo>
                  <a:close/>
                </a:path>
              </a:pathLst>
            </a:custGeom>
            <a:solidFill>
              <a:srgbClr val="CC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2" name="Freeform 15">
              <a:extLst>
                <a:ext uri="{FF2B5EF4-FFF2-40B4-BE49-F238E27FC236}">
                  <a16:creationId xmlns:a16="http://schemas.microsoft.com/office/drawing/2014/main" id="{85CF235D-274B-D721-0A48-EE1E216CD3E9}"/>
                </a:ext>
              </a:extLst>
            </p:cNvPr>
            <p:cNvSpPr>
              <a:spLocks/>
            </p:cNvSpPr>
            <p:nvPr/>
          </p:nvSpPr>
          <p:spPr bwMode="auto">
            <a:xfrm>
              <a:off x="2954" y="770"/>
              <a:ext cx="170" cy="198"/>
            </a:xfrm>
            <a:custGeom>
              <a:avLst/>
              <a:gdLst>
                <a:gd name="T0" fmla="*/ 20 w 170"/>
                <a:gd name="T1" fmla="*/ 9 h 198"/>
                <a:gd name="T2" fmla="*/ 66 w 170"/>
                <a:gd name="T3" fmla="*/ 0 h 198"/>
                <a:gd name="T4" fmla="*/ 110 w 170"/>
                <a:gd name="T5" fmla="*/ 3 h 198"/>
                <a:gd name="T6" fmla="*/ 150 w 170"/>
                <a:gd name="T7" fmla="*/ 22 h 198"/>
                <a:gd name="T8" fmla="*/ 170 w 170"/>
                <a:gd name="T9" fmla="*/ 58 h 198"/>
                <a:gd name="T10" fmla="*/ 170 w 170"/>
                <a:gd name="T11" fmla="*/ 87 h 198"/>
                <a:gd name="T12" fmla="*/ 150 w 170"/>
                <a:gd name="T13" fmla="*/ 126 h 198"/>
                <a:gd name="T14" fmla="*/ 116 w 170"/>
                <a:gd name="T15" fmla="*/ 149 h 198"/>
                <a:gd name="T16" fmla="*/ 66 w 170"/>
                <a:gd name="T17" fmla="*/ 149 h 198"/>
                <a:gd name="T18" fmla="*/ 36 w 170"/>
                <a:gd name="T19" fmla="*/ 168 h 198"/>
                <a:gd name="T20" fmla="*/ 26 w 170"/>
                <a:gd name="T21" fmla="*/ 198 h 198"/>
                <a:gd name="T22" fmla="*/ 0 w 170"/>
                <a:gd name="T23" fmla="*/ 188 h 198"/>
                <a:gd name="T24" fmla="*/ 10 w 170"/>
                <a:gd name="T25" fmla="*/ 149 h 198"/>
                <a:gd name="T26" fmla="*/ 46 w 170"/>
                <a:gd name="T27" fmla="*/ 126 h 198"/>
                <a:gd name="T28" fmla="*/ 106 w 170"/>
                <a:gd name="T29" fmla="*/ 120 h 198"/>
                <a:gd name="T30" fmla="*/ 130 w 170"/>
                <a:gd name="T31" fmla="*/ 97 h 198"/>
                <a:gd name="T32" fmla="*/ 136 w 170"/>
                <a:gd name="T33" fmla="*/ 61 h 198"/>
                <a:gd name="T34" fmla="*/ 110 w 170"/>
                <a:gd name="T35" fmla="*/ 29 h 198"/>
                <a:gd name="T36" fmla="*/ 70 w 170"/>
                <a:gd name="T37" fmla="*/ 29 h 198"/>
                <a:gd name="T38" fmla="*/ 26 w 170"/>
                <a:gd name="T39" fmla="*/ 39 h 198"/>
                <a:gd name="T40" fmla="*/ 10 w 170"/>
                <a:gd name="T41" fmla="*/ 29 h 198"/>
                <a:gd name="T42" fmla="*/ 20 w 170"/>
                <a:gd name="T43" fmla="*/ 9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70" h="198">
                  <a:moveTo>
                    <a:pt x="20" y="9"/>
                  </a:moveTo>
                  <a:lnTo>
                    <a:pt x="66" y="0"/>
                  </a:lnTo>
                  <a:lnTo>
                    <a:pt x="110" y="3"/>
                  </a:lnTo>
                  <a:lnTo>
                    <a:pt x="150" y="22"/>
                  </a:lnTo>
                  <a:lnTo>
                    <a:pt x="170" y="58"/>
                  </a:lnTo>
                  <a:lnTo>
                    <a:pt x="170" y="87"/>
                  </a:lnTo>
                  <a:lnTo>
                    <a:pt x="150" y="126"/>
                  </a:lnTo>
                  <a:lnTo>
                    <a:pt x="116" y="149"/>
                  </a:lnTo>
                  <a:lnTo>
                    <a:pt x="66" y="149"/>
                  </a:lnTo>
                  <a:lnTo>
                    <a:pt x="36" y="168"/>
                  </a:lnTo>
                  <a:lnTo>
                    <a:pt x="26" y="198"/>
                  </a:lnTo>
                  <a:lnTo>
                    <a:pt x="0" y="188"/>
                  </a:lnTo>
                  <a:lnTo>
                    <a:pt x="10" y="149"/>
                  </a:lnTo>
                  <a:lnTo>
                    <a:pt x="46" y="126"/>
                  </a:lnTo>
                  <a:lnTo>
                    <a:pt x="106" y="120"/>
                  </a:lnTo>
                  <a:lnTo>
                    <a:pt x="130" y="97"/>
                  </a:lnTo>
                  <a:lnTo>
                    <a:pt x="136" y="61"/>
                  </a:lnTo>
                  <a:lnTo>
                    <a:pt x="110" y="29"/>
                  </a:lnTo>
                  <a:lnTo>
                    <a:pt x="70" y="29"/>
                  </a:lnTo>
                  <a:lnTo>
                    <a:pt x="26" y="39"/>
                  </a:lnTo>
                  <a:lnTo>
                    <a:pt x="10" y="29"/>
                  </a:lnTo>
                  <a:lnTo>
                    <a:pt x="20" y="9"/>
                  </a:lnTo>
                  <a:close/>
                </a:path>
              </a:pathLst>
            </a:custGeom>
            <a:solidFill>
              <a:srgbClr val="CC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 name="Freeform 16">
              <a:extLst>
                <a:ext uri="{FF2B5EF4-FFF2-40B4-BE49-F238E27FC236}">
                  <a16:creationId xmlns:a16="http://schemas.microsoft.com/office/drawing/2014/main" id="{4F55DF66-BDD1-998E-C5D0-DE5270140EEF}"/>
                </a:ext>
              </a:extLst>
            </p:cNvPr>
            <p:cNvSpPr>
              <a:spLocks/>
            </p:cNvSpPr>
            <p:nvPr/>
          </p:nvSpPr>
          <p:spPr bwMode="auto">
            <a:xfrm>
              <a:off x="2913" y="1001"/>
              <a:ext cx="53" cy="54"/>
            </a:xfrm>
            <a:custGeom>
              <a:avLst/>
              <a:gdLst>
                <a:gd name="T0" fmla="*/ 53 w 53"/>
                <a:gd name="T1" fmla="*/ 3 h 54"/>
                <a:gd name="T2" fmla="*/ 26 w 53"/>
                <a:gd name="T3" fmla="*/ 0 h 54"/>
                <a:gd name="T4" fmla="*/ 8 w 53"/>
                <a:gd name="T5" fmla="*/ 20 h 54"/>
                <a:gd name="T6" fmla="*/ 0 w 53"/>
                <a:gd name="T7" fmla="*/ 51 h 54"/>
                <a:gd name="T8" fmla="*/ 26 w 53"/>
                <a:gd name="T9" fmla="*/ 54 h 54"/>
                <a:gd name="T10" fmla="*/ 48 w 53"/>
                <a:gd name="T11" fmla="*/ 40 h 54"/>
                <a:gd name="T12" fmla="*/ 53 w 53"/>
                <a:gd name="T13" fmla="*/ 3 h 54"/>
              </a:gdLst>
              <a:ahLst/>
              <a:cxnLst>
                <a:cxn ang="0">
                  <a:pos x="T0" y="T1"/>
                </a:cxn>
                <a:cxn ang="0">
                  <a:pos x="T2" y="T3"/>
                </a:cxn>
                <a:cxn ang="0">
                  <a:pos x="T4" y="T5"/>
                </a:cxn>
                <a:cxn ang="0">
                  <a:pos x="T6" y="T7"/>
                </a:cxn>
                <a:cxn ang="0">
                  <a:pos x="T8" y="T9"/>
                </a:cxn>
                <a:cxn ang="0">
                  <a:pos x="T10" y="T11"/>
                </a:cxn>
                <a:cxn ang="0">
                  <a:pos x="T12" y="T13"/>
                </a:cxn>
              </a:cxnLst>
              <a:rect l="0" t="0" r="r" b="b"/>
              <a:pathLst>
                <a:path w="53" h="54">
                  <a:moveTo>
                    <a:pt x="53" y="3"/>
                  </a:moveTo>
                  <a:lnTo>
                    <a:pt x="26" y="0"/>
                  </a:lnTo>
                  <a:lnTo>
                    <a:pt x="8" y="20"/>
                  </a:lnTo>
                  <a:lnTo>
                    <a:pt x="0" y="51"/>
                  </a:lnTo>
                  <a:lnTo>
                    <a:pt x="26" y="54"/>
                  </a:lnTo>
                  <a:lnTo>
                    <a:pt x="48" y="40"/>
                  </a:lnTo>
                  <a:lnTo>
                    <a:pt x="53" y="3"/>
                  </a:lnTo>
                  <a:close/>
                </a:path>
              </a:pathLst>
            </a:custGeom>
            <a:solidFill>
              <a:srgbClr val="CC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Tree>
    <p:extLst>
      <p:ext uri="{BB962C8B-B14F-4D97-AF65-F5344CB8AC3E}">
        <p14:creationId xmlns:p14="http://schemas.microsoft.com/office/powerpoint/2010/main" val="3344003918"/>
      </p:ext>
    </p:extLst>
  </p:cSld>
  <p:clrMapOvr>
    <a:masterClrMapping/>
  </p:clrMapOvr>
</p:sld>
</file>

<file path=ppt/theme/theme1.xml><?xml version="1.0" encoding="utf-8"?>
<a:theme xmlns:a="http://schemas.openxmlformats.org/drawingml/2006/main" name="1_Office Theme">
  <a:themeElements>
    <a:clrScheme name="HUIT">
      <a:dk1>
        <a:srgbClr val="000000"/>
      </a:dk1>
      <a:lt1>
        <a:srgbClr val="FFFFFF"/>
      </a:lt1>
      <a:dk2>
        <a:srgbClr val="354253"/>
      </a:dk2>
      <a:lt2>
        <a:srgbClr val="E7E6E6"/>
      </a:lt2>
      <a:accent1>
        <a:srgbClr val="044F9E"/>
      </a:accent1>
      <a:accent2>
        <a:srgbClr val="2072B7"/>
      </a:accent2>
      <a:accent3>
        <a:srgbClr val="4CC4EB"/>
      </a:accent3>
      <a:accent4>
        <a:srgbClr val="E81F26"/>
      </a:accent4>
      <a:accent5>
        <a:srgbClr val="FEC01D"/>
      </a:accent5>
      <a:accent6>
        <a:srgbClr val="DBD014"/>
      </a:accent6>
      <a:hlink>
        <a:srgbClr val="2072B7"/>
      </a:hlink>
      <a:folHlink>
        <a:srgbClr val="044F9E"/>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888</TotalTime>
  <Words>1505</Words>
  <Application>Microsoft Office PowerPoint</Application>
  <PresentationFormat>Widescreen</PresentationFormat>
  <Paragraphs>134</Paragraphs>
  <Slides>29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29</vt:i4>
      </vt:variant>
    </vt:vector>
  </HeadingPairs>
  <TitlesOfParts>
    <vt:vector size="36" baseType="lpstr">
      <vt:lpstr>Aptos</vt:lpstr>
      <vt:lpstr>Arial</vt:lpstr>
      <vt:lpstr>Calibri</vt:lpstr>
      <vt:lpstr>Myriad Pro</vt:lpstr>
      <vt:lpstr>Times New Roman</vt:lpstr>
      <vt:lpstr>Wingdings</vt:lpstr>
      <vt:lpstr>1_Office Theme</vt:lpstr>
      <vt:lpstr>PowerPoint Presentation</vt:lpstr>
      <vt:lpstr>NỘI DUNG</vt:lpstr>
      <vt:lpstr>MỤC TIÊU</vt:lpstr>
      <vt:lpstr>GIỚI THIỆU</vt:lpstr>
      <vt:lpstr>KHÁI NIỆM VỀ THREAD</vt:lpstr>
      <vt:lpstr>KHÁI NIỆM VỀ THREAD</vt:lpstr>
      <vt:lpstr>TẠO VÀ QUẢN LÝ THREAD</vt:lpstr>
      <vt:lpstr>TẠO VÀ QUẢN LÝ THREAD</vt:lpstr>
      <vt:lpstr>TẠO VÀ QUẢN LÝ THREAD</vt:lpstr>
      <vt:lpstr>TẠO VÀ QUẢN LÝ THREAD</vt:lpstr>
      <vt:lpstr>ỨNG DỤNG THREAD TRONG SERVER</vt:lpstr>
      <vt:lpstr>ỨNG DỤNG THREAD TRONG SERVER</vt:lpstr>
      <vt:lpstr>ỨNG DỤNG THREAD TRONG SERVER</vt:lpstr>
      <vt:lpstr>SỬ DỤNG THREAD CHO VIỆC TRUYỀN VÀ NHẬN DỮ LIỆU</vt:lpstr>
      <vt:lpstr>SỬ DỤNG THREAD CHO VIỆC TRUYỀN VÀ NHẬN DỮ LIỆU</vt:lpstr>
      <vt:lpstr>SỬ DỤNG THREAD CHO VIỆC TRUYỀN VÀ NHẬN DỮ LIỆU</vt:lpstr>
      <vt:lpstr>SỬ DỤNG THREAD CHO VIỆC TRUYỀN VÀ NHẬN DỮ LIỆU</vt:lpstr>
      <vt:lpstr>SỬ DỤNG THREAD CHO VIỆC TRUYỀN VÀ NHẬN DỮ LIỆU</vt:lpstr>
      <vt:lpstr>THREAD POOL</vt:lpstr>
      <vt:lpstr>THREAD POOL</vt:lpstr>
      <vt:lpstr>THREAD POOL</vt:lpstr>
      <vt:lpstr>THREAD POOL</vt:lpstr>
      <vt:lpstr>THREAD POOL</vt:lpstr>
      <vt:lpstr>THREAD POOL</vt:lpstr>
      <vt:lpstr>THREAD POOL</vt:lpstr>
      <vt:lpstr>THREAD POOL</vt:lpstr>
      <vt:lpstr>THREAD POOL</vt:lpstr>
      <vt:lpstr>THREAD POOL</vt:lpstr>
      <vt:lpstr>Q&amp;A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Võ Văn Vũ</dc:creator>
  <cp:lastModifiedBy>Ngô Quốc Huy - Khoa Công nghệ Thông tin - VLTECH</cp:lastModifiedBy>
  <cp:revision>94</cp:revision>
  <dcterms:created xsi:type="dcterms:W3CDTF">2023-11-06T07:10:59Z</dcterms:created>
  <dcterms:modified xsi:type="dcterms:W3CDTF">2025-08-14T09:23:57Z</dcterms:modified>
</cp:coreProperties>
</file>