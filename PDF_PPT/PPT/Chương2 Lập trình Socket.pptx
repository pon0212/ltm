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10"/>
    <p:restoredTop sz="85185" autoAdjust="0"/>
  </p:normalViewPr>
  <p:slideViewPr>
    <p:cSldViewPr snapToGrid="0">
      <p:cViewPr varScale="1">
        <p:scale>
          <a:sx n="50" d="100"/>
          <a:sy n="50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4E373-69D0-4F11-ACC6-88E50A6C7809}" type="datetimeFigureOut">
              <a:rPr lang="en-US" smtClean="0"/>
              <a:t>08/08/2025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96FD-4067-4E15-8157-23C3103A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en-V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v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08/08/2025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1956757" y="2104808"/>
            <a:ext cx="80751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CHƯƠNG </a:t>
            </a:r>
            <a:r>
              <a:rPr lang="en-US" sz="4400" b="1">
                <a:solidFill>
                  <a:srgbClr val="034EA2"/>
                </a:solidFill>
                <a:latin typeface="Myriad Pro" panose="020B0503030403020204" pitchFamily="34" charset="0"/>
              </a:rPr>
              <a:t>2</a:t>
            </a:r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: </a:t>
            </a:r>
            <a:r>
              <a:rPr lang="en-US" sz="4400" b="1">
                <a:solidFill>
                  <a:srgbClr val="034EA2"/>
                </a:solidFill>
                <a:latin typeface="Myriad Pro" panose="020B0503030403020204" pitchFamily="34" charset="0"/>
              </a:rPr>
              <a:t>LẬP TRÌNH SOCKET</a:t>
            </a:r>
            <a:endParaRPr lang="en-VN" sz="44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835E-8FBD-4BE0-3E3F-C8D650B6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16272-44EF-B819-55DF-B8A5410F6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  <a:p>
            <a:r>
              <a:rPr lang="en-US"/>
              <a:t>Lớp Socket trong ngôn ngữ lập trình</a:t>
            </a:r>
          </a:p>
          <a:p>
            <a:r>
              <a:rPr lang="en-US"/>
              <a:t>Các lớp phân giải DNS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4CD6-D8FB-1A10-25DB-6B7E349A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3306-770E-57DC-8962-64A4DDD4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Hiểu rõ khái niệm và vai trò của Socket trong lập trình mạng.</a:t>
            </a:r>
            <a:endParaRPr lang="en-US"/>
          </a:p>
          <a:p>
            <a:r>
              <a:rPr lang="vi-VN"/>
              <a:t>Nắm vững các loại Socket (TCP, UDP) và đặc điểm của chúng.Biết cách thiết lập mô hình Client-Server cơ bản.</a:t>
            </a:r>
            <a:endParaRPr lang="en-US"/>
          </a:p>
          <a:p>
            <a:r>
              <a:rPr lang="vi-VN"/>
              <a:t>Thực hành lập trình Socket với các ngôn ngữ phổ biến.</a:t>
            </a:r>
            <a:endParaRPr lang="en-US"/>
          </a:p>
          <a:p>
            <a:r>
              <a:rPr lang="vi-VN"/>
              <a:t>Hiểu về cơ chế phân giải tên miền (DNS) và cách thức hoạt động.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13AA-5840-91DF-26F8-98CF5F9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F45E-0E38-C415-03D8-65DA5D14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vi-VN"/>
              <a:t>Lập trình mạng là gì?</a:t>
            </a:r>
            <a:endParaRPr lang="en-US"/>
          </a:p>
          <a:p>
            <a:pPr lvl="1"/>
            <a:r>
              <a:rPr lang="en-US" sz="2600"/>
              <a:t>Là quá trình xây dựng các ứng dụng có khả năng giao tiếp, trao đổi dữ liệu với nhau qua mạng.</a:t>
            </a:r>
          </a:p>
          <a:p>
            <a:pPr lvl="1"/>
            <a:r>
              <a:rPr lang="en-US" sz="2600"/>
              <a:t>Tạo nền tảng cho nhiều ứng dụng quen thuộc: trình duyệt web, ứng dụng chat, game online, email...</a:t>
            </a:r>
          </a:p>
          <a:p>
            <a:pPr lvl="1"/>
            <a:r>
              <a:rPr lang="en-US" sz="2600"/>
              <a:t>Yêu cầu hiểu biết về các giao thức mạng (TCP/IP, UDP), địa chỉ IP, và cổng (port).</a:t>
            </a:r>
          </a:p>
        </p:txBody>
      </p:sp>
    </p:spTree>
    <p:extLst>
      <p:ext uri="{BB962C8B-B14F-4D97-AF65-F5344CB8AC3E}">
        <p14:creationId xmlns:p14="http://schemas.microsoft.com/office/powerpoint/2010/main" val="406765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0EBAB-EDEC-7DB0-81F4-B4602CC03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FD3E-3EA0-0C21-9DCD-248D7593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E378D-9195-F955-D740-B9CCD2177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vi-VN"/>
              <a:t>Khái niệm Socket</a:t>
            </a:r>
            <a:endParaRPr lang="en-US"/>
          </a:p>
          <a:p>
            <a:pPr lvl="1"/>
            <a:r>
              <a:rPr lang="vi-VN" sz="2600"/>
              <a:t>Socket là giao diện lập trình ứng dụng mạng được dùng để truyền và nhận dữ liệu qua mạng. </a:t>
            </a:r>
          </a:p>
          <a:p>
            <a:pPr lvl="1"/>
            <a:r>
              <a:rPr lang="vi-VN" sz="2600"/>
              <a:t>Giữa hai chương trình chạy trên mạng cần có một liên kết giao tiếp hai chiều, hay còn gọi là two-way communication để kết nối 2 process trò chuyện với nhau. </a:t>
            </a:r>
            <a:endParaRPr lang="en-US" sz="2600"/>
          </a:p>
          <a:p>
            <a:pPr lvl="1"/>
            <a:r>
              <a:rPr lang="vi-VN" sz="2600"/>
              <a:t>Điểm cuối (endpoint) của liên kết này được gọi là socket.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A1003-AC5D-BD74-F6AC-714F3511B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226" y="6176963"/>
            <a:ext cx="468554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9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E49F-371A-75A3-4AC0-4E0116C6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58B1-2B0C-E795-0936-8FD1B0D2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6828-0865-89BF-1408-8F901708A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vi-VN"/>
              <a:t>Tại sao cần sử dụng Socket?</a:t>
            </a:r>
          </a:p>
          <a:p>
            <a:pPr lvl="1"/>
            <a:r>
              <a:rPr lang="vi-VN" sz="2600"/>
              <a:t>Giao tiếp đa tiến trình: Cho phép các tiến trình trên các máy tính khác nhau giao tiếp với nhau.</a:t>
            </a:r>
          </a:p>
          <a:p>
            <a:pPr lvl="1"/>
            <a:r>
              <a:rPr lang="vi-VN" sz="2600"/>
              <a:t>Kiểm soát luồng dữ liệu: Cho phép lập trình viên kiểm soát trực tiếp việc gửi/nhận dữ liệu ở mức thấp (cấp vận chuyển).</a:t>
            </a:r>
          </a:p>
          <a:p>
            <a:pPr lvl="1"/>
            <a:r>
              <a:rPr lang="vi-VN" sz="2600"/>
              <a:t>Nền tảng cho mô hình Client-Server: Là công cụ cơ bản để xây dựng các ứng dụng theo mô hình này.</a:t>
            </a:r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82252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7F3D-718C-EA21-9757-5AFEBE69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C4DE-39A9-1FD0-61F2-54B939D8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DC5C0-B101-2A83-EDF7-390F03108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/>
              <a:t>Phân loại Socket</a:t>
            </a:r>
            <a:endParaRPr lang="vi-VN" sz="2600"/>
          </a:p>
          <a:p>
            <a:pPr lvl="1"/>
            <a:r>
              <a:rPr lang="vi-VN"/>
              <a:t>Có hai loại Socket chính tương ứng với hai giao thức chính ở tầng Giao vận:</a:t>
            </a:r>
          </a:p>
          <a:p>
            <a:pPr lvl="2"/>
            <a:r>
              <a:rPr lang="vi-VN" sz="2200"/>
              <a:t>Stream Socket (dựa trên TCP):</a:t>
            </a:r>
          </a:p>
          <a:p>
            <a:pPr lvl="3"/>
            <a:r>
              <a:rPr lang="vi-VN" sz="2000"/>
              <a:t>Hướng kết nối (connection-oriented).</a:t>
            </a:r>
          </a:p>
          <a:p>
            <a:pPr lvl="3"/>
            <a:r>
              <a:rPr lang="vi-VN" sz="2000"/>
              <a:t>Đảm bảo dữ liệu đến nơi một cách tin cậy, đúng thứ tự.</a:t>
            </a:r>
          </a:p>
          <a:p>
            <a:pPr lvl="3"/>
            <a:r>
              <a:rPr lang="vi-VN" sz="2000"/>
              <a:t>Thích hợp cho các ứng dụng yêu cầu độ chính xác cao: truyền file, email, web.</a:t>
            </a:r>
          </a:p>
          <a:p>
            <a:pPr lvl="3"/>
            <a:endParaRPr lang="vi-VN" sz="2000"/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423983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5B17B-5E49-A0DC-BE3F-AF1CE6F8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23CD-CB2B-8DD7-1788-B668AE46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C2F88-AB38-CD9F-AFA6-C516244F8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/>
              <a:t>Phân loại Socket</a:t>
            </a:r>
            <a:endParaRPr lang="vi-VN"/>
          </a:p>
          <a:p>
            <a:pPr lvl="1"/>
            <a:r>
              <a:rPr lang="vi-VN" sz="2600"/>
              <a:t>Có hai loại Socket chính tương ứng với hai giao thức chính ở tầng Giao vận:</a:t>
            </a:r>
          </a:p>
          <a:p>
            <a:pPr lvl="2"/>
            <a:r>
              <a:rPr lang="en-US" sz="2400" b="1"/>
              <a:t>Datagram Socket (dựa trên UDP):</a:t>
            </a:r>
            <a:endParaRPr lang="en-US" sz="2400"/>
          </a:p>
          <a:p>
            <a:pPr lvl="3"/>
            <a:r>
              <a:rPr lang="en-US" sz="2200"/>
              <a:t>Không hướng kết nối (connectionless).</a:t>
            </a:r>
          </a:p>
          <a:p>
            <a:pPr lvl="3"/>
            <a:r>
              <a:rPr lang="en-US" sz="2200"/>
              <a:t>Không đảm bảo dữ liệu đến nơi hoặc đúng thứ tự.</a:t>
            </a:r>
          </a:p>
          <a:p>
            <a:pPr lvl="3"/>
            <a:r>
              <a:rPr lang="en-US" sz="2200"/>
              <a:t>Tốc độ cao hơn, overhead thấp hơn.</a:t>
            </a:r>
          </a:p>
          <a:p>
            <a:pPr lvl="3"/>
            <a:r>
              <a:rPr lang="en-US" sz="2200"/>
              <a:t>Thích hợp cho các ứng dụng thời gian thực: live streaming, game online, DNS.</a:t>
            </a:r>
          </a:p>
          <a:p>
            <a:pPr lvl="6"/>
            <a:endParaRPr lang="vi-VN" sz="2000"/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141789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84E8-C789-81E5-97EC-CDAB5D6F3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3B05-A76D-F4B8-2339-73E7FAA3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B497-3231-C9C8-BFA6-A99BA85E5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Tổng quan về mô hình Client-Server</a:t>
            </a:r>
            <a:endParaRPr lang="vi-VN"/>
          </a:p>
          <a:p>
            <a:pPr lvl="1"/>
            <a:r>
              <a:rPr lang="en-US" sz="2600" b="1"/>
              <a:t>Server (Máy chủ):</a:t>
            </a:r>
            <a:endParaRPr lang="en-US" sz="2600"/>
          </a:p>
          <a:p>
            <a:pPr lvl="2"/>
            <a:r>
              <a:rPr lang="en-US" sz="2400"/>
              <a:t>Chờ đợi kết nối từ các máy khách.</a:t>
            </a:r>
          </a:p>
          <a:p>
            <a:pPr lvl="2"/>
            <a:r>
              <a:rPr lang="en-US" sz="2400"/>
              <a:t>Lắng nghe trên một địa chỉ IP và một số cổng cụ thể.</a:t>
            </a:r>
          </a:p>
          <a:p>
            <a:pPr lvl="2"/>
            <a:r>
              <a:rPr lang="en-US" sz="2400"/>
              <a:t>Chấp nhận kết nối và xử lý yêu cầu của Client.</a:t>
            </a:r>
          </a:p>
          <a:p>
            <a:pPr lvl="6"/>
            <a:endParaRPr lang="vi-VN" sz="2000"/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197843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730AB-80D0-F1C5-8360-BA5C9AB5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C414-ABD4-11F6-1FF0-4F7E7991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EAC0-4577-1F33-5528-B72335651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Tổng quan về mô hình Client-Server</a:t>
            </a:r>
            <a:endParaRPr lang="vi-VN"/>
          </a:p>
          <a:p>
            <a:pPr lvl="1"/>
            <a:r>
              <a:rPr lang="en-US" sz="2600" b="1"/>
              <a:t>Client (Máy khách):</a:t>
            </a:r>
          </a:p>
          <a:p>
            <a:pPr lvl="2"/>
            <a:r>
              <a:rPr lang="en-US" sz="2400"/>
              <a:t>Biết địa chỉ IP và số cổng của Server.</a:t>
            </a:r>
          </a:p>
          <a:p>
            <a:pPr lvl="2"/>
            <a:r>
              <a:rPr lang="en-US" sz="2400"/>
              <a:t>Khởi tạo kết nối đến Server.</a:t>
            </a:r>
          </a:p>
          <a:p>
            <a:pPr lvl="2"/>
            <a:r>
              <a:rPr lang="en-US" sz="2400"/>
              <a:t>Gửi yêu cầu và nhận phản hồi từ Server.</a:t>
            </a:r>
          </a:p>
          <a:p>
            <a:pPr lvl="2"/>
            <a:endParaRPr lang="en-US" sz="2400"/>
          </a:p>
          <a:p>
            <a:pPr lvl="6"/>
            <a:endParaRPr lang="vi-VN" sz="2000"/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3372164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4600-FC6E-87BC-7B2D-C13AFC9B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61C0-A29A-A6EC-45C3-51F013DC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6078C-0859-4327-9110-BA71F29B3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/>
              <a:t>Quy trình hoạt động của Stream Socket (TCP) - Phía Server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Tạo Socket:</a:t>
            </a:r>
            <a:r>
              <a:rPr lang="en-US"/>
              <a:t> socket()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Gán địa chỉ:</a:t>
            </a:r>
            <a:r>
              <a:rPr lang="en-US"/>
              <a:t> bind() - Gắn Socket vào một địa chỉ IP và port.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Lắng nghe:</a:t>
            </a:r>
            <a:r>
              <a:rPr lang="en-US"/>
              <a:t> listen() - Đặt Socket vào trạng thái chờ kết nối.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Chấp nhận kết nối:</a:t>
            </a:r>
            <a:r>
              <a:rPr lang="en-US"/>
              <a:t> accept() - Chấp nhận kết nối từ Client, tạo ra một Socket mới để giao tiếp riêng với Client đó.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Giao tiếp:</a:t>
            </a:r>
            <a:r>
              <a:rPr lang="en-US"/>
              <a:t> send()/recv() - Trao đổi dữ liệu.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Đóng Socket:</a:t>
            </a:r>
            <a:r>
              <a:rPr lang="en-US"/>
              <a:t> close()</a:t>
            </a:r>
            <a:endParaRPr lang="en-US" sz="2000"/>
          </a:p>
          <a:p>
            <a:pPr lvl="6"/>
            <a:endParaRPr lang="vi-VN" sz="2000"/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1362869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5140-06B9-EAFE-9116-4F9A1895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F8AF-112E-5BB1-0474-3E66115D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D713C-F81E-78C3-3720-464F2E80D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Quy trình hoạt động của Stream Socket (TCP) - Phía Client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Tạo Socket:</a:t>
            </a:r>
            <a:r>
              <a:rPr lang="en-US"/>
              <a:t> socket()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Kết nối:</a:t>
            </a:r>
            <a:r>
              <a:rPr lang="en-US"/>
              <a:t> connect() - Kết nối đến Server với địa chỉ IP và port đã biết.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Giao tiếp:</a:t>
            </a:r>
            <a:r>
              <a:rPr lang="en-US"/>
              <a:t> send()/recv() - Trao đổi dữ liệu.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/>
              <a:t>Đóng Socket:</a:t>
            </a:r>
            <a:r>
              <a:rPr lang="en-US"/>
              <a:t> close()</a:t>
            </a:r>
            <a:endParaRPr lang="vi-VN" sz="4000"/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258444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2231-9C37-FECC-DECE-F04EDED7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F233-1339-E7E5-5A42-6A70843C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0F11-3A03-8FDF-C0F3-2B0C8A82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Quy trình hoạt động của Datagram Socket (UDP)</a:t>
            </a:r>
          </a:p>
          <a:p>
            <a:pPr lvl="1"/>
            <a:r>
              <a:rPr lang="en-US" sz="2600" b="1"/>
              <a:t>Không cần kết nối:</a:t>
            </a:r>
            <a:r>
              <a:rPr lang="en-US" sz="2600"/>
              <a:t> Cả Client và Server đều không cần thiết lập kết nối trước.</a:t>
            </a:r>
          </a:p>
          <a:p>
            <a:pPr lvl="1"/>
            <a:r>
              <a:rPr lang="en-US" sz="2600" b="1"/>
              <a:t>Phía Server:</a:t>
            </a:r>
            <a:endParaRPr lang="en-US" sz="2600"/>
          </a:p>
          <a:p>
            <a:pPr lvl="2"/>
            <a:r>
              <a:rPr lang="en-US" sz="2200"/>
              <a:t>socket()</a:t>
            </a:r>
          </a:p>
          <a:p>
            <a:pPr lvl="2"/>
            <a:r>
              <a:rPr lang="en-US" sz="2200"/>
              <a:t>bind()</a:t>
            </a:r>
          </a:p>
          <a:p>
            <a:pPr lvl="2"/>
            <a:r>
              <a:rPr lang="en-US" sz="2200"/>
              <a:t>recvfrom() - Nhận dữ liệu, đồng thời biết được địa chỉ của Client.</a:t>
            </a:r>
            <a:endParaRPr lang="vi-VN" sz="2200"/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208272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E336-A188-7707-1B2D-AC5DC27A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9F80-4F74-3ABF-3221-28963F41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D06EE-3E33-F981-219A-47C863F25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Quy trình hoạt động của Datagram Socket (UDP)</a:t>
            </a:r>
          </a:p>
          <a:p>
            <a:pPr lvl="1"/>
            <a:r>
              <a:rPr lang="en-US" sz="2600" b="1"/>
              <a:t>Không cần kết nối:</a:t>
            </a:r>
            <a:r>
              <a:rPr lang="en-US" sz="2600"/>
              <a:t> Cả Client và Server đều không cần thiết lập kết nối trước.</a:t>
            </a:r>
          </a:p>
          <a:p>
            <a:pPr lvl="1"/>
            <a:r>
              <a:rPr lang="en-US" b="1"/>
              <a:t>Phía Client:</a:t>
            </a:r>
            <a:endParaRPr lang="en-US"/>
          </a:p>
          <a:p>
            <a:pPr lvl="1"/>
            <a:r>
              <a:rPr lang="en-US"/>
              <a:t>socket()</a:t>
            </a:r>
          </a:p>
          <a:p>
            <a:pPr lvl="1"/>
            <a:r>
              <a:rPr lang="en-US"/>
              <a:t>sendto() - Gửi dữ liệu đến Server, kèm theo địa chỉ của Server.</a:t>
            </a:r>
            <a:endParaRPr lang="vi-VN" sz="5000"/>
          </a:p>
        </p:txBody>
      </p:sp>
    </p:spTree>
    <p:extLst>
      <p:ext uri="{BB962C8B-B14F-4D97-AF65-F5344CB8AC3E}">
        <p14:creationId xmlns:p14="http://schemas.microsoft.com/office/powerpoint/2010/main" val="397861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B408-5E26-D632-2197-246FE1CD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117A-9567-D0D1-D014-D144948E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BF651-FB9A-E152-DF4F-2CD64AA33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Socket trong các ngôn ngữ lập trình</a:t>
            </a:r>
          </a:p>
          <a:p>
            <a:pPr lvl="1"/>
            <a:r>
              <a:rPr lang="en-US" sz="2600"/>
              <a:t>Các ngôn ngữ lập trình phổ biến đều có thư viện hỗ trợ lập trình Socket.</a:t>
            </a:r>
          </a:p>
          <a:p>
            <a:pPr lvl="1"/>
            <a:r>
              <a:rPr lang="en-US" sz="2600" b="1"/>
              <a:t>Python:</a:t>
            </a:r>
            <a:r>
              <a:rPr lang="en-US" sz="2600"/>
              <a:t> Module socket.</a:t>
            </a:r>
          </a:p>
          <a:p>
            <a:pPr lvl="1"/>
            <a:r>
              <a:rPr lang="en-US" sz="2600" b="1"/>
              <a:t>Java:</a:t>
            </a:r>
            <a:r>
              <a:rPr lang="en-US" sz="2600"/>
              <a:t> Các lớp Socket và ServerSocket trong gói java.net.</a:t>
            </a:r>
          </a:p>
          <a:p>
            <a:pPr lvl="1"/>
            <a:r>
              <a:rPr lang="en-US" sz="2600" b="1"/>
              <a:t>C#:</a:t>
            </a:r>
            <a:r>
              <a:rPr lang="en-US" sz="2600"/>
              <a:t> Các lớp Socket, TcpClient, TcpListener trong System.Net.Sockets.</a:t>
            </a:r>
          </a:p>
          <a:p>
            <a:pPr lvl="1"/>
            <a:r>
              <a:rPr lang="en-US" sz="2600" b="1"/>
              <a:t>C/C++:</a:t>
            </a:r>
            <a:r>
              <a:rPr lang="en-US" sz="2600"/>
              <a:t> Hệ thống các hàm chuẩn POSIX Socket API (socket(), bind(), listen(), connect(),...).</a:t>
            </a:r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2564751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0C96-82D7-DDCB-C804-24FA8802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53E3-287C-A2DC-5CFD-3488338B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305"/>
            <a:ext cx="11353800" cy="806384"/>
          </a:xfrm>
        </p:spPr>
        <p:txBody>
          <a:bodyPr>
            <a:normAutofit/>
          </a:bodyPr>
          <a:lstStyle/>
          <a:p>
            <a:r>
              <a:rPr lang="en-US" sz="3800"/>
              <a:t>LỚP SOCKET TRONG CÁC NGÔN NGỮ LẬP TRÌNH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7F28F-8C43-EBFD-3FB9-28FCF3CE9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Socket trong Python</a:t>
            </a:r>
          </a:p>
          <a:p>
            <a:pPr lvl="1"/>
            <a:r>
              <a:rPr lang="en-US" sz="2600" b="1"/>
              <a:t>Module:</a:t>
            </a:r>
            <a:r>
              <a:rPr lang="en-US" sz="2600"/>
              <a:t> socket</a:t>
            </a:r>
          </a:p>
          <a:p>
            <a:pPr lvl="1"/>
            <a:r>
              <a:rPr lang="en-US" sz="2600" b="1"/>
              <a:t>Tạo một Socket:</a:t>
            </a:r>
            <a:r>
              <a:rPr lang="en-US" sz="2600"/>
              <a:t> s = socket.socket(socket.AF_INET, socket.SOCK_STREAM)</a:t>
            </a:r>
          </a:p>
          <a:p>
            <a:pPr lvl="1"/>
            <a:r>
              <a:rPr lang="en-US" sz="2600" b="1"/>
              <a:t>Các tham số:</a:t>
            </a:r>
            <a:endParaRPr lang="en-US" sz="2600"/>
          </a:p>
          <a:p>
            <a:pPr lvl="2"/>
            <a:r>
              <a:rPr lang="en-US" sz="2200"/>
              <a:t>socket.AF_INET: Sử dụng giao thức IPv4.</a:t>
            </a:r>
          </a:p>
          <a:p>
            <a:pPr lvl="2"/>
            <a:r>
              <a:rPr lang="en-US" sz="2200"/>
              <a:t>socket.SOCK_STREAM: Sử dụng TCP Socket.</a:t>
            </a:r>
          </a:p>
        </p:txBody>
      </p:sp>
    </p:spTree>
    <p:extLst>
      <p:ext uri="{BB962C8B-B14F-4D97-AF65-F5344CB8AC3E}">
        <p14:creationId xmlns:p14="http://schemas.microsoft.com/office/powerpoint/2010/main" val="2751602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A30F-7296-0D4C-E2AF-B7EDC78B6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936D-002A-FC36-9488-DB6B2534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305"/>
            <a:ext cx="11353800" cy="806384"/>
          </a:xfrm>
        </p:spPr>
        <p:txBody>
          <a:bodyPr>
            <a:normAutofit/>
          </a:bodyPr>
          <a:lstStyle/>
          <a:p>
            <a:r>
              <a:rPr lang="en-US" sz="3800"/>
              <a:t>LỚP SOCKET TRONG CÁC NGÔN NGỮ LẬP TRÌNH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62B13-BEEC-E70B-5C74-BEBB590F0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Socket trong Python</a:t>
            </a:r>
          </a:p>
          <a:p>
            <a:pPr lvl="1"/>
            <a:r>
              <a:rPr lang="en-US" sz="2600" b="1"/>
              <a:t>Các phương thức chính:</a:t>
            </a:r>
            <a:endParaRPr lang="en-US" sz="2600"/>
          </a:p>
          <a:p>
            <a:pPr lvl="2"/>
            <a:r>
              <a:rPr lang="en-US" sz="2400"/>
              <a:t>Server: bind(), listen(), accept()</a:t>
            </a:r>
          </a:p>
          <a:p>
            <a:pPr lvl="2"/>
            <a:r>
              <a:rPr lang="en-US" sz="2400"/>
              <a:t>Client: connect()</a:t>
            </a:r>
          </a:p>
          <a:p>
            <a:pPr lvl="2"/>
            <a:r>
              <a:rPr lang="en-US" sz="2400"/>
              <a:t>Cả hai: send(), recv(), close()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1472781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76C8-B471-F766-CB0C-C6F9F52C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E74E-54E7-4DFD-8CC1-2EB1106E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305"/>
            <a:ext cx="11353800" cy="806384"/>
          </a:xfrm>
        </p:spPr>
        <p:txBody>
          <a:bodyPr>
            <a:normAutofit/>
          </a:bodyPr>
          <a:lstStyle/>
          <a:p>
            <a:r>
              <a:rPr lang="en-US" sz="3800"/>
              <a:t>LỚP SOCKET TRONG CÁC NGÔN NGỮ LẬP TRÌNH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4FBB9-3F48-3426-CBAD-469BBB30F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b="1"/>
              <a:t>Socket trong Java</a:t>
            </a:r>
          </a:p>
          <a:p>
            <a:pPr lvl="1"/>
            <a:r>
              <a:rPr lang="en-US" sz="2800" b="1"/>
              <a:t>Gói:</a:t>
            </a:r>
            <a:r>
              <a:rPr lang="en-US" sz="2800"/>
              <a:t> java.net</a:t>
            </a:r>
          </a:p>
          <a:p>
            <a:pPr lvl="1"/>
            <a:r>
              <a:rPr lang="en-US" sz="2800" b="1"/>
              <a:t>Lớp Server:</a:t>
            </a:r>
            <a:r>
              <a:rPr lang="en-US" sz="2800"/>
              <a:t> ServerSocke</a:t>
            </a:r>
            <a:r>
              <a:rPr lang="en-US"/>
              <a:t>t</a:t>
            </a:r>
          </a:p>
          <a:p>
            <a:pPr lvl="2"/>
            <a:r>
              <a:rPr lang="en-US" sz="2200"/>
              <a:t>ServerSocket serverSocket = new ServerSocket(portNumber);</a:t>
            </a:r>
          </a:p>
          <a:p>
            <a:pPr lvl="2"/>
            <a:r>
              <a:rPr lang="en-US" sz="2200"/>
              <a:t>Socket clientSocket = serverSocket.accept();</a:t>
            </a:r>
          </a:p>
          <a:p>
            <a:pPr lvl="1"/>
            <a:r>
              <a:rPr lang="en-US" sz="2800" b="1"/>
              <a:t>Lớp Client:</a:t>
            </a:r>
            <a:r>
              <a:rPr lang="en-US" sz="2800"/>
              <a:t> Socket</a:t>
            </a:r>
          </a:p>
          <a:p>
            <a:pPr lvl="2"/>
            <a:r>
              <a:rPr lang="en-US" sz="2200"/>
              <a:t>Socket clientSocket = new Socket("hostname", portNumber);</a:t>
            </a:r>
          </a:p>
          <a:p>
            <a:pPr lvl="1"/>
            <a:r>
              <a:rPr lang="en-US" sz="2800" b="1"/>
              <a:t>Lớp I/O:</a:t>
            </a:r>
            <a:r>
              <a:rPr lang="en-US" sz="2800"/>
              <a:t> InputStream và OutputStream để đọc/ghi dữ liệu.</a:t>
            </a:r>
            <a:endParaRPr lang="vi-VN" sz="2800"/>
          </a:p>
        </p:txBody>
      </p:sp>
    </p:spTree>
    <p:extLst>
      <p:ext uri="{BB962C8B-B14F-4D97-AF65-F5344CB8AC3E}">
        <p14:creationId xmlns:p14="http://schemas.microsoft.com/office/powerpoint/2010/main" val="3088263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DD76-8350-F3F1-A2AF-FA0F2FDFA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1680-F4EC-978A-3ABC-7D3ABB9C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305"/>
            <a:ext cx="11353800" cy="806384"/>
          </a:xfrm>
        </p:spPr>
        <p:txBody>
          <a:bodyPr>
            <a:normAutofit/>
          </a:bodyPr>
          <a:lstStyle/>
          <a:p>
            <a:r>
              <a:rPr lang="en-US" sz="3800"/>
              <a:t>LỚP SOCKET TRONG CÁC NGÔN NGỮ LẬP TRÌNH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BD3E2-EF44-1EFA-616C-4F6620D2D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b="1"/>
              <a:t>Socket trong </a:t>
            </a:r>
            <a:r>
              <a:rPr lang="en-US" b="1"/>
              <a:t>C# (.NET)</a:t>
            </a:r>
            <a:endParaRPr lang="en-US" sz="3000" b="1"/>
          </a:p>
          <a:p>
            <a:pPr lvl="1"/>
            <a:r>
              <a:rPr lang="en-US" b="1"/>
              <a:t>Namespace:</a:t>
            </a:r>
            <a:r>
              <a:rPr lang="en-US"/>
              <a:t> System.Net.Sockets</a:t>
            </a:r>
          </a:p>
          <a:p>
            <a:pPr lvl="1"/>
            <a:r>
              <a:rPr lang="en-US" b="1"/>
              <a:t>Lớp Server:</a:t>
            </a:r>
            <a:endParaRPr lang="en-US"/>
          </a:p>
          <a:p>
            <a:pPr lvl="2"/>
            <a:r>
              <a:rPr lang="en-US" sz="2200"/>
              <a:t>TcpListener: Dễ sử dụng, được xây dựng trên Socket.</a:t>
            </a:r>
          </a:p>
          <a:p>
            <a:pPr lvl="2"/>
            <a:r>
              <a:rPr lang="en-US" sz="2200"/>
              <a:t>Socket: Cấp thấp hơn, cung cấp nhiều quyền kiểm soát hơn.</a:t>
            </a:r>
          </a:p>
          <a:p>
            <a:pPr lvl="1"/>
            <a:r>
              <a:rPr lang="en-US" b="1"/>
              <a:t>Lớp Client:</a:t>
            </a:r>
            <a:r>
              <a:rPr lang="en-US"/>
              <a:t> TcpClient</a:t>
            </a:r>
          </a:p>
          <a:p>
            <a:pPr lvl="2"/>
            <a:r>
              <a:rPr lang="en-US" sz="2200"/>
              <a:t>TcpClient client = new TcpClient("hostname", port);</a:t>
            </a:r>
          </a:p>
          <a:p>
            <a:pPr lvl="1"/>
            <a:r>
              <a:rPr lang="en-US" b="1"/>
              <a:t>Luồng:</a:t>
            </a:r>
            <a:r>
              <a:rPr lang="en-US"/>
              <a:t> NetworkStream để đọc/ghi dữ liệu.</a:t>
            </a:r>
            <a:endParaRPr lang="vi-VN" sz="5000"/>
          </a:p>
        </p:txBody>
      </p:sp>
    </p:spTree>
    <p:extLst>
      <p:ext uri="{BB962C8B-B14F-4D97-AF65-F5344CB8AC3E}">
        <p14:creationId xmlns:p14="http://schemas.microsoft.com/office/powerpoint/2010/main" val="360451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CCA9-0A7E-375C-F185-CBD5FB64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328F-84C7-9A09-BA29-F4273694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PHÂN GIẢI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623A4-1098-3D36-CC72-9DEBB9CD0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DNS là gì?</a:t>
            </a:r>
            <a:endParaRPr lang="en-US"/>
          </a:p>
          <a:p>
            <a:pPr lvl="1"/>
            <a:r>
              <a:rPr lang="en-US" sz="2600" b="1"/>
              <a:t>DNS (Domain Name System):</a:t>
            </a:r>
            <a:r>
              <a:rPr lang="en-US" sz="2600"/>
              <a:t> Là hệ thống dịch tên miền (ví dụ: google.com) thành địa chỉ IP (ví dụ: 142.250.190.46).</a:t>
            </a:r>
          </a:p>
          <a:p>
            <a:pPr lvl="1"/>
            <a:r>
              <a:rPr lang="en-US" sz="2600"/>
              <a:t>Con người dễ nhớ tên miền, máy tính dễ làm việc với địa chỉ IP. DNS đóng vai trò "người phiên dịch" này.</a:t>
            </a:r>
          </a:p>
          <a:p>
            <a:pPr lvl="1"/>
            <a:r>
              <a:rPr lang="en-US" sz="2600"/>
              <a:t>Hệ thống DNS là một hệ thống phân tán, có cấu trúc phân cấp.</a:t>
            </a:r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4165705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86ED-241A-5972-FAC8-C01C15002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450A-C473-8ED5-4FC2-2F256223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PHÂN GIẢI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27B5-CCF0-2930-5F28-0DB907ED8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DNS trong lập trình mạng</a:t>
            </a:r>
            <a:endParaRPr lang="en-US"/>
          </a:p>
          <a:p>
            <a:pPr lvl="1"/>
            <a:r>
              <a:rPr lang="en-US" sz="2600"/>
              <a:t>Trước khi Client có thể kết nối đến Server, nó cần biết địa chỉ IP của Server đó.</a:t>
            </a:r>
          </a:p>
          <a:p>
            <a:pPr lvl="1"/>
            <a:r>
              <a:rPr lang="en-US" sz="2600"/>
              <a:t>Các lớp phân giải DNS giúp chương trình của bạn thực hiện việc này một cách tự động.</a:t>
            </a:r>
          </a:p>
          <a:p>
            <a:pPr lvl="1"/>
            <a:r>
              <a:rPr lang="en-US" sz="2600"/>
              <a:t>Bạn chỉ cần cung cấp tên miền, thư viện sẽ lo việc tìm kiếm địa chỉ IP tương ứng.</a:t>
            </a:r>
          </a:p>
          <a:p>
            <a:pPr lvl="1"/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2684287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5F96-2A21-42B7-B857-905E6DA7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2599-3C92-EA80-D028-246E6C98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PHÂN GIẢI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66FB7-A939-00D0-0469-17068880C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Lớp InetAddress trong Java</a:t>
            </a:r>
            <a:endParaRPr lang="en-US"/>
          </a:p>
          <a:p>
            <a:pPr lvl="1"/>
            <a:r>
              <a:rPr lang="en-US" sz="2600" b="1"/>
              <a:t>Gói:</a:t>
            </a:r>
            <a:r>
              <a:rPr lang="en-US" sz="2600"/>
              <a:t> java.net</a:t>
            </a:r>
          </a:p>
          <a:p>
            <a:pPr lvl="1"/>
            <a:r>
              <a:rPr lang="en-US" sz="2600" b="1"/>
              <a:t>Lớp:</a:t>
            </a:r>
            <a:r>
              <a:rPr lang="en-US" sz="2600"/>
              <a:t> InetAddress</a:t>
            </a:r>
          </a:p>
          <a:p>
            <a:pPr lvl="1"/>
            <a:r>
              <a:rPr lang="en-US" sz="2600" b="1"/>
              <a:t>Chức năng:</a:t>
            </a:r>
            <a:endParaRPr lang="en-US" sz="2600"/>
          </a:p>
          <a:p>
            <a:pPr lvl="2"/>
            <a:r>
              <a:rPr lang="en-US" sz="2200"/>
              <a:t>Biểu diễn địa chỉ IP của một host.</a:t>
            </a:r>
          </a:p>
          <a:p>
            <a:pPr lvl="2"/>
            <a:r>
              <a:rPr lang="en-US" sz="2200"/>
              <a:t>Cung cấp các phương thức tĩnh để thực hiện phân giải DNS.</a:t>
            </a:r>
            <a:endParaRPr lang="vi-VN" sz="2200"/>
          </a:p>
        </p:txBody>
      </p:sp>
    </p:spTree>
    <p:extLst>
      <p:ext uri="{BB962C8B-B14F-4D97-AF65-F5344CB8AC3E}">
        <p14:creationId xmlns:p14="http://schemas.microsoft.com/office/powerpoint/2010/main" val="2749511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2C15-2CC7-E203-DF15-39286EFB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37E9-4C53-A7F6-1A02-C2BC6664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PHÂN GIẢI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B26B5-CA8A-BA62-2441-68917F4F8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Lớp InetAddress trong Java</a:t>
            </a:r>
            <a:endParaRPr lang="en-US"/>
          </a:p>
          <a:p>
            <a:pPr lvl="1"/>
            <a:r>
              <a:rPr lang="en-US" sz="2600" b="1"/>
              <a:t>Các phương thức chính:</a:t>
            </a:r>
            <a:endParaRPr lang="en-US" sz="2600"/>
          </a:p>
          <a:p>
            <a:pPr lvl="2"/>
            <a:r>
              <a:rPr lang="en-US" sz="2400"/>
              <a:t>getByName(String host): Dịch tên miền thành một đối tượng InetAddress.</a:t>
            </a:r>
          </a:p>
          <a:p>
            <a:pPr lvl="2"/>
            <a:r>
              <a:rPr lang="en-US" sz="2400"/>
              <a:t>getAllByName(String host): Dịch tên miền và trả về tất cả các địa chỉ IP liên quan.</a:t>
            </a:r>
          </a:p>
          <a:p>
            <a:pPr lvl="2"/>
            <a:r>
              <a:rPr lang="en-US" sz="2400"/>
              <a:t>getLocalHost(): Lấy địa chỉ IP của máy hiện tại.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3841912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ACDF-39F0-F142-5BFA-AED1030A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534D-AF15-9961-8706-23D2DA47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PHÂN GIẢI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DD64-A4CC-88A5-000A-896DA4C53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b="1"/>
              <a:t>Lớp Dns trong C# (.NET)</a:t>
            </a:r>
            <a:endParaRPr lang="en-US"/>
          </a:p>
          <a:p>
            <a:pPr lvl="1"/>
            <a:r>
              <a:rPr lang="en-US" sz="2600" b="1"/>
              <a:t>Namespace:</a:t>
            </a:r>
            <a:r>
              <a:rPr lang="en-US" sz="2600"/>
              <a:t> System.Net</a:t>
            </a:r>
          </a:p>
          <a:p>
            <a:pPr lvl="1"/>
            <a:r>
              <a:rPr lang="en-US" sz="2600" b="1"/>
              <a:t>Lớp:</a:t>
            </a:r>
            <a:r>
              <a:rPr lang="en-US" sz="2600"/>
              <a:t> Dns</a:t>
            </a:r>
          </a:p>
          <a:p>
            <a:pPr lvl="1"/>
            <a:r>
              <a:rPr lang="en-US" sz="2600" b="1"/>
              <a:t>Chức năng:</a:t>
            </a:r>
            <a:r>
              <a:rPr lang="en-US" sz="2600"/>
              <a:t> Tương tự InetAddress trong Java, cung cấp các phương thức tĩnh để truy vấn DNS.</a:t>
            </a:r>
          </a:p>
        </p:txBody>
      </p:sp>
    </p:spTree>
    <p:extLst>
      <p:ext uri="{BB962C8B-B14F-4D97-AF65-F5344CB8AC3E}">
        <p14:creationId xmlns:p14="http://schemas.microsoft.com/office/powerpoint/2010/main" val="4082472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6D6D-5ED9-F62D-2977-9BFCB645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C3F0-713C-0EC0-5293-5F2257B8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PHÂN GIẢI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ED397-EB54-2E5C-BA3D-7AC97DBFB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b="1"/>
              <a:t>Lớp Dns trong C# (.NET)</a:t>
            </a:r>
            <a:endParaRPr lang="en-US"/>
          </a:p>
          <a:p>
            <a:pPr lvl="1"/>
            <a:r>
              <a:rPr lang="en-US" sz="2600" b="1"/>
              <a:t>Các phương thức chính:</a:t>
            </a:r>
            <a:endParaRPr lang="en-US" sz="2600"/>
          </a:p>
          <a:p>
            <a:pPr lvl="2"/>
            <a:r>
              <a:rPr lang="en-US" sz="2400"/>
              <a:t>GetHostEntry(string hostNameOrAddress): Phân giải tên miền hoặc địa chỉ IP thành một đối tượng IPHostEntry.</a:t>
            </a:r>
          </a:p>
          <a:p>
            <a:pPr lvl="2"/>
            <a:r>
              <a:rPr lang="en-US" sz="2400"/>
              <a:t>GetHostName(): Lấy tên máy của máy hiện tại.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1492329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DDFE-F6BB-5D9F-12FA-D11B10093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9976-EB1E-F0D9-F554-9FBFFFEA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PHÂN GIẢI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D76F-231F-C3ED-D00C-174E2A5D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Module socket trong Python</a:t>
            </a:r>
            <a:endParaRPr lang="en-US"/>
          </a:p>
          <a:p>
            <a:pPr lvl="1"/>
            <a:r>
              <a:rPr lang="en-US" sz="2600"/>
              <a:t>Module socket cũng có các hàm để phân giải DNS.</a:t>
            </a:r>
          </a:p>
          <a:p>
            <a:pPr lvl="1"/>
            <a:r>
              <a:rPr lang="en-US" sz="2600" b="1"/>
              <a:t>Các hàm chính:</a:t>
            </a:r>
            <a:endParaRPr lang="en-US" sz="2600"/>
          </a:p>
          <a:p>
            <a:pPr lvl="2"/>
            <a:r>
              <a:rPr lang="en-US" sz="2400"/>
              <a:t>gethostbyname(hostName): Phân giải tên miền thành địa chỉ IP.</a:t>
            </a:r>
          </a:p>
          <a:p>
            <a:pPr lvl="2"/>
            <a:r>
              <a:rPr lang="en-US" sz="2400"/>
              <a:t>gethostbyaddr(ipAddress): Phân giải địa chỉ IP thành tên miền.</a:t>
            </a:r>
          </a:p>
          <a:p>
            <a:pPr lvl="2"/>
            <a:r>
              <a:rPr lang="en-US" sz="2400"/>
              <a:t>getaddrinfo(host, port): Phân giải tên miền và trả về thông tin chi tiết về địa chỉ, có thể là IPv4 hoặc IPv6.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1818280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EEE2-A0ED-3421-4847-FBD7AA4D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Q&amp;A</a:t>
            </a:r>
          </a:p>
        </p:txBody>
      </p:sp>
      <p:grpSp>
        <p:nvGrpSpPr>
          <p:cNvPr id="14" name="Group 17">
            <a:extLst>
              <a:ext uri="{FF2B5EF4-FFF2-40B4-BE49-F238E27FC236}">
                <a16:creationId xmlns:a16="http://schemas.microsoft.com/office/drawing/2014/main" id="{DDA224F6-CC4B-1835-8E4C-0430E90CE44F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2116931"/>
            <a:ext cx="1857375" cy="3995738"/>
            <a:chOff x="2208" y="768"/>
            <a:chExt cx="1170" cy="2517"/>
          </a:xfrm>
        </p:grpSpPr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782FAECC-73D8-E397-CFEE-63C9BA938F6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08" y="768"/>
              <a:ext cx="1170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D175F58-3E4A-FA53-853A-7B359AA35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093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11E8910-EAB4-D4C0-67BB-4FD4FF84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963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CC112B0-28E3-A73F-195A-D3A0432FD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1637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8733806-2F95-286D-501B-CE5AD8D67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1658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2C41A88-C6FA-84C9-5C93-D71E4B4B5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322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F51962F-FE47-EFFC-E4FD-B888E3845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2320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5CF235D-274B-D721-0A48-EE1E216CD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770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4F55DF66-BDD1-998E-C5D0-DE5270140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001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40039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1575</Words>
  <Application>Microsoft Office PowerPoint</Application>
  <PresentationFormat>Widescreen</PresentationFormat>
  <Paragraphs>159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Myriad Pro</vt:lpstr>
      <vt:lpstr>Times New Roman</vt:lpstr>
      <vt:lpstr>Wingdings</vt:lpstr>
      <vt:lpstr>1_Office Theme</vt:lpstr>
      <vt:lpstr>PowerPoint Presentation</vt:lpstr>
      <vt:lpstr>NỘI DUNG</vt:lpstr>
      <vt:lpstr>MỤC TIÊU</vt:lpstr>
      <vt:lpstr>GIỚI THIỆU SOCKET</vt:lpstr>
      <vt:lpstr>GIỚI THIỆU SOCKET</vt:lpstr>
      <vt:lpstr>GIỚI THIỆU SOCKET</vt:lpstr>
      <vt:lpstr>GIỚI THIỆU SOCKET</vt:lpstr>
      <vt:lpstr>GIỚI THIỆU SOCKET</vt:lpstr>
      <vt:lpstr>GIỚI THIỆU SOCKET</vt:lpstr>
      <vt:lpstr>GIỚI THIỆU SOCKET</vt:lpstr>
      <vt:lpstr>GIỚI THIỆU SOCKET</vt:lpstr>
      <vt:lpstr>GIỚI THIỆU SOCKET</vt:lpstr>
      <vt:lpstr>GIỚI THIỆU SOCKET</vt:lpstr>
      <vt:lpstr>GIỚI THIỆU SOCKET</vt:lpstr>
      <vt:lpstr>GIỚI THIỆU SOCKET</vt:lpstr>
      <vt:lpstr>LỚP SOCKET TRONG CÁC NGÔN NGỮ LẬP TRÌNH</vt:lpstr>
      <vt:lpstr>LỚP SOCKET TRONG CÁC NGÔN NGỮ LẬP TRÌNH</vt:lpstr>
      <vt:lpstr>LỚP SOCKET TRONG CÁC NGÔN NGỮ LẬP TRÌNH</vt:lpstr>
      <vt:lpstr>LỚP SOCKET TRONG CÁC NGÔN NGỮ LẬP TRÌNH</vt:lpstr>
      <vt:lpstr>CÁC LỚP PHÂN GIẢI DNS</vt:lpstr>
      <vt:lpstr>CÁC LỚP PHÂN GIẢI DNS</vt:lpstr>
      <vt:lpstr>CÁC LỚP PHÂN GIẢI DNS</vt:lpstr>
      <vt:lpstr>CÁC LỚP PHÂN GIẢI DNS</vt:lpstr>
      <vt:lpstr>CÁC LỚP PHÂN GIẢI DNS</vt:lpstr>
      <vt:lpstr>CÁC LỚP PHÂN GIẢI DNS</vt:lpstr>
      <vt:lpstr>CÁC LỚP PHÂN GIẢI DNS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Ngô Quốc Huy - Khoa Công nghệ Thông tin - VLTECH</cp:lastModifiedBy>
  <cp:revision>50</cp:revision>
  <dcterms:created xsi:type="dcterms:W3CDTF">2023-11-06T07:10:59Z</dcterms:created>
  <dcterms:modified xsi:type="dcterms:W3CDTF">2025-08-08T13:15:19Z</dcterms:modified>
</cp:coreProperties>
</file>